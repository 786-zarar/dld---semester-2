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handoutMasterIdLst>
    <p:handoutMasterId r:id="rId32"/>
  </p:handoutMasterIdLst>
  <p:sldIdLst>
    <p:sldId id="326" r:id="rId2"/>
    <p:sldId id="346" r:id="rId3"/>
    <p:sldId id="347" r:id="rId4"/>
    <p:sldId id="348" r:id="rId5"/>
    <p:sldId id="349" r:id="rId6"/>
    <p:sldId id="402" r:id="rId7"/>
    <p:sldId id="403" r:id="rId8"/>
    <p:sldId id="310" r:id="rId9"/>
    <p:sldId id="312" r:id="rId10"/>
    <p:sldId id="401" r:id="rId11"/>
    <p:sldId id="395" r:id="rId12"/>
    <p:sldId id="392" r:id="rId13"/>
    <p:sldId id="393" r:id="rId14"/>
    <p:sldId id="396" r:id="rId15"/>
    <p:sldId id="398" r:id="rId16"/>
    <p:sldId id="399" r:id="rId17"/>
    <p:sldId id="388" r:id="rId18"/>
    <p:sldId id="404" r:id="rId19"/>
    <p:sldId id="381" r:id="rId20"/>
    <p:sldId id="382" r:id="rId21"/>
    <p:sldId id="383" r:id="rId22"/>
    <p:sldId id="384" r:id="rId23"/>
    <p:sldId id="371" r:id="rId24"/>
    <p:sldId id="372" r:id="rId25"/>
    <p:sldId id="373" r:id="rId26"/>
    <p:sldId id="374" r:id="rId27"/>
    <p:sldId id="375" r:id="rId28"/>
    <p:sldId id="376" r:id="rId29"/>
    <p:sldId id="405" r:id="rId3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13" autoAdjust="0"/>
    <p:restoredTop sz="90929"/>
  </p:normalViewPr>
  <p:slideViewPr>
    <p:cSldViewPr>
      <p:cViewPr varScale="1">
        <p:scale>
          <a:sx n="79" d="100"/>
          <a:sy n="79" d="100"/>
        </p:scale>
        <p:origin x="1445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 Zulqadar Hassan" userId="bb151c9adcbd665f" providerId="LiveId" clId="{137F4EC7-7047-490C-B45A-9A7C1BFD476F}"/>
    <pc:docChg chg="undo custSel addSld delSld modSld">
      <pc:chgData name="Syed Zulqadar Hassan" userId="bb151c9adcbd665f" providerId="LiveId" clId="{137F4EC7-7047-490C-B45A-9A7C1BFD476F}" dt="2025-05-11T19:25:16.531" v="64" actId="14100"/>
      <pc:docMkLst>
        <pc:docMk/>
      </pc:docMkLst>
      <pc:sldChg chg="add">
        <pc:chgData name="Syed Zulqadar Hassan" userId="bb151c9adcbd665f" providerId="LiveId" clId="{137F4EC7-7047-490C-B45A-9A7C1BFD476F}" dt="2025-05-11T19:00:38.581" v="3"/>
        <pc:sldMkLst>
          <pc:docMk/>
          <pc:sldMk cId="0" sldId="310"/>
        </pc:sldMkLst>
      </pc:sldChg>
      <pc:sldChg chg="add">
        <pc:chgData name="Syed Zulqadar Hassan" userId="bb151c9adcbd665f" providerId="LiveId" clId="{137F4EC7-7047-490C-B45A-9A7C1BFD476F}" dt="2025-05-11T19:00:38.581" v="3"/>
        <pc:sldMkLst>
          <pc:docMk/>
          <pc:sldMk cId="0" sldId="312"/>
        </pc:sldMkLst>
      </pc:sldChg>
      <pc:sldChg chg="addSp delSp modSp add mod">
        <pc:chgData name="Syed Zulqadar Hassan" userId="bb151c9adcbd665f" providerId="LiveId" clId="{137F4EC7-7047-490C-B45A-9A7C1BFD476F}" dt="2025-05-11T19:06:02.399" v="10" actId="478"/>
        <pc:sldMkLst>
          <pc:docMk/>
          <pc:sldMk cId="0" sldId="326"/>
        </pc:sldMkLst>
        <pc:spChg chg="add del mod">
          <ac:chgData name="Syed Zulqadar Hassan" userId="bb151c9adcbd665f" providerId="LiveId" clId="{137F4EC7-7047-490C-B45A-9A7C1BFD476F}" dt="2025-05-11T19:06:02.399" v="10" actId="478"/>
          <ac:spMkLst>
            <pc:docMk/>
            <pc:sldMk cId="0" sldId="326"/>
            <ac:spMk id="3" creationId="{9299CE8E-C401-2AB3-CE31-F3FE27A4471D}"/>
          </ac:spMkLst>
        </pc:spChg>
        <pc:spChg chg="del">
          <ac:chgData name="Syed Zulqadar Hassan" userId="bb151c9adcbd665f" providerId="LiveId" clId="{137F4EC7-7047-490C-B45A-9A7C1BFD476F}" dt="2025-05-11T19:05:59.050" v="9" actId="478"/>
          <ac:spMkLst>
            <pc:docMk/>
            <pc:sldMk cId="0" sldId="326"/>
            <ac:spMk id="792578" creationId="{00000000-0000-0000-0000-000000000000}"/>
          </ac:spMkLst>
        </pc:spChg>
        <pc:spChg chg="mod">
          <ac:chgData name="Syed Zulqadar Hassan" userId="bb151c9adcbd665f" providerId="LiveId" clId="{137F4EC7-7047-490C-B45A-9A7C1BFD476F}" dt="2025-05-11T19:05:48.159" v="8" actId="20577"/>
          <ac:spMkLst>
            <pc:docMk/>
            <pc:sldMk cId="0" sldId="326"/>
            <ac:spMk id="792579" creationId="{00000000-0000-0000-0000-000000000000}"/>
          </ac:spMkLst>
        </pc:spChg>
      </pc:sldChg>
      <pc:sldChg chg="add">
        <pc:chgData name="Syed Zulqadar Hassan" userId="bb151c9adcbd665f" providerId="LiveId" clId="{137F4EC7-7047-490C-B45A-9A7C1BFD476F}" dt="2025-05-11T19:05:17.606" v="5"/>
        <pc:sldMkLst>
          <pc:docMk/>
          <pc:sldMk cId="0" sldId="346"/>
        </pc:sldMkLst>
      </pc:sldChg>
      <pc:sldChg chg="add">
        <pc:chgData name="Syed Zulqadar Hassan" userId="bb151c9adcbd665f" providerId="LiveId" clId="{137F4EC7-7047-490C-B45A-9A7C1BFD476F}" dt="2025-05-11T19:05:17.606" v="5"/>
        <pc:sldMkLst>
          <pc:docMk/>
          <pc:sldMk cId="0" sldId="347"/>
        </pc:sldMkLst>
      </pc:sldChg>
      <pc:sldChg chg="add">
        <pc:chgData name="Syed Zulqadar Hassan" userId="bb151c9adcbd665f" providerId="LiveId" clId="{137F4EC7-7047-490C-B45A-9A7C1BFD476F}" dt="2025-05-11T19:05:17.606" v="5"/>
        <pc:sldMkLst>
          <pc:docMk/>
          <pc:sldMk cId="0" sldId="348"/>
        </pc:sldMkLst>
      </pc:sldChg>
      <pc:sldChg chg="addSp modSp add mod">
        <pc:chgData name="Syed Zulqadar Hassan" userId="bb151c9adcbd665f" providerId="LiveId" clId="{137F4EC7-7047-490C-B45A-9A7C1BFD476F}" dt="2025-05-11T19:06:52.468" v="20" actId="1076"/>
        <pc:sldMkLst>
          <pc:docMk/>
          <pc:sldMk cId="0" sldId="349"/>
        </pc:sldMkLst>
        <pc:spChg chg="mod">
          <ac:chgData name="Syed Zulqadar Hassan" userId="bb151c9adcbd665f" providerId="LiveId" clId="{137F4EC7-7047-490C-B45A-9A7C1BFD476F}" dt="2025-05-11T19:06:25.219" v="13" actId="27636"/>
          <ac:spMkLst>
            <pc:docMk/>
            <pc:sldMk cId="0" sldId="349"/>
            <ac:spMk id="740354" creationId="{00000000-0000-0000-0000-000000000000}"/>
          </ac:spMkLst>
        </pc:spChg>
        <pc:graphicFrameChg chg="mod">
          <ac:chgData name="Syed Zulqadar Hassan" userId="bb151c9adcbd665f" providerId="LiveId" clId="{137F4EC7-7047-490C-B45A-9A7C1BFD476F}" dt="2025-05-11T19:06:26.427" v="14" actId="1076"/>
          <ac:graphicFrameMkLst>
            <pc:docMk/>
            <pc:sldMk cId="0" sldId="349"/>
            <ac:graphicFrameMk id="740356" creationId="{00000000-0000-0000-0000-000000000000}"/>
          </ac:graphicFrameMkLst>
        </pc:graphicFrameChg>
        <pc:picChg chg="add mod">
          <ac:chgData name="Syed Zulqadar Hassan" userId="bb151c9adcbd665f" providerId="LiveId" clId="{137F4EC7-7047-490C-B45A-9A7C1BFD476F}" dt="2025-05-11T19:06:52.468" v="20" actId="1076"/>
          <ac:picMkLst>
            <pc:docMk/>
            <pc:sldMk cId="0" sldId="349"/>
            <ac:picMk id="3" creationId="{9647B036-C56C-BF81-BD65-CDB2164A793E}"/>
          </ac:picMkLst>
        </pc:picChg>
      </pc:sldChg>
      <pc:sldChg chg="del">
        <pc:chgData name="Syed Zulqadar Hassan" userId="bb151c9adcbd665f" providerId="LiveId" clId="{137F4EC7-7047-490C-B45A-9A7C1BFD476F}" dt="2025-05-11T19:18:05.319" v="47" actId="47"/>
        <pc:sldMkLst>
          <pc:docMk/>
          <pc:sldMk cId="0" sldId="389"/>
        </pc:sldMkLst>
      </pc:sldChg>
      <pc:sldChg chg="del">
        <pc:chgData name="Syed Zulqadar Hassan" userId="bb151c9adcbd665f" providerId="LiveId" clId="{137F4EC7-7047-490C-B45A-9A7C1BFD476F}" dt="2025-05-11T19:18:05.319" v="47" actId="47"/>
        <pc:sldMkLst>
          <pc:docMk/>
          <pc:sldMk cId="0" sldId="390"/>
        </pc:sldMkLst>
      </pc:sldChg>
      <pc:sldChg chg="delSp del mod">
        <pc:chgData name="Syed Zulqadar Hassan" userId="bb151c9adcbd665f" providerId="LiveId" clId="{137F4EC7-7047-490C-B45A-9A7C1BFD476F}" dt="2025-05-11T19:00:40.385" v="4" actId="47"/>
        <pc:sldMkLst>
          <pc:docMk/>
          <pc:sldMk cId="0" sldId="391"/>
        </pc:sldMkLst>
        <pc:spChg chg="del">
          <ac:chgData name="Syed Zulqadar Hassan" userId="bb151c9adcbd665f" providerId="LiveId" clId="{137F4EC7-7047-490C-B45A-9A7C1BFD476F}" dt="2025-05-11T18:59:27.043" v="1" actId="478"/>
          <ac:spMkLst>
            <pc:docMk/>
            <pc:sldMk cId="0" sldId="391"/>
            <ac:spMk id="154627" creationId="{00000000-0000-0000-0000-000000000000}"/>
          </ac:spMkLst>
        </pc:spChg>
        <pc:picChg chg="del">
          <ac:chgData name="Syed Zulqadar Hassan" userId="bb151c9adcbd665f" providerId="LiveId" clId="{137F4EC7-7047-490C-B45A-9A7C1BFD476F}" dt="2025-05-11T18:59:28.330" v="2" actId="478"/>
          <ac:picMkLst>
            <pc:docMk/>
            <pc:sldMk cId="0" sldId="391"/>
            <ac:picMk id="139266" creationId="{00000000-0000-0000-0000-000000000000}"/>
          </ac:picMkLst>
        </pc:picChg>
      </pc:sldChg>
      <pc:sldChg chg="delSp del mod">
        <pc:chgData name="Syed Zulqadar Hassan" userId="bb151c9adcbd665f" providerId="LiveId" clId="{137F4EC7-7047-490C-B45A-9A7C1BFD476F}" dt="2025-05-11T19:16:08.976" v="42" actId="2696"/>
        <pc:sldMkLst>
          <pc:docMk/>
          <pc:sldMk cId="0" sldId="394"/>
        </pc:sldMkLst>
        <pc:picChg chg="del">
          <ac:chgData name="Syed Zulqadar Hassan" userId="bb151c9adcbd665f" providerId="LiveId" clId="{137F4EC7-7047-490C-B45A-9A7C1BFD476F}" dt="2025-05-11T19:15:48.791" v="38" actId="21"/>
          <ac:picMkLst>
            <pc:docMk/>
            <pc:sldMk cId="0" sldId="394"/>
            <ac:picMk id="138242" creationId="{00000000-0000-0000-0000-000000000000}"/>
          </ac:picMkLst>
        </pc:picChg>
      </pc:sldChg>
      <pc:sldChg chg="delSp modSp mod">
        <pc:chgData name="Syed Zulqadar Hassan" userId="bb151c9adcbd665f" providerId="LiveId" clId="{137F4EC7-7047-490C-B45A-9A7C1BFD476F}" dt="2025-05-11T19:16:59.461" v="46" actId="27636"/>
        <pc:sldMkLst>
          <pc:docMk/>
          <pc:sldMk cId="0" sldId="399"/>
        </pc:sldMkLst>
        <pc:spChg chg="mod">
          <ac:chgData name="Syed Zulqadar Hassan" userId="bb151c9adcbd665f" providerId="LiveId" clId="{137F4EC7-7047-490C-B45A-9A7C1BFD476F}" dt="2025-05-11T19:16:59.461" v="46" actId="27636"/>
          <ac:spMkLst>
            <pc:docMk/>
            <pc:sldMk cId="0" sldId="399"/>
            <ac:spMk id="2" creationId="{00000000-0000-0000-0000-000000000000}"/>
          </ac:spMkLst>
        </pc:spChg>
        <pc:spChg chg="del">
          <ac:chgData name="Syed Zulqadar Hassan" userId="bb151c9adcbd665f" providerId="LiveId" clId="{137F4EC7-7047-490C-B45A-9A7C1BFD476F}" dt="2025-05-11T19:16:52.146" v="43" actId="478"/>
          <ac:spMkLst>
            <pc:docMk/>
            <pc:sldMk cId="0" sldId="399"/>
            <ac:spMk id="3" creationId="{00000000-0000-0000-0000-000000000000}"/>
          </ac:spMkLst>
        </pc:spChg>
        <pc:picChg chg="mod">
          <ac:chgData name="Syed Zulqadar Hassan" userId="bb151c9adcbd665f" providerId="LiveId" clId="{137F4EC7-7047-490C-B45A-9A7C1BFD476F}" dt="2025-05-11T19:16:54.469" v="44" actId="1076"/>
          <ac:picMkLst>
            <pc:docMk/>
            <pc:sldMk cId="0" sldId="399"/>
            <ac:picMk id="142338" creationId="{00000000-0000-0000-0000-000000000000}"/>
          </ac:picMkLst>
        </pc:picChg>
      </pc:sldChg>
      <pc:sldChg chg="del">
        <pc:chgData name="Syed Zulqadar Hassan" userId="bb151c9adcbd665f" providerId="LiveId" clId="{137F4EC7-7047-490C-B45A-9A7C1BFD476F}" dt="2025-05-11T19:18:05.319" v="47" actId="47"/>
        <pc:sldMkLst>
          <pc:docMk/>
          <pc:sldMk cId="0" sldId="400"/>
        </pc:sldMkLst>
      </pc:sldChg>
      <pc:sldChg chg="addSp delSp modSp add mod">
        <pc:chgData name="Syed Zulqadar Hassan" userId="bb151c9adcbd665f" providerId="LiveId" clId="{137F4EC7-7047-490C-B45A-9A7C1BFD476F}" dt="2025-05-11T19:15:55.810" v="41" actId="1076"/>
        <pc:sldMkLst>
          <pc:docMk/>
          <pc:sldMk cId="890258460" sldId="401"/>
        </pc:sldMkLst>
        <pc:picChg chg="add mod">
          <ac:chgData name="Syed Zulqadar Hassan" userId="bb151c9adcbd665f" providerId="LiveId" clId="{137F4EC7-7047-490C-B45A-9A7C1BFD476F}" dt="2025-05-11T19:15:55.810" v="41" actId="1076"/>
          <ac:picMkLst>
            <pc:docMk/>
            <pc:sldMk cId="890258460" sldId="401"/>
            <ac:picMk id="138242" creationId="{00000000-0000-0000-0000-000000000000}"/>
          </ac:picMkLst>
        </pc:picChg>
        <pc:picChg chg="del">
          <ac:chgData name="Syed Zulqadar Hassan" userId="bb151c9adcbd665f" providerId="LiveId" clId="{137F4EC7-7047-490C-B45A-9A7C1BFD476F}" dt="2025-05-11T19:15:43.798" v="37" actId="478"/>
          <ac:picMkLst>
            <pc:docMk/>
            <pc:sldMk cId="890258460" sldId="401"/>
            <ac:picMk id="139266" creationId="{00000000-0000-0000-0000-000000000000}"/>
          </ac:picMkLst>
        </pc:picChg>
      </pc:sldChg>
      <pc:sldChg chg="addSp delSp modSp add mod">
        <pc:chgData name="Syed Zulqadar Hassan" userId="bb151c9adcbd665f" providerId="LiveId" clId="{137F4EC7-7047-490C-B45A-9A7C1BFD476F}" dt="2025-05-11T19:07:44.982" v="27"/>
        <pc:sldMkLst>
          <pc:docMk/>
          <pc:sldMk cId="3379981587" sldId="402"/>
        </pc:sldMkLst>
        <pc:spChg chg="mod">
          <ac:chgData name="Syed Zulqadar Hassan" userId="bb151c9adcbd665f" providerId="LiveId" clId="{137F4EC7-7047-490C-B45A-9A7C1BFD476F}" dt="2025-05-11T19:07:44.982" v="27"/>
          <ac:spMkLst>
            <pc:docMk/>
            <pc:sldMk cId="3379981587" sldId="402"/>
            <ac:spMk id="740354" creationId="{00000000-0000-0000-0000-000000000000}"/>
          </ac:spMkLst>
        </pc:spChg>
        <pc:graphicFrameChg chg="del">
          <ac:chgData name="Syed Zulqadar Hassan" userId="bb151c9adcbd665f" providerId="LiveId" clId="{137F4EC7-7047-490C-B45A-9A7C1BFD476F}" dt="2025-05-11T19:06:55.514" v="22" actId="478"/>
          <ac:graphicFrameMkLst>
            <pc:docMk/>
            <pc:sldMk cId="3379981587" sldId="402"/>
            <ac:graphicFrameMk id="740356" creationId="{00000000-0000-0000-0000-000000000000}"/>
          </ac:graphicFrameMkLst>
        </pc:graphicFrameChg>
        <pc:picChg chg="del">
          <ac:chgData name="Syed Zulqadar Hassan" userId="bb151c9adcbd665f" providerId="LiveId" clId="{137F4EC7-7047-490C-B45A-9A7C1BFD476F}" dt="2025-05-11T19:06:55.985" v="23" actId="478"/>
          <ac:picMkLst>
            <pc:docMk/>
            <pc:sldMk cId="3379981587" sldId="402"/>
            <ac:picMk id="3" creationId="{9647B036-C56C-BF81-BD65-CDB2164A793E}"/>
          </ac:picMkLst>
        </pc:picChg>
        <pc:picChg chg="add mod">
          <ac:chgData name="Syed Zulqadar Hassan" userId="bb151c9adcbd665f" providerId="LiveId" clId="{137F4EC7-7047-490C-B45A-9A7C1BFD476F}" dt="2025-05-11T19:07:37.621" v="26" actId="14100"/>
          <ac:picMkLst>
            <pc:docMk/>
            <pc:sldMk cId="3379981587" sldId="402"/>
            <ac:picMk id="4" creationId="{BAA70223-E248-8593-B623-1B342EDBE660}"/>
          </ac:picMkLst>
        </pc:picChg>
      </pc:sldChg>
      <pc:sldChg chg="addSp delSp modSp add mod">
        <pc:chgData name="Syed Zulqadar Hassan" userId="bb151c9adcbd665f" providerId="LiveId" clId="{137F4EC7-7047-490C-B45A-9A7C1BFD476F}" dt="2025-05-11T19:14:52.420" v="36" actId="1076"/>
        <pc:sldMkLst>
          <pc:docMk/>
          <pc:sldMk cId="1386719633" sldId="403"/>
        </pc:sldMkLst>
        <pc:spChg chg="del">
          <ac:chgData name="Syed Zulqadar Hassan" userId="bb151c9adcbd665f" providerId="LiveId" clId="{137F4EC7-7047-490C-B45A-9A7C1BFD476F}" dt="2025-05-11T19:14:45.304" v="32" actId="478"/>
          <ac:spMkLst>
            <pc:docMk/>
            <pc:sldMk cId="1386719633" sldId="403"/>
            <ac:spMk id="740357" creationId="{00000000-0000-0000-0000-000000000000}"/>
          </ac:spMkLst>
        </pc:spChg>
        <pc:picChg chg="add del">
          <ac:chgData name="Syed Zulqadar Hassan" userId="bb151c9adcbd665f" providerId="LiveId" clId="{137F4EC7-7047-490C-B45A-9A7C1BFD476F}" dt="2025-05-11T19:14:44.063" v="31" actId="22"/>
          <ac:picMkLst>
            <pc:docMk/>
            <pc:sldMk cId="1386719633" sldId="403"/>
            <ac:picMk id="3" creationId="{F69DCF9A-1D2C-F69F-EE86-A1D2CB051B3B}"/>
          </ac:picMkLst>
        </pc:picChg>
        <pc:picChg chg="del">
          <ac:chgData name="Syed Zulqadar Hassan" userId="bb151c9adcbd665f" providerId="LiveId" clId="{137F4EC7-7047-490C-B45A-9A7C1BFD476F}" dt="2025-05-11T19:14:41.613" v="29" actId="478"/>
          <ac:picMkLst>
            <pc:docMk/>
            <pc:sldMk cId="1386719633" sldId="403"/>
            <ac:picMk id="4" creationId="{BAA70223-E248-8593-B623-1B342EDBE660}"/>
          </ac:picMkLst>
        </pc:picChg>
        <pc:picChg chg="add mod">
          <ac:chgData name="Syed Zulqadar Hassan" userId="bb151c9adcbd665f" providerId="LiveId" clId="{137F4EC7-7047-490C-B45A-9A7C1BFD476F}" dt="2025-05-11T19:14:52.420" v="36" actId="1076"/>
          <ac:picMkLst>
            <pc:docMk/>
            <pc:sldMk cId="1386719633" sldId="403"/>
            <ac:picMk id="6" creationId="{A58EE24B-2CD5-5F77-986A-B189E0B1A0BC}"/>
          </ac:picMkLst>
        </pc:picChg>
      </pc:sldChg>
      <pc:sldChg chg="addSp delSp modSp add mod">
        <pc:chgData name="Syed Zulqadar Hassan" userId="bb151c9adcbd665f" providerId="LiveId" clId="{137F4EC7-7047-490C-B45A-9A7C1BFD476F}" dt="2025-05-11T19:22:18.634" v="52" actId="14100"/>
        <pc:sldMkLst>
          <pc:docMk/>
          <pc:sldMk cId="1621591483" sldId="404"/>
        </pc:sldMkLst>
        <pc:spChg chg="del">
          <ac:chgData name="Syed Zulqadar Hassan" userId="bb151c9adcbd665f" providerId="LiveId" clId="{137F4EC7-7047-490C-B45A-9A7C1BFD476F}" dt="2025-05-11T19:22:13.730" v="49" actId="478"/>
          <ac:spMkLst>
            <pc:docMk/>
            <pc:sldMk cId="1621591483" sldId="404"/>
            <ac:spMk id="5" creationId="{00000000-0000-0000-0000-000000000000}"/>
          </ac:spMkLst>
        </pc:spChg>
        <pc:spChg chg="del">
          <ac:chgData name="Syed Zulqadar Hassan" userId="bb151c9adcbd665f" providerId="LiveId" clId="{137F4EC7-7047-490C-B45A-9A7C1BFD476F}" dt="2025-05-11T19:22:13.730" v="49" actId="478"/>
          <ac:spMkLst>
            <pc:docMk/>
            <pc:sldMk cId="1621591483" sldId="404"/>
            <ac:spMk id="151557" creationId="{00000000-0000-0000-0000-000000000000}"/>
          </ac:spMkLst>
        </pc:spChg>
        <pc:picChg chg="add mod">
          <ac:chgData name="Syed Zulqadar Hassan" userId="bb151c9adcbd665f" providerId="LiveId" clId="{137F4EC7-7047-490C-B45A-9A7C1BFD476F}" dt="2025-05-11T19:22:18.634" v="52" actId="14100"/>
          <ac:picMkLst>
            <pc:docMk/>
            <pc:sldMk cId="1621591483" sldId="404"/>
            <ac:picMk id="3" creationId="{BDA14EA9-9125-FCE9-1473-A7CA7DD21BCB}"/>
          </ac:picMkLst>
        </pc:picChg>
        <pc:picChg chg="del">
          <ac:chgData name="Syed Zulqadar Hassan" userId="bb151c9adcbd665f" providerId="LiveId" clId="{137F4EC7-7047-490C-B45A-9A7C1BFD476F}" dt="2025-05-11T19:22:13.730" v="49" actId="478"/>
          <ac:picMkLst>
            <pc:docMk/>
            <pc:sldMk cId="1621591483" sldId="404"/>
            <ac:picMk id="151558" creationId="{00000000-0000-0000-0000-000000000000}"/>
          </ac:picMkLst>
        </pc:picChg>
      </pc:sldChg>
      <pc:sldChg chg="modSp add mod">
        <pc:chgData name="Syed Zulqadar Hassan" userId="bb151c9adcbd665f" providerId="LiveId" clId="{137F4EC7-7047-490C-B45A-9A7C1BFD476F}" dt="2025-05-11T19:25:16.531" v="64" actId="14100"/>
        <pc:sldMkLst>
          <pc:docMk/>
          <pc:sldMk cId="628137001" sldId="405"/>
        </pc:sldMkLst>
        <pc:spChg chg="mod">
          <ac:chgData name="Syed Zulqadar Hassan" userId="bb151c9adcbd665f" providerId="LiveId" clId="{137F4EC7-7047-490C-B45A-9A7C1BFD476F}" dt="2025-05-11T19:25:16.531" v="64" actId="14100"/>
          <ac:spMkLst>
            <pc:docMk/>
            <pc:sldMk cId="628137001" sldId="405"/>
            <ac:spMk id="792579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en-US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/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3677582C-9599-4FE5-A3BD-42DE6393F8D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2919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en-US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A1F32762-D4B7-4003-B16C-7267372C2DB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1100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742EFA-7689-411E-BB01-DA1DB803215F}" type="slidenum">
              <a:rPr lang="en-GB"/>
              <a:pPr/>
              <a:t>8</a:t>
            </a:fld>
            <a:endParaRPr lang="en-GB"/>
          </a:p>
        </p:txBody>
      </p:sp>
      <p:sp>
        <p:nvSpPr>
          <p:cNvPr id="73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BCD to 7-Segmnet display circuit sets segment output to 1</a:t>
            </a:r>
          </a:p>
          <a:p>
            <a:pPr>
              <a:buFontTx/>
              <a:buChar char="•"/>
            </a:pPr>
            <a:r>
              <a:rPr lang="en-GB"/>
              <a:t>Comparator circuit sets A&gt;B, A=B, A&lt; B output to 1</a:t>
            </a:r>
          </a:p>
          <a:p>
            <a:pPr>
              <a:buFontTx/>
              <a:buChar char="•"/>
            </a:pPr>
            <a:r>
              <a:rPr lang="en-GB"/>
              <a:t>Odd-Prime Number Detector Circuit</a:t>
            </a:r>
          </a:p>
          <a:p>
            <a:pPr>
              <a:buFontTx/>
              <a:buChar char="•"/>
            </a:pPr>
            <a:r>
              <a:rPr lang="en-GB"/>
              <a:t>Adjacent 1s detector sets output to 1 when it detects adjacent 1s</a:t>
            </a:r>
          </a:p>
        </p:txBody>
      </p:sp>
    </p:spTree>
    <p:extLst>
      <p:ext uri="{BB962C8B-B14F-4D97-AF65-F5344CB8AC3E}">
        <p14:creationId xmlns:p14="http://schemas.microsoft.com/office/powerpoint/2010/main" val="2590496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FDCDB1-68E0-4B99-8C90-333163BB2D6D}" type="slidenum">
              <a:rPr lang="en-GB"/>
              <a:pPr/>
              <a:t>9</a:t>
            </a:fld>
            <a:endParaRPr lang="en-GB"/>
          </a:p>
        </p:txBody>
      </p:sp>
      <p:sp>
        <p:nvSpPr>
          <p:cNvPr id="74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AND gate performs AND operation on two active high inputs to result in an active high output</a:t>
            </a:r>
          </a:p>
          <a:p>
            <a:pPr>
              <a:buFontTx/>
              <a:buChar char="•"/>
            </a:pPr>
            <a:r>
              <a:rPr lang="en-GB"/>
              <a:t>NAND gate performs AND operation on two active high inputs resulting in an active low output</a:t>
            </a:r>
          </a:p>
          <a:p>
            <a:pPr>
              <a:buFontTx/>
              <a:buChar char="•"/>
            </a:pPr>
            <a:r>
              <a:rPr lang="en-GB"/>
              <a:t>OR gate performs OR operation on two active high inputs to result in an active high output</a:t>
            </a:r>
          </a:p>
          <a:p>
            <a:pPr>
              <a:buFontTx/>
              <a:buChar char="•"/>
            </a:pPr>
            <a:r>
              <a:rPr lang="en-GB"/>
              <a:t>NOR gate performs OR operation on two active high inputs to result in an active low output  </a:t>
            </a:r>
          </a:p>
        </p:txBody>
      </p:sp>
    </p:spTree>
    <p:extLst>
      <p:ext uri="{BB962C8B-B14F-4D97-AF65-F5344CB8AC3E}">
        <p14:creationId xmlns:p14="http://schemas.microsoft.com/office/powerpoint/2010/main" val="2690721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99DA2-4AE8-4FE5-9D16-89A05511BE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08781-F84A-4BAF-9EC2-EF9063C56F9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132AF-5CD4-4D41-912C-F901905262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DA57A-143B-4189-B95B-643ED3DEAC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02A98-83FA-426A-A9E8-AA97B6DCDB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570C7-79AE-46BB-A6B2-354649F480B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9720D-062E-4995-B0DA-A7DC41B63FF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B6282-D8DE-47AD-8F58-A6768FCAF3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C302A-63A1-4B7B-8BBD-296F68602CB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9E42E-B9F2-4CF3-A8C5-D0C80FF257C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59457-96AC-425C-97D8-59CF548C1A5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07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DBED0C-674E-47FB-8297-7B177B371EA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9.emf"/><Relationship Id="rId4" Type="http://schemas.openxmlformats.org/officeDocument/2006/relationships/image" Target="../media/image6.emf"/><Relationship Id="rId9" Type="http://schemas.openxmlformats.org/officeDocument/2006/relationships/oleObject" Target="../embeddings/oleObject6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57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36675"/>
            <a:ext cx="8229600" cy="5292725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endParaRPr lang="en-US" dirty="0"/>
          </a:p>
          <a:p>
            <a:pPr algn="ctr">
              <a:buFont typeface="Wingdings" pitchFamily="2" charset="2"/>
              <a:buNone/>
            </a:pPr>
            <a:r>
              <a:rPr lang="en-US" sz="3800" dirty="0">
                <a:latin typeface="Folio"/>
              </a:rPr>
              <a:t>Digital Logic &amp; Design</a:t>
            </a:r>
            <a:br>
              <a:rPr lang="en-US" dirty="0"/>
            </a:br>
            <a:endParaRPr lang="en-US" dirty="0"/>
          </a:p>
          <a:p>
            <a:pPr algn="ctr">
              <a:buFont typeface="Wingdings" pitchFamily="2" charset="2"/>
              <a:buNone/>
            </a:pPr>
            <a:endParaRPr lang="en-US" dirty="0"/>
          </a:p>
          <a:p>
            <a:pPr algn="ctr">
              <a:buFont typeface="Wingdings" pitchFamily="2" charset="2"/>
              <a:buNone/>
            </a:pPr>
            <a:endParaRPr lang="en-US" b="1" dirty="0"/>
          </a:p>
          <a:p>
            <a:pPr algn="ctr">
              <a:buFont typeface="Wingdings" pitchFamily="2" charset="2"/>
              <a:buNone/>
            </a:pPr>
            <a:r>
              <a:rPr lang="en-US" dirty="0"/>
              <a:t>Lecture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800" b="0"/>
              <a:t>Full-Adder</a:t>
            </a:r>
          </a:p>
        </p:txBody>
      </p:sp>
      <p:sp>
        <p:nvSpPr>
          <p:cNvPr id="7383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Full-Adder = Half-Adder + Half-Adder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4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3800" b="0"/>
              <a:t>Full-Adder based on </a:t>
            </a:r>
            <a:br>
              <a:rPr lang="en-GB" sz="3800" b="0"/>
            </a:br>
            <a:r>
              <a:rPr lang="en-GB" sz="3800" b="0"/>
              <a:t>Two Half-Adders</a:t>
            </a:r>
          </a:p>
        </p:txBody>
      </p:sp>
      <p:sp>
        <p:nvSpPr>
          <p:cNvPr id="743429" name="Rectangle 5"/>
          <p:cNvSpPr>
            <a:spLocks noChangeArrowheads="1"/>
          </p:cNvSpPr>
          <p:nvPr/>
        </p:nvSpPr>
        <p:spPr bwMode="auto">
          <a:xfrm>
            <a:off x="0" y="2752725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43428" name="Object 4"/>
          <p:cNvGraphicFramePr>
            <a:graphicFrameLocks noChangeAspect="1"/>
          </p:cNvGraphicFramePr>
          <p:nvPr/>
        </p:nvGraphicFramePr>
        <p:xfrm>
          <a:off x="838200" y="3048000"/>
          <a:ext cx="7586663" cy="2706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964278" imgH="1799539" progId="Visio.Drawing.6">
                  <p:embed/>
                </p:oleObj>
              </mc:Choice>
              <mc:Fallback>
                <p:oleObj name="Visio" r:id="rId2" imgW="4964278" imgH="1799539" progId="Visio.Drawing.6">
                  <p:embed/>
                  <p:pic>
                    <p:nvPicPr>
                      <p:cNvPr id="7434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048000"/>
                        <a:ext cx="7586663" cy="2706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800" b="0"/>
              <a:t>Parallel Binary Adder</a:t>
            </a:r>
          </a:p>
        </p:txBody>
      </p:sp>
      <p:sp>
        <p:nvSpPr>
          <p:cNvPr id="7393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Multiple Single bit Full-Adder connected in Parallel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87361"/>
          </a:xfrm>
        </p:spPr>
        <p:txBody>
          <a:bodyPr>
            <a:normAutofit fontScale="90000"/>
          </a:bodyPr>
          <a:lstStyle/>
          <a:p>
            <a:r>
              <a:rPr lang="en-GB" sz="3800" b="0" dirty="0"/>
              <a:t>4-bit Parallel Adder</a:t>
            </a:r>
          </a:p>
        </p:txBody>
      </p:sp>
      <p:sp>
        <p:nvSpPr>
          <p:cNvPr id="740357" name="Rectangle 5"/>
          <p:cNvSpPr>
            <a:spLocks noChangeArrowheads="1"/>
          </p:cNvSpPr>
          <p:nvPr/>
        </p:nvSpPr>
        <p:spPr bwMode="auto">
          <a:xfrm>
            <a:off x="0" y="2733675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403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7515684"/>
              </p:ext>
            </p:extLst>
          </p:nvPr>
        </p:nvGraphicFramePr>
        <p:xfrm>
          <a:off x="304800" y="990600"/>
          <a:ext cx="8145463" cy="297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446166" imgH="1989734" progId="Visio.Drawing.6">
                  <p:embed/>
                </p:oleObj>
              </mc:Choice>
              <mc:Fallback>
                <p:oleObj name="Visio" r:id="rId2" imgW="5446166" imgH="1989734" progId="Visio.Drawing.6">
                  <p:embed/>
                  <p:pic>
                    <p:nvPicPr>
                      <p:cNvPr id="74035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990600"/>
                        <a:ext cx="8145463" cy="2979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9647B036-C56C-BF81-BD65-CDB2164A79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25" y="3970338"/>
            <a:ext cx="7772400" cy="27053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87361"/>
          </a:xfrm>
        </p:spPr>
        <p:txBody>
          <a:bodyPr>
            <a:normAutofit fontScale="90000"/>
          </a:bodyPr>
          <a:lstStyle/>
          <a:p>
            <a:r>
              <a:rPr lang="en-GB" sz="3800" b="0" dirty="0"/>
              <a:t>Four-bit adder–subtractor</a:t>
            </a:r>
          </a:p>
        </p:txBody>
      </p:sp>
      <p:sp>
        <p:nvSpPr>
          <p:cNvPr id="740357" name="Rectangle 5"/>
          <p:cNvSpPr>
            <a:spLocks noChangeArrowheads="1"/>
          </p:cNvSpPr>
          <p:nvPr/>
        </p:nvSpPr>
        <p:spPr bwMode="auto">
          <a:xfrm>
            <a:off x="0" y="2733675"/>
            <a:ext cx="9144000" cy="0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A70223-E248-8593-B623-1B342EDBE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0600"/>
            <a:ext cx="9144000" cy="5119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981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87361"/>
          </a:xfrm>
        </p:spPr>
        <p:txBody>
          <a:bodyPr>
            <a:normAutofit fontScale="90000"/>
          </a:bodyPr>
          <a:lstStyle/>
          <a:p>
            <a:r>
              <a:rPr lang="en-GB" sz="3800" b="0" dirty="0"/>
              <a:t>Four-bit adder–subtractor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8EE24B-2CD5-5F77-986A-B189E0B1A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68" y="1066800"/>
            <a:ext cx="8910464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719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800" b="0"/>
              <a:t>Active low/high inputs/outputs</a:t>
            </a:r>
          </a:p>
        </p:txBody>
      </p:sp>
      <p:sp>
        <p:nvSpPr>
          <p:cNvPr id="7383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Active output state represented by 1 or 0</a:t>
            </a:r>
          </a:p>
          <a:p>
            <a:r>
              <a:rPr lang="en-GB"/>
              <a:t>Active input state represented by 1 or 0</a:t>
            </a:r>
          </a:p>
          <a:p>
            <a:r>
              <a:rPr lang="en-GB"/>
              <a:t>A bubble at output represents active low output</a:t>
            </a:r>
          </a:p>
          <a:p>
            <a:r>
              <a:rPr lang="en-GB"/>
              <a:t>A bubble at input represents active low input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404" name="Rectangle 4"/>
          <p:cNvSpPr>
            <a:spLocks noGrp="1" noChangeArrowheads="1"/>
          </p:cNvSpPr>
          <p:nvPr>
            <p:ph type="title" sz="quarter"/>
          </p:nvPr>
        </p:nvSpPr>
        <p:spPr>
          <a:noFill/>
          <a:ln/>
        </p:spPr>
        <p:txBody>
          <a:bodyPr/>
          <a:lstStyle/>
          <a:p>
            <a:r>
              <a:rPr lang="en-GB" sz="3800" b="0"/>
              <a:t>Active low/high inputs/outputs</a:t>
            </a:r>
          </a:p>
        </p:txBody>
      </p:sp>
      <p:graphicFrame>
        <p:nvGraphicFramePr>
          <p:cNvPr id="742409" name="Object 9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843088" y="2236788"/>
          <a:ext cx="1265237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265530" imgH="915924" progId="Visio.Drawing.6">
                  <p:embed/>
                </p:oleObj>
              </mc:Choice>
              <mc:Fallback>
                <p:oleObj name="Visio" r:id="rId3" imgW="1265530" imgH="915924" progId="Visio.Drawing.6">
                  <p:embed/>
                  <p:pic>
                    <p:nvPicPr>
                      <p:cNvPr id="74240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3088" y="2236788"/>
                        <a:ext cx="1265237" cy="915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2411" name="Object 11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410200" y="2209800"/>
          <a:ext cx="1892300" cy="1370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265530" imgH="915924" progId="Visio.Drawing.6">
                  <p:embed/>
                </p:oleObj>
              </mc:Choice>
              <mc:Fallback>
                <p:oleObj name="Visio" r:id="rId5" imgW="1265530" imgH="915924" progId="Visio.Drawing.6">
                  <p:embed/>
                  <p:pic>
                    <p:nvPicPr>
                      <p:cNvPr id="74241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2209800"/>
                        <a:ext cx="1892300" cy="1370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2413" name="Object 13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843088" y="4578350"/>
          <a:ext cx="1265237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265530" imgH="915924" progId="Visio.Drawing.6">
                  <p:embed/>
                </p:oleObj>
              </mc:Choice>
              <mc:Fallback>
                <p:oleObj name="Visio" r:id="rId7" imgW="1265530" imgH="915924" progId="Visio.Drawing.6">
                  <p:embed/>
                  <p:pic>
                    <p:nvPicPr>
                      <p:cNvPr id="74241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3088" y="4578350"/>
                        <a:ext cx="1265237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2415" name="Object 15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5410200" y="4572000"/>
          <a:ext cx="1892300" cy="1370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1265530" imgH="915924" progId="Visio.Drawing.6">
                  <p:embed/>
                </p:oleObj>
              </mc:Choice>
              <mc:Fallback>
                <p:oleObj name="Visio" r:id="rId9" imgW="1265530" imgH="915924" progId="Visio.Drawing.6">
                  <p:embed/>
                  <p:pic>
                    <p:nvPicPr>
                      <p:cNvPr id="74241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572000"/>
                        <a:ext cx="1892300" cy="1370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3778C-8E12-4A89-A3E3-8FDE7DF566E7}" type="slidenum">
              <a:rPr lang="en-US"/>
              <a:pPr/>
              <a:t>10</a:t>
            </a:fld>
            <a:endParaRPr lang="en-US"/>
          </a:p>
        </p:txBody>
      </p:sp>
      <p:sp>
        <p:nvSpPr>
          <p:cNvPr id="154626" name="Text Box 2"/>
          <p:cNvSpPr txBox="1">
            <a:spLocks noChangeArrowheads="1"/>
          </p:cNvSpPr>
          <p:nvPr/>
        </p:nvSpPr>
        <p:spPr bwMode="auto">
          <a:xfrm>
            <a:off x="3735388" y="131763"/>
            <a:ext cx="17097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400" b="1" u="sng">
                <a:effectLst>
                  <a:outerShdw blurRad="38100" dist="38100" dir="2700000" algn="tl">
                    <a:srgbClr val="FFFFFF"/>
                  </a:outerShdw>
                </a:effectLst>
              </a:rPr>
              <a:t>DECODER</a:t>
            </a:r>
          </a:p>
        </p:txBody>
      </p:sp>
      <p:sp>
        <p:nvSpPr>
          <p:cNvPr id="154627" name="Text Box 3"/>
          <p:cNvSpPr txBox="1">
            <a:spLocks noChangeArrowheads="1"/>
          </p:cNvSpPr>
          <p:nvPr/>
        </p:nvSpPr>
        <p:spPr bwMode="auto">
          <a:xfrm>
            <a:off x="685800" y="788988"/>
            <a:ext cx="8299644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sz="2400" b="1" dirty="0"/>
              <a:t> A decoder is a circuit that converts binary information from </a:t>
            </a:r>
          </a:p>
          <a:p>
            <a:r>
              <a:rPr lang="en-US" sz="2400" b="1" dirty="0"/>
              <a:t>	the </a:t>
            </a:r>
            <a:r>
              <a:rPr lang="en-US" sz="2400" b="1" i="1" dirty="0"/>
              <a:t>n</a:t>
            </a:r>
            <a:r>
              <a:rPr lang="en-US" sz="2400" b="1" dirty="0"/>
              <a:t> coded inputs to a maximum of </a:t>
            </a:r>
            <a:r>
              <a:rPr lang="en-US" sz="2400" b="1" i="1" dirty="0"/>
              <a:t>2</a:t>
            </a:r>
            <a:r>
              <a:rPr lang="en-US" sz="2400" b="1" i="1" baseline="30000" dirty="0"/>
              <a:t>n</a:t>
            </a:r>
            <a:r>
              <a:rPr lang="en-US" sz="2400" b="1" dirty="0"/>
              <a:t> unique outputs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Multiple Inputs and Multiple Outputs</a:t>
            </a:r>
            <a:endParaRPr lang="en-US" sz="2400" b="1" dirty="0"/>
          </a:p>
          <a:p>
            <a:endParaRPr lang="en-US" sz="2400" b="1" dirty="0"/>
          </a:p>
          <a:p>
            <a:r>
              <a:rPr lang="en-US" sz="2400" b="1" dirty="0"/>
              <a:t> </a:t>
            </a:r>
          </a:p>
        </p:txBody>
      </p:sp>
      <p:pic>
        <p:nvPicPr>
          <p:cNvPr id="138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7898" y="1917700"/>
            <a:ext cx="8788203" cy="443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890258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9720D-062E-4995-B0DA-A7DC41B63FFA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2743200"/>
            <a:ext cx="7162800" cy="329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2514600" y="1066800"/>
            <a:ext cx="39950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Example:  3 to 8 line decoder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F5ECC-B2AA-4603-A6B4-96898E8348FB}" type="slidenum">
              <a:rPr lang="en-US"/>
              <a:pPr/>
              <a:t>12</a:t>
            </a:fld>
            <a:endParaRPr lang="en-US"/>
          </a:p>
        </p:txBody>
      </p:sp>
      <p:sp>
        <p:nvSpPr>
          <p:cNvPr id="155650" name="Text Box 2"/>
          <p:cNvSpPr txBox="1">
            <a:spLocks noChangeArrowheads="1"/>
          </p:cNvSpPr>
          <p:nvPr/>
        </p:nvSpPr>
        <p:spPr bwMode="auto">
          <a:xfrm>
            <a:off x="3651250" y="131763"/>
            <a:ext cx="187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400" b="1" u="sng">
                <a:effectLst>
                  <a:outerShdw blurRad="38100" dist="38100" dir="2700000" algn="tl">
                    <a:srgbClr val="FFFFFF"/>
                  </a:outerShdw>
                </a:effectLst>
              </a:rPr>
              <a:t>DECODERS</a:t>
            </a:r>
          </a:p>
        </p:txBody>
      </p:sp>
      <p:pic>
        <p:nvPicPr>
          <p:cNvPr id="1556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914400"/>
            <a:ext cx="6334125" cy="547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F6E4F-C060-4374-B0B2-4575D1879B6F}" type="slidenum">
              <a:rPr lang="en-US"/>
              <a:pPr/>
              <a:t>13</a:t>
            </a:fld>
            <a:endParaRPr lang="en-US"/>
          </a:p>
        </p:txBody>
      </p:sp>
      <p:sp>
        <p:nvSpPr>
          <p:cNvPr id="156674" name="Text Box 2"/>
          <p:cNvSpPr txBox="1">
            <a:spLocks noChangeArrowheads="1"/>
          </p:cNvSpPr>
          <p:nvPr/>
        </p:nvSpPr>
        <p:spPr bwMode="auto">
          <a:xfrm>
            <a:off x="3735388" y="131763"/>
            <a:ext cx="17097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400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DECODER</a:t>
            </a:r>
          </a:p>
        </p:txBody>
      </p:sp>
      <p:sp>
        <p:nvSpPr>
          <p:cNvPr id="156675" name="Text Box 3"/>
          <p:cNvSpPr txBox="1">
            <a:spLocks noChangeArrowheads="1"/>
          </p:cNvSpPr>
          <p:nvPr/>
        </p:nvSpPr>
        <p:spPr bwMode="auto">
          <a:xfrm>
            <a:off x="685800" y="788988"/>
            <a:ext cx="406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sz="2400" b="1"/>
              <a:t>Example:  2 to 4 line decoder</a:t>
            </a:r>
          </a:p>
        </p:txBody>
      </p:sp>
      <p:pic>
        <p:nvPicPr>
          <p:cNvPr id="156678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2362200"/>
            <a:ext cx="4191000" cy="2392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6679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62600" y="2362200"/>
            <a:ext cx="2286000" cy="144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6680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62600" y="3962400"/>
            <a:ext cx="111442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9720D-062E-4995-B0DA-A7DC41B63FFA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140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5453" y="1366838"/>
            <a:ext cx="8244514" cy="4576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3505200" y="300335"/>
            <a:ext cx="306846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400" b="1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LARGE DECODERS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u="sng" dirty="0"/>
              <a:t>Function Implementation via Decoder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Full Adder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08781-F84A-4BAF-9EC2-EF9063C56F94}" type="slidenum">
              <a:rPr lang="en-US" smtClean="0"/>
              <a:pPr/>
              <a:t>15</a:t>
            </a:fld>
            <a:endParaRPr lang="en-US"/>
          </a:p>
        </p:txBody>
      </p:sp>
      <p:graphicFrame>
        <p:nvGraphicFramePr>
          <p:cNvPr id="5" name="Group 325"/>
          <p:cNvGraphicFramePr>
            <a:graphicFrameLocks noGrp="1"/>
          </p:cNvGraphicFramePr>
          <p:nvPr/>
        </p:nvGraphicFramePr>
        <p:xfrm>
          <a:off x="4267200" y="1752600"/>
          <a:ext cx="4114800" cy="4602480"/>
        </p:xfrm>
        <a:graphic>
          <a:graphicData uri="http://schemas.openxmlformats.org/drawingml/2006/table">
            <a:tbl>
              <a:tblPr/>
              <a:tblGrid>
                <a:gridCol w="653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6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11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0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1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310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Input</a:t>
                      </a:r>
                      <a:endParaRPr kumimoji="0" lang="en-GB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Output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41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Carry In (C)</a:t>
                      </a:r>
                      <a:endParaRPr kumimoji="0" lang="en-GB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Sum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Carry Out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31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31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31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31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31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31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31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31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2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GB" sz="2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Function Implementation via Decoder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08781-F84A-4BAF-9EC2-EF9063C56F94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2198441"/>
            <a:ext cx="6705600" cy="3821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233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1585666"/>
            <a:ext cx="4724400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E7874-3BE7-4C82-B1FD-6ACE2F71DC47}" type="slidenum">
              <a:rPr lang="en-US"/>
              <a:pPr/>
              <a:t>17</a:t>
            </a:fld>
            <a:endParaRPr lang="en-US"/>
          </a:p>
        </p:txBody>
      </p:sp>
      <p:sp>
        <p:nvSpPr>
          <p:cNvPr id="151554" name="Text Box 2"/>
          <p:cNvSpPr txBox="1">
            <a:spLocks noChangeArrowheads="1"/>
          </p:cNvSpPr>
          <p:nvPr/>
        </p:nvSpPr>
        <p:spPr bwMode="auto">
          <a:xfrm>
            <a:off x="3651250" y="131763"/>
            <a:ext cx="187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400" b="1" u="sng">
                <a:effectLst>
                  <a:outerShdw blurRad="38100" dist="38100" dir="2700000" algn="tl">
                    <a:srgbClr val="FFFFFF"/>
                  </a:outerShdw>
                </a:effectLst>
              </a:rPr>
              <a:t>ENCODERS</a:t>
            </a:r>
          </a:p>
        </p:txBody>
      </p:sp>
      <p:sp>
        <p:nvSpPr>
          <p:cNvPr id="151557" name="Text Box 5"/>
          <p:cNvSpPr txBox="1">
            <a:spLocks noChangeArrowheads="1"/>
          </p:cNvSpPr>
          <p:nvPr/>
        </p:nvSpPr>
        <p:spPr bwMode="auto">
          <a:xfrm>
            <a:off x="685800" y="788988"/>
            <a:ext cx="8119595" cy="3231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 sz="2400" b="1" dirty="0"/>
          </a:p>
          <a:p>
            <a:pPr>
              <a:buFontTx/>
              <a:buChar char="•"/>
            </a:pPr>
            <a:r>
              <a:rPr lang="en-US" sz="2400" b="1" dirty="0"/>
              <a:t> An encoder has 2</a:t>
            </a:r>
            <a:r>
              <a:rPr lang="en-US" sz="2400" b="1" baseline="30000" dirty="0"/>
              <a:t>n</a:t>
            </a:r>
            <a:r>
              <a:rPr lang="en-US" sz="2400" b="1" dirty="0"/>
              <a:t> or fewer input lines and </a:t>
            </a:r>
            <a:r>
              <a:rPr lang="en-US" sz="2400" b="1" i="1" dirty="0"/>
              <a:t>n</a:t>
            </a:r>
            <a:r>
              <a:rPr lang="en-US" sz="2400" b="1" dirty="0"/>
              <a:t> output values</a:t>
            </a:r>
          </a:p>
          <a:p>
            <a:pPr>
              <a:buFontTx/>
              <a:buChar char="•"/>
            </a:pPr>
            <a:r>
              <a:rPr lang="en-US" sz="2400" b="1" dirty="0"/>
              <a:t> Opposite of the </a:t>
            </a:r>
            <a:r>
              <a:rPr lang="en-US" dirty="0"/>
              <a:t>de</a:t>
            </a:r>
            <a:r>
              <a:rPr lang="en-US" sz="2400" b="1" dirty="0"/>
              <a:t>coder function</a:t>
            </a:r>
          </a:p>
          <a:p>
            <a:pPr>
              <a:buFontTx/>
              <a:buChar char="•"/>
            </a:pPr>
            <a:r>
              <a:rPr lang="en-US" sz="2400" b="1" dirty="0"/>
              <a:t> The output lines generate the binary code corresponding to</a:t>
            </a:r>
          </a:p>
          <a:p>
            <a:r>
              <a:rPr lang="en-US" sz="2400" b="1" dirty="0"/>
              <a:t>	the input value</a:t>
            </a:r>
          </a:p>
          <a:p>
            <a:pPr algn="ctr">
              <a:buFontTx/>
              <a:buChar char="•"/>
            </a:pPr>
            <a:r>
              <a:rPr lang="en-US" sz="2000" b="1" dirty="0"/>
              <a:t>A</a:t>
            </a:r>
            <a:r>
              <a:rPr lang="en-US" sz="1400" b="1" dirty="0"/>
              <a:t>2</a:t>
            </a:r>
            <a:r>
              <a:rPr lang="en-US" sz="2000" b="1" dirty="0"/>
              <a:t>=D</a:t>
            </a:r>
            <a:r>
              <a:rPr lang="en-US" sz="1400" b="1" dirty="0"/>
              <a:t>4</a:t>
            </a:r>
            <a:r>
              <a:rPr lang="en-US" sz="2000" b="1" dirty="0"/>
              <a:t>+D</a:t>
            </a:r>
            <a:r>
              <a:rPr lang="en-US" sz="1400" b="1" dirty="0"/>
              <a:t>5</a:t>
            </a:r>
            <a:r>
              <a:rPr lang="en-US" sz="2000" b="1" dirty="0"/>
              <a:t>+D</a:t>
            </a:r>
            <a:r>
              <a:rPr lang="en-US" sz="1400" b="1" dirty="0"/>
              <a:t>6</a:t>
            </a:r>
            <a:r>
              <a:rPr lang="en-US" sz="2000" b="1" dirty="0"/>
              <a:t>+D</a:t>
            </a:r>
            <a:r>
              <a:rPr lang="en-US" sz="1400" b="1" dirty="0"/>
              <a:t>7</a:t>
            </a:r>
            <a:r>
              <a:rPr lang="en-US" sz="2000" b="1" dirty="0"/>
              <a:t>;</a:t>
            </a:r>
          </a:p>
          <a:p>
            <a:pPr algn="ctr">
              <a:buFontTx/>
              <a:buChar char="•"/>
            </a:pPr>
            <a:r>
              <a:rPr lang="en-US" sz="2000" b="1" dirty="0"/>
              <a:t>A</a:t>
            </a:r>
            <a:r>
              <a:rPr lang="en-US" sz="1400" b="1" dirty="0"/>
              <a:t>1</a:t>
            </a:r>
            <a:r>
              <a:rPr lang="en-US" sz="2000" b="1" dirty="0"/>
              <a:t>=D</a:t>
            </a:r>
            <a:r>
              <a:rPr lang="en-US" sz="1400" b="1" dirty="0"/>
              <a:t>2</a:t>
            </a:r>
            <a:r>
              <a:rPr lang="en-US" sz="2000" b="1" dirty="0"/>
              <a:t>+D</a:t>
            </a:r>
            <a:r>
              <a:rPr lang="en-US" sz="1400" b="1" dirty="0"/>
              <a:t>3</a:t>
            </a:r>
            <a:r>
              <a:rPr lang="en-US" sz="2000" b="1" dirty="0"/>
              <a:t>+D</a:t>
            </a:r>
            <a:r>
              <a:rPr lang="en-US" sz="1400" b="1" dirty="0"/>
              <a:t>6</a:t>
            </a:r>
            <a:r>
              <a:rPr lang="en-US" sz="2000" b="1" dirty="0"/>
              <a:t>+D</a:t>
            </a:r>
            <a:r>
              <a:rPr lang="en-US" sz="1400" b="1" dirty="0"/>
              <a:t>7</a:t>
            </a:r>
            <a:r>
              <a:rPr lang="en-US" sz="2000" b="1" dirty="0"/>
              <a:t>;</a:t>
            </a:r>
          </a:p>
          <a:p>
            <a:pPr algn="ctr">
              <a:buFontTx/>
              <a:buChar char="•"/>
            </a:pPr>
            <a:r>
              <a:rPr lang="en-US" sz="2000" b="1" dirty="0"/>
              <a:t>A</a:t>
            </a:r>
            <a:r>
              <a:rPr lang="en-US" sz="1400" b="1" dirty="0"/>
              <a:t>0</a:t>
            </a:r>
            <a:r>
              <a:rPr lang="en-US" sz="2000" b="1" dirty="0"/>
              <a:t>=D</a:t>
            </a:r>
            <a:r>
              <a:rPr lang="en-US" sz="1400" b="1" dirty="0"/>
              <a:t>1</a:t>
            </a:r>
            <a:r>
              <a:rPr lang="en-US" sz="2000" b="1" dirty="0"/>
              <a:t>+D</a:t>
            </a:r>
            <a:r>
              <a:rPr lang="en-US" sz="1400" b="1" dirty="0"/>
              <a:t>3</a:t>
            </a:r>
            <a:r>
              <a:rPr lang="en-US" sz="2000" b="1" dirty="0"/>
              <a:t>+D</a:t>
            </a:r>
            <a:r>
              <a:rPr lang="en-US" sz="1400" b="1" dirty="0"/>
              <a:t>5</a:t>
            </a:r>
            <a:r>
              <a:rPr lang="en-US" sz="2000" b="1" dirty="0"/>
              <a:t>+D</a:t>
            </a:r>
            <a:r>
              <a:rPr lang="en-US" sz="1400" b="1" dirty="0"/>
              <a:t>7</a:t>
            </a:r>
            <a:endParaRPr lang="en-US" sz="2000" b="1" dirty="0"/>
          </a:p>
          <a:p>
            <a:pPr>
              <a:buFontTx/>
              <a:buChar char="•"/>
            </a:pPr>
            <a:r>
              <a:rPr lang="en-US" sz="2400" b="1" dirty="0"/>
              <a:t> Example:</a:t>
            </a:r>
          </a:p>
        </p:txBody>
      </p:sp>
      <p:pic>
        <p:nvPicPr>
          <p:cNvPr id="151558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800" y="3705225"/>
            <a:ext cx="6324600" cy="292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Text Box 2"/>
          <p:cNvSpPr txBox="1">
            <a:spLocks noChangeArrowheads="1"/>
          </p:cNvSpPr>
          <p:nvPr/>
        </p:nvSpPr>
        <p:spPr bwMode="auto">
          <a:xfrm>
            <a:off x="3651250" y="131763"/>
            <a:ext cx="187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400" b="1" u="sng">
                <a:effectLst>
                  <a:outerShdw blurRad="38100" dist="38100" dir="2700000" algn="tl">
                    <a:srgbClr val="FFFFFF"/>
                  </a:outerShdw>
                </a:effectLst>
              </a:rPr>
              <a:t>ENCODERS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A14EA9-9125-FCE9-1473-A7CA7DD21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762000"/>
            <a:ext cx="9008874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5914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36C2F-0850-49A7-95F3-CA66092EBACB}" type="slidenum">
              <a:rPr lang="en-US"/>
              <a:pPr/>
              <a:t>19</a:t>
            </a:fld>
            <a:endParaRPr lang="en-US"/>
          </a:p>
        </p:txBody>
      </p:sp>
      <p:sp>
        <p:nvSpPr>
          <p:cNvPr id="65538" name="Text Box 2"/>
          <p:cNvSpPr txBox="1">
            <a:spLocks noChangeArrowheads="1"/>
          </p:cNvSpPr>
          <p:nvPr/>
        </p:nvSpPr>
        <p:spPr bwMode="auto">
          <a:xfrm>
            <a:off x="3276600" y="131763"/>
            <a:ext cx="26241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400" u="sng">
                <a:effectLst>
                  <a:outerShdw blurRad="38100" dist="38100" dir="2700000" algn="tl">
                    <a:srgbClr val="FFFFFF"/>
                  </a:outerShdw>
                </a:effectLst>
              </a:rPr>
              <a:t>MULTIPLEXERS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66800"/>
            <a:ext cx="63321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/>
              <a:t> a </a:t>
            </a:r>
            <a:r>
              <a:rPr lang="en-US" dirty="0"/>
              <a:t>multiplexer</a:t>
            </a:r>
            <a:r>
              <a:rPr lang="en-US" b="0" dirty="0"/>
              <a:t> selects one of several input signals</a:t>
            </a:r>
          </a:p>
          <a:p>
            <a:r>
              <a:rPr lang="en-US" b="0" dirty="0"/>
              <a:t> and forwards the selected input into a single line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295400" y="2438400"/>
            <a:ext cx="6208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/>
              <a:t>n inputs, one output and s select inputs (2^s = n) </a:t>
            </a:r>
          </a:p>
        </p:txBody>
      </p:sp>
      <p:pic>
        <p:nvPicPr>
          <p:cNvPr id="165890" name="Picture 2" descr="File:Multiplexer2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3228974"/>
            <a:ext cx="6257925" cy="24860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7F79F-5335-4716-9338-A1DC9660E80B}" type="slidenum">
              <a:rPr lang="en-US"/>
              <a:pPr/>
              <a:t>20</a:t>
            </a:fld>
            <a:endParaRPr lang="en-US"/>
          </a:p>
        </p:txBody>
      </p:sp>
      <p:sp>
        <p:nvSpPr>
          <p:cNvPr id="118786" name="Text Box 2"/>
          <p:cNvSpPr txBox="1">
            <a:spLocks noChangeArrowheads="1"/>
          </p:cNvSpPr>
          <p:nvPr/>
        </p:nvSpPr>
        <p:spPr bwMode="auto">
          <a:xfrm>
            <a:off x="3276600" y="131763"/>
            <a:ext cx="26241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400" u="sng">
                <a:effectLst>
                  <a:outerShdw blurRad="38100" dist="38100" dir="2700000" algn="tl">
                    <a:srgbClr val="FFFFFF"/>
                  </a:outerShdw>
                </a:effectLst>
              </a:rPr>
              <a:t>MULTIPLEXERS</a:t>
            </a:r>
          </a:p>
        </p:txBody>
      </p:sp>
      <p:sp>
        <p:nvSpPr>
          <p:cNvPr id="118787" name="Text Box 3"/>
          <p:cNvSpPr txBox="1">
            <a:spLocks noChangeArrowheads="1"/>
          </p:cNvSpPr>
          <p:nvPr/>
        </p:nvSpPr>
        <p:spPr bwMode="auto">
          <a:xfrm>
            <a:off x="533400" y="4953000"/>
            <a:ext cx="8088313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i="1">
                <a:solidFill>
                  <a:srgbClr val="FF0000"/>
                </a:solidFill>
                <a:cs typeface="Times New Roman" charset="0"/>
              </a:rPr>
              <a:t>Selection Inputs:</a:t>
            </a:r>
            <a:r>
              <a:rPr lang="en-US" sz="2400" i="1">
                <a:cs typeface="Times New Roman" charset="0"/>
              </a:rPr>
              <a:t> Input variables which control the selection of</a:t>
            </a:r>
          </a:p>
          <a:p>
            <a:r>
              <a:rPr lang="en-US" sz="2400" i="1">
                <a:cs typeface="Times New Roman" charset="0"/>
              </a:rPr>
              <a:t>input lines. For </a:t>
            </a:r>
            <a:r>
              <a:rPr lang="en-US" sz="2400" i="1">
                <a:solidFill>
                  <a:srgbClr val="FF0000"/>
                </a:solidFill>
                <a:cs typeface="Times New Roman" charset="0"/>
              </a:rPr>
              <a:t>2</a:t>
            </a:r>
            <a:r>
              <a:rPr lang="en-US" sz="2400" i="1" baseline="30000">
                <a:solidFill>
                  <a:srgbClr val="FF0000"/>
                </a:solidFill>
                <a:cs typeface="Times New Roman" charset="0"/>
              </a:rPr>
              <a:t>n</a:t>
            </a:r>
            <a:r>
              <a:rPr lang="en-US" sz="2400" i="1">
                <a:cs typeface="Times New Roman" charset="0"/>
              </a:rPr>
              <a:t> input lines we need </a:t>
            </a:r>
            <a:r>
              <a:rPr lang="en-US" sz="2400" i="1">
                <a:solidFill>
                  <a:srgbClr val="FF0000"/>
                </a:solidFill>
                <a:cs typeface="Times New Roman" charset="0"/>
              </a:rPr>
              <a:t>n</a:t>
            </a:r>
            <a:r>
              <a:rPr lang="en-US" sz="2400" i="1">
                <a:cs typeface="Times New Roman" charset="0"/>
              </a:rPr>
              <a:t> selection inputs</a:t>
            </a:r>
          </a:p>
          <a:p>
            <a:r>
              <a:rPr lang="en-US" sz="2400" i="1">
                <a:cs typeface="Times New Roman" charset="0"/>
              </a:rPr>
              <a:t>An </a:t>
            </a:r>
            <a:r>
              <a:rPr lang="en-US" sz="2400" i="1">
                <a:solidFill>
                  <a:srgbClr val="FF0000"/>
                </a:solidFill>
                <a:cs typeface="Times New Roman" charset="0"/>
              </a:rPr>
              <a:t>2</a:t>
            </a:r>
            <a:r>
              <a:rPr lang="en-US" sz="2400" i="1" baseline="30000">
                <a:solidFill>
                  <a:srgbClr val="FF0000"/>
                </a:solidFill>
                <a:cs typeface="Times New Roman" charset="0"/>
              </a:rPr>
              <a:t>n</a:t>
            </a:r>
            <a:r>
              <a:rPr lang="en-US" sz="2400" i="1">
                <a:cs typeface="Times New Roman" charset="0"/>
              </a:rPr>
              <a:t> input, </a:t>
            </a:r>
            <a:r>
              <a:rPr lang="en-US" sz="2400" i="1">
                <a:solidFill>
                  <a:srgbClr val="FF0000"/>
                </a:solidFill>
                <a:cs typeface="Times New Roman" charset="0"/>
              </a:rPr>
              <a:t>m</a:t>
            </a:r>
            <a:r>
              <a:rPr lang="en-US" sz="2400" i="1">
                <a:cs typeface="Times New Roman" charset="0"/>
              </a:rPr>
              <a:t> output multiplexer is called </a:t>
            </a:r>
            <a:r>
              <a:rPr lang="en-US" sz="2400" i="1">
                <a:solidFill>
                  <a:srgbClr val="FF0000"/>
                </a:solidFill>
                <a:cs typeface="Times New Roman" charset="0"/>
              </a:rPr>
              <a:t>2</a:t>
            </a:r>
            <a:r>
              <a:rPr lang="en-US" sz="2400" i="1" baseline="30000">
                <a:solidFill>
                  <a:srgbClr val="FF0000"/>
                </a:solidFill>
                <a:cs typeface="Times New Roman" charset="0"/>
              </a:rPr>
              <a:t>n</a:t>
            </a:r>
            <a:r>
              <a:rPr lang="en-US" sz="2400" i="1">
                <a:solidFill>
                  <a:srgbClr val="FF0000"/>
                </a:solidFill>
                <a:cs typeface="Times New Roman" charset="0"/>
              </a:rPr>
              <a:t>-to-m line MUX</a:t>
            </a:r>
          </a:p>
          <a:p>
            <a:r>
              <a:rPr lang="en-US" sz="2400" i="1">
                <a:cs typeface="Times New Roman" charset="0"/>
              </a:rPr>
              <a:t>		A 4-to-1 line MUX is shown above</a:t>
            </a:r>
          </a:p>
        </p:txBody>
      </p:sp>
      <p:pic>
        <p:nvPicPr>
          <p:cNvPr id="11878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685800"/>
            <a:ext cx="6858000" cy="402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AE543-4AA2-46FE-9769-3065F6DB8F65}" type="slidenum">
              <a:rPr lang="en-US"/>
              <a:pPr/>
              <a:t>21</a:t>
            </a:fld>
            <a:endParaRPr lang="en-US"/>
          </a:p>
        </p:txBody>
      </p:sp>
      <p:sp>
        <p:nvSpPr>
          <p:cNvPr id="123906" name="Text Box 2"/>
          <p:cNvSpPr txBox="1">
            <a:spLocks noChangeArrowheads="1"/>
          </p:cNvSpPr>
          <p:nvPr/>
        </p:nvSpPr>
        <p:spPr bwMode="auto">
          <a:xfrm>
            <a:off x="3276600" y="131763"/>
            <a:ext cx="26241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400" u="sng">
                <a:effectLst>
                  <a:outerShdw blurRad="38100" dist="38100" dir="2700000" algn="tl">
                    <a:srgbClr val="FFFFFF"/>
                  </a:outerShdw>
                </a:effectLst>
              </a:rPr>
              <a:t>MULTIPLEXERS</a:t>
            </a:r>
          </a:p>
        </p:txBody>
      </p:sp>
      <p:sp>
        <p:nvSpPr>
          <p:cNvPr id="123910" name="Text Box 6"/>
          <p:cNvSpPr txBox="1">
            <a:spLocks noChangeArrowheads="1"/>
          </p:cNvSpPr>
          <p:nvPr/>
        </p:nvSpPr>
        <p:spPr bwMode="auto">
          <a:xfrm>
            <a:off x="746125" y="776288"/>
            <a:ext cx="7781925" cy="368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  <a:p>
            <a:r>
              <a:rPr lang="en-US" sz="2400" i="1">
                <a:solidFill>
                  <a:srgbClr val="FF0000"/>
                </a:solidFill>
              </a:rPr>
              <a:t>Enable Input</a:t>
            </a:r>
          </a:p>
          <a:p>
            <a:r>
              <a:rPr lang="en-US" sz="2400"/>
              <a:t>An enable input controls the operation of the unit</a:t>
            </a:r>
          </a:p>
          <a:p>
            <a:r>
              <a:rPr lang="en-US" sz="2400"/>
              <a:t>It is useful for combining two or more multiplexers into a</a:t>
            </a:r>
          </a:p>
          <a:p>
            <a:r>
              <a:rPr lang="en-US" sz="2400"/>
              <a:t>single large multiplexer</a:t>
            </a:r>
          </a:p>
          <a:p>
            <a:endParaRPr lang="en-US" sz="2400"/>
          </a:p>
          <a:p>
            <a:r>
              <a:rPr lang="en-US" sz="2400" i="1">
                <a:solidFill>
                  <a:srgbClr val="FF0000"/>
                </a:solidFill>
              </a:rPr>
              <a:t>Multiple Bits Selection</a:t>
            </a:r>
          </a:p>
          <a:p>
            <a:r>
              <a:rPr lang="en-US" sz="2400"/>
              <a:t>Multiplexer blocks can be combined in parallel to perform</a:t>
            </a:r>
          </a:p>
          <a:p>
            <a:r>
              <a:rPr lang="en-US" sz="2400"/>
              <a:t>selection on multiple bit quantities</a:t>
            </a:r>
          </a:p>
          <a:p>
            <a:r>
              <a:rPr lang="en-US" sz="2400"/>
              <a:t>These have common selection and enable lines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A08BC-9A96-4B79-BB52-6411F9B420DD}" type="slidenum">
              <a:rPr lang="en-US"/>
              <a:pPr/>
              <a:t>22</a:t>
            </a:fld>
            <a:endParaRPr lang="en-US"/>
          </a:p>
        </p:txBody>
      </p:sp>
      <p:sp>
        <p:nvSpPr>
          <p:cNvPr id="97282" name="Text Box 2"/>
          <p:cNvSpPr txBox="1">
            <a:spLocks noChangeArrowheads="1"/>
          </p:cNvSpPr>
          <p:nvPr/>
        </p:nvSpPr>
        <p:spPr bwMode="auto">
          <a:xfrm>
            <a:off x="3276600" y="131763"/>
            <a:ext cx="26241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400" u="sng">
                <a:effectLst>
                  <a:outerShdw blurRad="38100" dist="38100" dir="2700000" algn="tl">
                    <a:srgbClr val="FFFFFF"/>
                  </a:outerShdw>
                </a:effectLst>
              </a:rPr>
              <a:t>MULTIPLEXERS</a:t>
            </a:r>
          </a:p>
        </p:txBody>
      </p:sp>
      <p:pic>
        <p:nvPicPr>
          <p:cNvPr id="97288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9000" y="762000"/>
            <a:ext cx="5381625" cy="533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7289" name="Text Box 9"/>
          <p:cNvSpPr txBox="1">
            <a:spLocks noChangeArrowheads="1"/>
          </p:cNvSpPr>
          <p:nvPr/>
        </p:nvSpPr>
        <p:spPr bwMode="auto">
          <a:xfrm>
            <a:off x="304800" y="762000"/>
            <a:ext cx="2927350" cy="520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Quadruple</a:t>
            </a:r>
          </a:p>
          <a:p>
            <a:r>
              <a:rPr lang="en-US" sz="2400"/>
              <a:t>2-to-1 line MUX</a:t>
            </a:r>
          </a:p>
          <a:p>
            <a:endParaRPr lang="en-US" sz="2400"/>
          </a:p>
          <a:p>
            <a:r>
              <a:rPr lang="en-US" sz="2400"/>
              <a:t>It has 4 multiplexers </a:t>
            </a:r>
          </a:p>
          <a:p>
            <a:r>
              <a:rPr lang="en-US" sz="2400"/>
              <a:t>each capable of</a:t>
            </a:r>
          </a:p>
          <a:p>
            <a:r>
              <a:rPr lang="en-US" sz="2400"/>
              <a:t>selecting one of two</a:t>
            </a:r>
          </a:p>
          <a:p>
            <a:r>
              <a:rPr lang="en-US" sz="2400"/>
              <a:t>input lines</a:t>
            </a:r>
          </a:p>
          <a:p>
            <a:endParaRPr lang="en-US" sz="2400"/>
          </a:p>
          <a:p>
            <a:r>
              <a:rPr lang="en-US" sz="2400"/>
              <a:t>The circuit may also</a:t>
            </a:r>
          </a:p>
          <a:p>
            <a:r>
              <a:rPr lang="en-US" sz="2400"/>
              <a:t>be viewed as a </a:t>
            </a:r>
          </a:p>
          <a:p>
            <a:r>
              <a:rPr lang="en-US" sz="2400"/>
              <a:t>selector of one of two</a:t>
            </a:r>
          </a:p>
          <a:p>
            <a:r>
              <a:rPr lang="en-US" sz="2400"/>
              <a:t>sets of data lines, </a:t>
            </a:r>
          </a:p>
          <a:p>
            <a:r>
              <a:rPr lang="en-US" sz="2400"/>
              <a:t>where each set has</a:t>
            </a:r>
          </a:p>
          <a:p>
            <a:r>
              <a:rPr lang="en-US" sz="2400"/>
              <a:t>4 lines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79C10-E37F-477D-B4E7-71BF7DB7ECB1}" type="slidenum">
              <a:rPr lang="en-US"/>
              <a:pPr/>
              <a:t>23</a:t>
            </a:fld>
            <a:endParaRPr lang="en-US"/>
          </a:p>
        </p:txBody>
      </p:sp>
      <p:sp>
        <p:nvSpPr>
          <p:cNvPr id="129026" name="Text Box 2"/>
          <p:cNvSpPr txBox="1">
            <a:spLocks noChangeArrowheads="1"/>
          </p:cNvSpPr>
          <p:nvPr/>
        </p:nvSpPr>
        <p:spPr bwMode="auto">
          <a:xfrm>
            <a:off x="3276600" y="131763"/>
            <a:ext cx="26241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u="sng">
                <a:effectLst>
                  <a:outerShdw blurRad="38100" dist="38100" dir="2700000" algn="tl">
                    <a:srgbClr val="FFFFFF"/>
                  </a:outerShdw>
                </a:effectLst>
              </a:rPr>
              <a:t>MULTIPLEXERS</a:t>
            </a:r>
          </a:p>
        </p:txBody>
      </p:sp>
      <p:sp>
        <p:nvSpPr>
          <p:cNvPr id="129027" name="Text Box 3"/>
          <p:cNvSpPr txBox="1">
            <a:spLocks noChangeArrowheads="1"/>
          </p:cNvSpPr>
          <p:nvPr/>
        </p:nvSpPr>
        <p:spPr bwMode="auto">
          <a:xfrm>
            <a:off x="533400" y="4953000"/>
            <a:ext cx="8088313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>
                <a:solidFill>
                  <a:srgbClr val="FF0000"/>
                </a:solidFill>
                <a:cs typeface="Times New Roman" charset="0"/>
              </a:rPr>
              <a:t>Selection Inputs:</a:t>
            </a:r>
            <a:r>
              <a:rPr lang="en-US" i="1">
                <a:cs typeface="Times New Roman" charset="0"/>
              </a:rPr>
              <a:t> Input variables which control the selection of</a:t>
            </a:r>
          </a:p>
          <a:p>
            <a:r>
              <a:rPr lang="en-US" i="1">
                <a:cs typeface="Times New Roman" charset="0"/>
              </a:rPr>
              <a:t>input lines. For </a:t>
            </a:r>
            <a:r>
              <a:rPr lang="en-US" i="1">
                <a:solidFill>
                  <a:srgbClr val="FF0000"/>
                </a:solidFill>
                <a:cs typeface="Times New Roman" charset="0"/>
              </a:rPr>
              <a:t>2</a:t>
            </a:r>
            <a:r>
              <a:rPr lang="en-US" i="1" baseline="30000">
                <a:solidFill>
                  <a:srgbClr val="FF0000"/>
                </a:solidFill>
                <a:cs typeface="Times New Roman" charset="0"/>
              </a:rPr>
              <a:t>n</a:t>
            </a:r>
            <a:r>
              <a:rPr lang="en-US" i="1">
                <a:cs typeface="Times New Roman" charset="0"/>
              </a:rPr>
              <a:t> input lines we need </a:t>
            </a:r>
            <a:r>
              <a:rPr lang="en-US" i="1">
                <a:solidFill>
                  <a:srgbClr val="FF0000"/>
                </a:solidFill>
                <a:cs typeface="Times New Roman" charset="0"/>
              </a:rPr>
              <a:t>n</a:t>
            </a:r>
            <a:r>
              <a:rPr lang="en-US" i="1">
                <a:cs typeface="Times New Roman" charset="0"/>
              </a:rPr>
              <a:t> selection inputs</a:t>
            </a:r>
          </a:p>
          <a:p>
            <a:r>
              <a:rPr lang="en-US" i="1">
                <a:cs typeface="Times New Roman" charset="0"/>
              </a:rPr>
              <a:t>An </a:t>
            </a:r>
            <a:r>
              <a:rPr lang="en-US" i="1">
                <a:solidFill>
                  <a:srgbClr val="FF0000"/>
                </a:solidFill>
                <a:cs typeface="Times New Roman" charset="0"/>
              </a:rPr>
              <a:t>2</a:t>
            </a:r>
            <a:r>
              <a:rPr lang="en-US" i="1" baseline="30000">
                <a:solidFill>
                  <a:srgbClr val="FF0000"/>
                </a:solidFill>
                <a:cs typeface="Times New Roman" charset="0"/>
              </a:rPr>
              <a:t>n</a:t>
            </a:r>
            <a:r>
              <a:rPr lang="en-US" i="1">
                <a:cs typeface="Times New Roman" charset="0"/>
              </a:rPr>
              <a:t> input, </a:t>
            </a:r>
            <a:r>
              <a:rPr lang="en-US" i="1">
                <a:solidFill>
                  <a:srgbClr val="FF0000"/>
                </a:solidFill>
                <a:cs typeface="Times New Roman" charset="0"/>
              </a:rPr>
              <a:t>m</a:t>
            </a:r>
            <a:r>
              <a:rPr lang="en-US" i="1">
                <a:cs typeface="Times New Roman" charset="0"/>
              </a:rPr>
              <a:t> output multiplexer is called </a:t>
            </a:r>
            <a:r>
              <a:rPr lang="en-US" i="1">
                <a:solidFill>
                  <a:srgbClr val="FF0000"/>
                </a:solidFill>
                <a:cs typeface="Times New Roman" charset="0"/>
              </a:rPr>
              <a:t>2</a:t>
            </a:r>
            <a:r>
              <a:rPr lang="en-US" i="1" baseline="30000">
                <a:solidFill>
                  <a:srgbClr val="FF0000"/>
                </a:solidFill>
                <a:cs typeface="Times New Roman" charset="0"/>
              </a:rPr>
              <a:t>n</a:t>
            </a:r>
            <a:r>
              <a:rPr lang="en-US" i="1">
                <a:solidFill>
                  <a:srgbClr val="FF0000"/>
                </a:solidFill>
                <a:cs typeface="Times New Roman" charset="0"/>
              </a:rPr>
              <a:t>-to-m line MUX</a:t>
            </a:r>
          </a:p>
          <a:p>
            <a:r>
              <a:rPr lang="en-US" i="1">
                <a:cs typeface="Times New Roman" charset="0"/>
              </a:rPr>
              <a:t>		A 4-to-1 line MUX is shown above</a:t>
            </a:r>
          </a:p>
        </p:txBody>
      </p:sp>
      <p:pic>
        <p:nvPicPr>
          <p:cNvPr id="129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685800"/>
            <a:ext cx="6858000" cy="402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5A8EF-CD42-446F-AC5D-5A04C7699FE2}" type="slidenum">
              <a:rPr lang="en-US"/>
              <a:pPr/>
              <a:t>24</a:t>
            </a:fld>
            <a:endParaRPr lang="en-US"/>
          </a:p>
        </p:txBody>
      </p:sp>
      <p:sp>
        <p:nvSpPr>
          <p:cNvPr id="130050" name="Text Box 2"/>
          <p:cNvSpPr txBox="1">
            <a:spLocks noChangeArrowheads="1"/>
          </p:cNvSpPr>
          <p:nvPr/>
        </p:nvSpPr>
        <p:spPr bwMode="auto">
          <a:xfrm>
            <a:off x="3276600" y="131763"/>
            <a:ext cx="26241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u="sng">
                <a:effectLst>
                  <a:outerShdw blurRad="38100" dist="38100" dir="2700000" algn="tl">
                    <a:srgbClr val="FFFFFF"/>
                  </a:outerShdw>
                </a:effectLst>
              </a:rPr>
              <a:t>MULTIPLEXERS</a:t>
            </a:r>
          </a:p>
        </p:txBody>
      </p:sp>
      <p:sp>
        <p:nvSpPr>
          <p:cNvPr id="130051" name="Text Box 3"/>
          <p:cNvSpPr txBox="1">
            <a:spLocks noChangeArrowheads="1"/>
          </p:cNvSpPr>
          <p:nvPr/>
        </p:nvSpPr>
        <p:spPr bwMode="auto">
          <a:xfrm>
            <a:off x="685800" y="1398588"/>
            <a:ext cx="7853363" cy="228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We can implement a Boolean function of </a:t>
            </a:r>
            <a:r>
              <a:rPr lang="en-US" i="1"/>
              <a:t>n</a:t>
            </a:r>
            <a:r>
              <a:rPr lang="en-US"/>
              <a:t> variables with a</a:t>
            </a:r>
          </a:p>
          <a:p>
            <a:r>
              <a:rPr lang="en-US"/>
              <a:t>multiplexer with  </a:t>
            </a:r>
            <a:r>
              <a:rPr lang="en-US" i="1"/>
              <a:t>n-1</a:t>
            </a:r>
            <a:r>
              <a:rPr lang="en-US"/>
              <a:t> selection inputs</a:t>
            </a:r>
          </a:p>
          <a:p>
            <a:endParaRPr lang="en-US"/>
          </a:p>
          <a:p>
            <a:r>
              <a:rPr lang="en-US"/>
              <a:t>The first </a:t>
            </a:r>
            <a:r>
              <a:rPr lang="en-US" i="1"/>
              <a:t>n-1</a:t>
            </a:r>
            <a:r>
              <a:rPr lang="en-US"/>
              <a:t> variables of the function are connected to the</a:t>
            </a:r>
          </a:p>
          <a:p>
            <a:r>
              <a:rPr lang="en-US"/>
              <a:t>selection inputs of the multiplexer and the remaining</a:t>
            </a:r>
          </a:p>
          <a:p>
            <a:r>
              <a:rPr lang="en-US" i="1"/>
              <a:t>n</a:t>
            </a:r>
            <a:r>
              <a:rPr lang="en-US" i="1" baseline="30000"/>
              <a:t>th</a:t>
            </a:r>
            <a:r>
              <a:rPr lang="en-US"/>
              <a:t> variable is used for data inputs</a:t>
            </a:r>
          </a:p>
        </p:txBody>
      </p:sp>
      <p:sp>
        <p:nvSpPr>
          <p:cNvPr id="130052" name="Text Box 4"/>
          <p:cNvSpPr txBox="1">
            <a:spLocks noChangeArrowheads="1"/>
          </p:cNvSpPr>
          <p:nvPr/>
        </p:nvSpPr>
        <p:spPr bwMode="auto">
          <a:xfrm>
            <a:off x="685800" y="788988"/>
            <a:ext cx="45497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>
                <a:solidFill>
                  <a:srgbClr val="FF0000"/>
                </a:solidFill>
              </a:rPr>
              <a:t>Boolean Function Implementation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FC53B-5CC3-4E3E-A6CF-3E7DE7EFDDA0}" type="slidenum">
              <a:rPr lang="en-US"/>
              <a:pPr/>
              <a:t>25</a:t>
            </a:fld>
            <a:endParaRPr lang="en-US"/>
          </a:p>
        </p:txBody>
      </p:sp>
      <p:sp>
        <p:nvSpPr>
          <p:cNvPr id="131074" name="Text Box 2"/>
          <p:cNvSpPr txBox="1">
            <a:spLocks noChangeArrowheads="1"/>
          </p:cNvSpPr>
          <p:nvPr/>
        </p:nvSpPr>
        <p:spPr bwMode="auto">
          <a:xfrm>
            <a:off x="3275013" y="131763"/>
            <a:ext cx="26241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u="sng">
                <a:effectLst>
                  <a:outerShdw blurRad="38100" dist="38100" dir="2700000" algn="tl">
                    <a:srgbClr val="FFFFFF"/>
                  </a:outerShdw>
                </a:effectLst>
              </a:rPr>
              <a:t>MULTIPLEXERS</a:t>
            </a:r>
          </a:p>
        </p:txBody>
      </p:sp>
      <p:sp>
        <p:nvSpPr>
          <p:cNvPr id="131075" name="Text Box 3"/>
          <p:cNvSpPr txBox="1">
            <a:spLocks noChangeArrowheads="1"/>
          </p:cNvSpPr>
          <p:nvPr/>
        </p:nvSpPr>
        <p:spPr bwMode="auto">
          <a:xfrm>
            <a:off x="990600" y="788988"/>
            <a:ext cx="4549775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>
                <a:solidFill>
                  <a:srgbClr val="FF0000"/>
                </a:solidFill>
              </a:rPr>
              <a:t>Boolean Function Implementation</a:t>
            </a:r>
          </a:p>
          <a:p>
            <a:endParaRPr lang="en-US" i="1">
              <a:solidFill>
                <a:srgbClr val="FF0000"/>
              </a:solidFill>
            </a:endParaRPr>
          </a:p>
          <a:p>
            <a:r>
              <a:rPr lang="en-US" i="1"/>
              <a:t>F = </a:t>
            </a:r>
            <a:r>
              <a:rPr lang="en-US" i="1">
                <a:cs typeface="Times New Roman" charset="0"/>
              </a:rPr>
              <a:t>Σm(1,2,6,7)</a:t>
            </a:r>
            <a:endParaRPr lang="en-US" i="1"/>
          </a:p>
        </p:txBody>
      </p:sp>
      <p:pic>
        <p:nvPicPr>
          <p:cNvPr id="13107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2438400"/>
            <a:ext cx="7105650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CF354-18D3-44C4-A675-CCEAB73F7316}" type="slidenum">
              <a:rPr lang="en-US"/>
              <a:pPr/>
              <a:t>26</a:t>
            </a:fld>
            <a:endParaRPr lang="en-US"/>
          </a:p>
        </p:txBody>
      </p:sp>
      <p:sp>
        <p:nvSpPr>
          <p:cNvPr id="132098" name="Text Box 2"/>
          <p:cNvSpPr txBox="1">
            <a:spLocks noChangeArrowheads="1"/>
          </p:cNvSpPr>
          <p:nvPr/>
        </p:nvSpPr>
        <p:spPr bwMode="auto">
          <a:xfrm>
            <a:off x="3275013" y="131763"/>
            <a:ext cx="26241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u="sng">
                <a:effectLst>
                  <a:outerShdw blurRad="38100" dist="38100" dir="2700000" algn="tl">
                    <a:srgbClr val="FFFFFF"/>
                  </a:outerShdw>
                </a:effectLst>
              </a:rPr>
              <a:t>MULTIPLEXERS</a:t>
            </a:r>
          </a:p>
        </p:txBody>
      </p:sp>
      <p:pic>
        <p:nvPicPr>
          <p:cNvPr id="132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2209800"/>
            <a:ext cx="2409825" cy="406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210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38600" y="2209800"/>
            <a:ext cx="4305300" cy="3895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2101" name="Text Box 5"/>
          <p:cNvSpPr txBox="1">
            <a:spLocks noChangeArrowheads="1"/>
          </p:cNvSpPr>
          <p:nvPr/>
        </p:nvSpPr>
        <p:spPr bwMode="auto">
          <a:xfrm>
            <a:off x="990600" y="788988"/>
            <a:ext cx="4549775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>
                <a:solidFill>
                  <a:srgbClr val="FF0000"/>
                </a:solidFill>
              </a:rPr>
              <a:t>Boolean Function Implementation</a:t>
            </a:r>
          </a:p>
          <a:p>
            <a:endParaRPr lang="en-US" i="1">
              <a:solidFill>
                <a:srgbClr val="FF0000"/>
              </a:solidFill>
            </a:endParaRPr>
          </a:p>
          <a:p>
            <a:r>
              <a:rPr lang="en-US" i="1"/>
              <a:t>F = </a:t>
            </a:r>
            <a:r>
              <a:rPr lang="en-US" i="1">
                <a:cs typeface="Times New Roman" charset="0"/>
              </a:rPr>
              <a:t>Σm(1,3,4,11,12,13,14,15)</a:t>
            </a:r>
            <a:endParaRPr lang="en-US" i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2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2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2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2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57364-8B73-49BF-A2C9-807FDC1DB47C}" type="slidenum">
              <a:rPr lang="en-US"/>
              <a:pPr/>
              <a:t>27</a:t>
            </a:fld>
            <a:endParaRPr lang="en-US"/>
          </a:p>
        </p:txBody>
      </p:sp>
      <p:sp>
        <p:nvSpPr>
          <p:cNvPr id="133122" name="Text Box 2"/>
          <p:cNvSpPr txBox="1">
            <a:spLocks noChangeArrowheads="1"/>
          </p:cNvSpPr>
          <p:nvPr/>
        </p:nvSpPr>
        <p:spPr bwMode="auto">
          <a:xfrm>
            <a:off x="3275013" y="131763"/>
            <a:ext cx="26241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u="sng">
                <a:effectLst>
                  <a:outerShdw blurRad="38100" dist="38100" dir="2700000" algn="tl">
                    <a:srgbClr val="FFFFFF"/>
                  </a:outerShdw>
                </a:effectLst>
              </a:rPr>
              <a:t>MULTIPLEXERS</a:t>
            </a:r>
          </a:p>
        </p:txBody>
      </p:sp>
      <p:sp>
        <p:nvSpPr>
          <p:cNvPr id="133123" name="Text Box 3"/>
          <p:cNvSpPr txBox="1">
            <a:spLocks noChangeArrowheads="1"/>
          </p:cNvSpPr>
          <p:nvPr/>
        </p:nvSpPr>
        <p:spPr bwMode="auto">
          <a:xfrm>
            <a:off x="990600" y="788988"/>
            <a:ext cx="4549775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>
                <a:solidFill>
                  <a:srgbClr val="FF0000"/>
                </a:solidFill>
              </a:rPr>
              <a:t>Boolean Function Implementation</a:t>
            </a:r>
          </a:p>
          <a:p>
            <a:endParaRPr lang="en-US" i="1">
              <a:solidFill>
                <a:srgbClr val="FF0000"/>
              </a:solidFill>
            </a:endParaRPr>
          </a:p>
          <a:p>
            <a:r>
              <a:rPr lang="en-US" i="1"/>
              <a:t>F = </a:t>
            </a:r>
            <a:r>
              <a:rPr lang="en-US" i="1">
                <a:cs typeface="Times New Roman" charset="0"/>
              </a:rPr>
              <a:t>Σm(2,3,5,6,8,9,12,14)</a:t>
            </a:r>
            <a:endParaRPr lang="en-US" i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30A8A-AF1D-4597-86A8-94B24F0CCA62}" type="slidenum">
              <a:rPr lang="en-US"/>
              <a:pPr/>
              <a:t>28</a:t>
            </a:fld>
            <a:endParaRPr lang="en-US"/>
          </a:p>
        </p:txBody>
      </p:sp>
      <p:sp>
        <p:nvSpPr>
          <p:cNvPr id="134146" name="Text Box 2"/>
          <p:cNvSpPr txBox="1">
            <a:spLocks noChangeArrowheads="1"/>
          </p:cNvSpPr>
          <p:nvPr/>
        </p:nvSpPr>
        <p:spPr bwMode="auto">
          <a:xfrm>
            <a:off x="3275013" y="131763"/>
            <a:ext cx="26241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u="sng">
                <a:effectLst>
                  <a:outerShdw blurRad="38100" dist="38100" dir="2700000" algn="tl">
                    <a:srgbClr val="FFFFFF"/>
                  </a:outerShdw>
                </a:effectLst>
              </a:rPr>
              <a:t>MULTIPLEXERS</a:t>
            </a:r>
          </a:p>
        </p:txBody>
      </p:sp>
      <p:sp>
        <p:nvSpPr>
          <p:cNvPr id="134147" name="Text Box 3"/>
          <p:cNvSpPr txBox="1">
            <a:spLocks noChangeArrowheads="1"/>
          </p:cNvSpPr>
          <p:nvPr/>
        </p:nvSpPr>
        <p:spPr bwMode="auto">
          <a:xfrm>
            <a:off x="746125" y="727075"/>
            <a:ext cx="7916863" cy="228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i="1">
                <a:solidFill>
                  <a:srgbClr val="FF0000"/>
                </a:solidFill>
              </a:rPr>
              <a:t>Demultiplexers</a:t>
            </a:r>
          </a:p>
          <a:p>
            <a:endParaRPr lang="en-US" i="1">
              <a:solidFill>
                <a:srgbClr val="FF0000"/>
              </a:solidFill>
            </a:endParaRPr>
          </a:p>
          <a:p>
            <a:r>
              <a:rPr lang="en-US"/>
              <a:t>A demultiplexer receives information from a single line and</a:t>
            </a:r>
          </a:p>
          <a:p>
            <a:r>
              <a:rPr lang="en-US"/>
              <a:t>transmits it to one of </a:t>
            </a:r>
            <a:r>
              <a:rPr lang="en-US" i="1"/>
              <a:t>2</a:t>
            </a:r>
            <a:r>
              <a:rPr lang="en-US" i="1" baseline="30000"/>
              <a:t>n</a:t>
            </a:r>
            <a:r>
              <a:rPr lang="en-US"/>
              <a:t> output lines</a:t>
            </a:r>
          </a:p>
          <a:p>
            <a:endParaRPr lang="en-US"/>
          </a:p>
          <a:p>
            <a:r>
              <a:rPr lang="en-US"/>
              <a:t>A 1-to-4 line demultiplexer: </a:t>
            </a:r>
            <a:endParaRPr lang="en-US" i="1" baseline="30000">
              <a:solidFill>
                <a:srgbClr val="FF0000"/>
              </a:solidFill>
            </a:endParaRPr>
          </a:p>
        </p:txBody>
      </p:sp>
      <p:pic>
        <p:nvPicPr>
          <p:cNvPr id="13414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0" y="3124200"/>
            <a:ext cx="5353050" cy="3457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57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286000"/>
            <a:ext cx="8229600" cy="4343400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endParaRPr lang="en-US" dirty="0"/>
          </a:p>
          <a:p>
            <a:pPr algn="ctr">
              <a:buFont typeface="Wingdings" pitchFamily="2" charset="2"/>
              <a:buNone/>
            </a:pPr>
            <a:r>
              <a:rPr lang="en-US" sz="3800" dirty="0">
                <a:latin typeface="Folio"/>
              </a:rPr>
              <a:t>Thanks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137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1769</TotalTime>
  <Words>711</Words>
  <Application>Microsoft Office PowerPoint</Application>
  <PresentationFormat>On-screen Show (4:3)</PresentationFormat>
  <Paragraphs>188</Paragraphs>
  <Slides>29</Slides>
  <Notes>2</Notes>
  <HiddenSlides>1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Folio</vt:lpstr>
      <vt:lpstr>Arial</vt:lpstr>
      <vt:lpstr>Calibri</vt:lpstr>
      <vt:lpstr>Times New Roman</vt:lpstr>
      <vt:lpstr>Wingdings</vt:lpstr>
      <vt:lpstr>Office Theme</vt:lpstr>
      <vt:lpstr>Visio</vt:lpstr>
      <vt:lpstr>PowerPoint Presentation</vt:lpstr>
      <vt:lpstr>Full-Adder</vt:lpstr>
      <vt:lpstr>Full-Adder based on  Two Half-Adders</vt:lpstr>
      <vt:lpstr>Parallel Binary Adder</vt:lpstr>
      <vt:lpstr>4-bit Parallel Adder</vt:lpstr>
      <vt:lpstr>Four-bit adder–subtractor</vt:lpstr>
      <vt:lpstr>Four-bit adder–subtractor</vt:lpstr>
      <vt:lpstr>Active low/high inputs/outputs</vt:lpstr>
      <vt:lpstr>Active low/high inputs/outputs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Function Implementation via Decoder</vt:lpstr>
      <vt:lpstr>Function Implementation via Decoder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RAUF BAIG</dc:creator>
  <cp:lastModifiedBy>Syed Zulqadar Hassan</cp:lastModifiedBy>
  <cp:revision>239</cp:revision>
  <cp:lastPrinted>2003-09-04T08:50:48Z</cp:lastPrinted>
  <dcterms:created xsi:type="dcterms:W3CDTF">2003-07-30T09:29:41Z</dcterms:created>
  <dcterms:modified xsi:type="dcterms:W3CDTF">2025-05-11T19:25:17Z</dcterms:modified>
</cp:coreProperties>
</file>
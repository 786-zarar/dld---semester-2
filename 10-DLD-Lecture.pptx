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30"/>
  </p:notesMasterIdLst>
  <p:handoutMasterIdLst>
    <p:handoutMasterId r:id="rId31"/>
  </p:handoutMasterIdLst>
  <p:sldIdLst>
    <p:sldId id="326" r:id="rId2"/>
    <p:sldId id="279" r:id="rId3"/>
    <p:sldId id="280" r:id="rId4"/>
    <p:sldId id="282" r:id="rId5"/>
    <p:sldId id="292" r:id="rId6"/>
    <p:sldId id="283" r:id="rId7"/>
    <p:sldId id="284" r:id="rId8"/>
    <p:sldId id="285" r:id="rId9"/>
    <p:sldId id="286" r:id="rId10"/>
    <p:sldId id="287" r:id="rId11"/>
    <p:sldId id="332" r:id="rId12"/>
    <p:sldId id="333" r:id="rId13"/>
    <p:sldId id="334" r:id="rId14"/>
    <p:sldId id="335" r:id="rId15"/>
    <p:sldId id="336" r:id="rId16"/>
    <p:sldId id="337" r:id="rId17"/>
    <p:sldId id="338" r:id="rId18"/>
    <p:sldId id="339" r:id="rId19"/>
    <p:sldId id="340" r:id="rId20"/>
    <p:sldId id="341" r:id="rId21"/>
    <p:sldId id="342" r:id="rId22"/>
    <p:sldId id="343" r:id="rId23"/>
    <p:sldId id="344" r:id="rId24"/>
    <p:sldId id="345" r:id="rId25"/>
    <p:sldId id="346" r:id="rId26"/>
    <p:sldId id="347" r:id="rId27"/>
    <p:sldId id="348" r:id="rId28"/>
    <p:sldId id="349" r:id="rId29"/>
  </p:sldIdLst>
  <p:sldSz cx="9144000" cy="6858000" type="screen4x3"/>
  <p:notesSz cx="6858000" cy="9144000"/>
  <p:defaultTextStyle>
    <a:defPPr>
      <a:defRPr lang="en-GB"/>
    </a:defPPr>
    <a:lvl1pPr algn="ctr" rtl="0" fontAlgn="base">
      <a:spcBef>
        <a:spcPct val="0"/>
      </a:spcBef>
      <a:spcAft>
        <a:spcPct val="0"/>
      </a:spcAft>
      <a:defRPr sz="3200" kern="1200">
        <a:solidFill>
          <a:schemeClr val="tx1"/>
        </a:solidFill>
        <a:latin typeface="Arial" pitchFamily="34" charset="0"/>
        <a:ea typeface="+mn-ea"/>
        <a:cs typeface="+mn-cs"/>
      </a:defRPr>
    </a:lvl1pPr>
    <a:lvl2pPr marL="457200" algn="ctr" rtl="0" fontAlgn="base">
      <a:spcBef>
        <a:spcPct val="0"/>
      </a:spcBef>
      <a:spcAft>
        <a:spcPct val="0"/>
      </a:spcAft>
      <a:defRPr sz="3200" kern="1200">
        <a:solidFill>
          <a:schemeClr val="tx1"/>
        </a:solidFill>
        <a:latin typeface="Arial" pitchFamily="34" charset="0"/>
        <a:ea typeface="+mn-ea"/>
        <a:cs typeface="+mn-cs"/>
      </a:defRPr>
    </a:lvl2pPr>
    <a:lvl3pPr marL="914400" algn="ctr" rtl="0" fontAlgn="base">
      <a:spcBef>
        <a:spcPct val="0"/>
      </a:spcBef>
      <a:spcAft>
        <a:spcPct val="0"/>
      </a:spcAft>
      <a:defRPr sz="3200" kern="1200">
        <a:solidFill>
          <a:schemeClr val="tx1"/>
        </a:solidFill>
        <a:latin typeface="Arial" pitchFamily="34" charset="0"/>
        <a:ea typeface="+mn-ea"/>
        <a:cs typeface="+mn-cs"/>
      </a:defRPr>
    </a:lvl3pPr>
    <a:lvl4pPr marL="1371600" algn="ctr" rtl="0" fontAlgn="base">
      <a:spcBef>
        <a:spcPct val="0"/>
      </a:spcBef>
      <a:spcAft>
        <a:spcPct val="0"/>
      </a:spcAft>
      <a:defRPr sz="3200" kern="1200">
        <a:solidFill>
          <a:schemeClr val="tx1"/>
        </a:solidFill>
        <a:latin typeface="Arial" pitchFamily="34" charset="0"/>
        <a:ea typeface="+mn-ea"/>
        <a:cs typeface="+mn-cs"/>
      </a:defRPr>
    </a:lvl4pPr>
    <a:lvl5pPr marL="1828800" algn="ctr" rtl="0" fontAlgn="base">
      <a:spcBef>
        <a:spcPct val="0"/>
      </a:spcBef>
      <a:spcAft>
        <a:spcPct val="0"/>
      </a:spcAft>
      <a:defRPr sz="3200" kern="1200">
        <a:solidFill>
          <a:schemeClr val="tx1"/>
        </a:solidFill>
        <a:latin typeface="Arial" pitchFamily="34" charset="0"/>
        <a:ea typeface="+mn-ea"/>
        <a:cs typeface="+mn-cs"/>
      </a:defRPr>
    </a:lvl5pPr>
    <a:lvl6pPr marL="2286000" algn="l" defTabSz="914400" rtl="0" eaLnBrk="1" latinLnBrk="0" hangingPunct="1">
      <a:defRPr sz="3200" kern="1200">
        <a:solidFill>
          <a:schemeClr val="tx1"/>
        </a:solidFill>
        <a:latin typeface="Arial" pitchFamily="34" charset="0"/>
        <a:ea typeface="+mn-ea"/>
        <a:cs typeface="+mn-cs"/>
      </a:defRPr>
    </a:lvl6pPr>
    <a:lvl7pPr marL="2743200" algn="l" defTabSz="914400" rtl="0" eaLnBrk="1" latinLnBrk="0" hangingPunct="1">
      <a:defRPr sz="3200" kern="1200">
        <a:solidFill>
          <a:schemeClr val="tx1"/>
        </a:solidFill>
        <a:latin typeface="Arial" pitchFamily="34" charset="0"/>
        <a:ea typeface="+mn-ea"/>
        <a:cs typeface="+mn-cs"/>
      </a:defRPr>
    </a:lvl7pPr>
    <a:lvl8pPr marL="3200400" algn="l" defTabSz="914400" rtl="0" eaLnBrk="1" latinLnBrk="0" hangingPunct="1">
      <a:defRPr sz="3200" kern="1200">
        <a:solidFill>
          <a:schemeClr val="tx1"/>
        </a:solidFill>
        <a:latin typeface="Arial" pitchFamily="34" charset="0"/>
        <a:ea typeface="+mn-ea"/>
        <a:cs typeface="+mn-cs"/>
      </a:defRPr>
    </a:lvl8pPr>
    <a:lvl9pPr marL="3657600" algn="l" defTabSz="914400" rtl="0" eaLnBrk="1" latinLnBrk="0" hangingPunct="1">
      <a:defRPr sz="32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9900"/>
    <a:srgbClr val="FFFFFF"/>
    <a:srgbClr val="00000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24" autoAdjust="0"/>
    <p:restoredTop sz="80000" autoAdjust="0"/>
  </p:normalViewPr>
  <p:slideViewPr>
    <p:cSldViewPr>
      <p:cViewPr varScale="1">
        <p:scale>
          <a:sx n="79" d="100"/>
          <a:sy n="79" d="100"/>
        </p:scale>
        <p:origin x="99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284"/>
    </p:cViewPr>
  </p:sorterViewPr>
  <p:notesViewPr>
    <p:cSldViewPr>
      <p:cViewPr varScale="1">
        <p:scale>
          <a:sx n="55" d="100"/>
          <a:sy n="55" d="100"/>
        </p:scale>
        <p:origin x="-185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Zulqadar Hassan" userId="bb151c9adcbd665f" providerId="LiveId" clId="{A6E702B8-CC58-472C-AA78-B81279C7D363}"/>
    <pc:docChg chg="delSld modSld">
      <pc:chgData name="Syed Zulqadar Hassan" userId="bb151c9adcbd665f" providerId="LiveId" clId="{A6E702B8-CC58-472C-AA78-B81279C7D363}" dt="2025-04-23T18:50:37.895" v="11" actId="47"/>
      <pc:docMkLst>
        <pc:docMk/>
      </pc:docMkLst>
      <pc:sldChg chg="modSp mod">
        <pc:chgData name="Syed Zulqadar Hassan" userId="bb151c9adcbd665f" providerId="LiveId" clId="{A6E702B8-CC58-472C-AA78-B81279C7D363}" dt="2025-04-23T18:43:13.098" v="2" actId="6549"/>
        <pc:sldMkLst>
          <pc:docMk/>
          <pc:sldMk cId="0" sldId="279"/>
        </pc:sldMkLst>
        <pc:spChg chg="mod">
          <ac:chgData name="Syed Zulqadar Hassan" userId="bb151c9adcbd665f" providerId="LiveId" clId="{A6E702B8-CC58-472C-AA78-B81279C7D363}" dt="2025-04-23T18:43:13.098" v="2" actId="6549"/>
          <ac:spMkLst>
            <pc:docMk/>
            <pc:sldMk cId="0" sldId="279"/>
            <ac:spMk id="691203" creationId="{00000000-0000-0000-0000-000000000000}"/>
          </ac:spMkLst>
        </pc:spChg>
      </pc:sldChg>
      <pc:sldChg chg="del">
        <pc:chgData name="Syed Zulqadar Hassan" userId="bb151c9adcbd665f" providerId="LiveId" clId="{A6E702B8-CC58-472C-AA78-B81279C7D363}" dt="2025-04-23T18:43:06.637" v="1" actId="47"/>
        <pc:sldMkLst>
          <pc:docMk/>
          <pc:sldMk cId="0" sldId="281"/>
        </pc:sldMkLst>
      </pc:sldChg>
      <pc:sldChg chg="del">
        <pc:chgData name="Syed Zulqadar Hassan" userId="bb151c9adcbd665f" providerId="LiveId" clId="{A6E702B8-CC58-472C-AA78-B81279C7D363}" dt="2025-04-23T18:43:40.183" v="3" actId="47"/>
        <pc:sldMkLst>
          <pc:docMk/>
          <pc:sldMk cId="0" sldId="288"/>
        </pc:sldMkLst>
      </pc:sldChg>
      <pc:sldChg chg="del">
        <pc:chgData name="Syed Zulqadar Hassan" userId="bb151c9adcbd665f" providerId="LiveId" clId="{A6E702B8-CC58-472C-AA78-B81279C7D363}" dt="2025-04-23T18:43:40.183" v="3" actId="47"/>
        <pc:sldMkLst>
          <pc:docMk/>
          <pc:sldMk cId="0" sldId="289"/>
        </pc:sldMkLst>
      </pc:sldChg>
      <pc:sldChg chg="del">
        <pc:chgData name="Syed Zulqadar Hassan" userId="bb151c9adcbd665f" providerId="LiveId" clId="{A6E702B8-CC58-472C-AA78-B81279C7D363}" dt="2025-04-23T18:43:40.183" v="3" actId="47"/>
        <pc:sldMkLst>
          <pc:docMk/>
          <pc:sldMk cId="0" sldId="290"/>
        </pc:sldMkLst>
      </pc:sldChg>
      <pc:sldChg chg="del">
        <pc:chgData name="Syed Zulqadar Hassan" userId="bb151c9adcbd665f" providerId="LiveId" clId="{A6E702B8-CC58-472C-AA78-B81279C7D363}" dt="2025-04-23T18:43:40.183" v="3" actId="47"/>
        <pc:sldMkLst>
          <pc:docMk/>
          <pc:sldMk cId="0" sldId="291"/>
        </pc:sldMkLst>
      </pc:sldChg>
      <pc:sldChg chg="del">
        <pc:chgData name="Syed Zulqadar Hassan" userId="bb151c9adcbd665f" providerId="LiveId" clId="{A6E702B8-CC58-472C-AA78-B81279C7D363}" dt="2025-04-23T18:44:50.354" v="7" actId="47"/>
        <pc:sldMkLst>
          <pc:docMk/>
          <pc:sldMk cId="0" sldId="293"/>
        </pc:sldMkLst>
      </pc:sldChg>
      <pc:sldChg chg="del">
        <pc:chgData name="Syed Zulqadar Hassan" userId="bb151c9adcbd665f" providerId="LiveId" clId="{A6E702B8-CC58-472C-AA78-B81279C7D363}" dt="2025-04-23T18:43:56.822" v="6" actId="47"/>
        <pc:sldMkLst>
          <pc:docMk/>
          <pc:sldMk cId="0" sldId="309"/>
        </pc:sldMkLst>
      </pc:sldChg>
      <pc:sldChg chg="del">
        <pc:chgData name="Syed Zulqadar Hassan" userId="bb151c9adcbd665f" providerId="LiveId" clId="{A6E702B8-CC58-472C-AA78-B81279C7D363}" dt="2025-04-23T18:50:37.895" v="11" actId="47"/>
        <pc:sldMkLst>
          <pc:docMk/>
          <pc:sldMk cId="0" sldId="310"/>
        </pc:sldMkLst>
      </pc:sldChg>
      <pc:sldChg chg="del">
        <pc:chgData name="Syed Zulqadar Hassan" userId="bb151c9adcbd665f" providerId="LiveId" clId="{A6E702B8-CC58-472C-AA78-B81279C7D363}" dt="2025-04-23T18:50:37.895" v="11" actId="47"/>
        <pc:sldMkLst>
          <pc:docMk/>
          <pc:sldMk cId="0" sldId="311"/>
        </pc:sldMkLst>
      </pc:sldChg>
      <pc:sldChg chg="del">
        <pc:chgData name="Syed Zulqadar Hassan" userId="bb151c9adcbd665f" providerId="LiveId" clId="{A6E702B8-CC58-472C-AA78-B81279C7D363}" dt="2025-04-23T18:50:37.895" v="11" actId="47"/>
        <pc:sldMkLst>
          <pc:docMk/>
          <pc:sldMk cId="0" sldId="312"/>
        </pc:sldMkLst>
      </pc:sldChg>
      <pc:sldChg chg="del">
        <pc:chgData name="Syed Zulqadar Hassan" userId="bb151c9adcbd665f" providerId="LiveId" clId="{A6E702B8-CC58-472C-AA78-B81279C7D363}" dt="2025-04-23T18:50:37.895" v="11" actId="47"/>
        <pc:sldMkLst>
          <pc:docMk/>
          <pc:sldMk cId="0" sldId="313"/>
        </pc:sldMkLst>
      </pc:sldChg>
      <pc:sldChg chg="del">
        <pc:chgData name="Syed Zulqadar Hassan" userId="bb151c9adcbd665f" providerId="LiveId" clId="{A6E702B8-CC58-472C-AA78-B81279C7D363}" dt="2025-04-23T18:50:37.895" v="11" actId="47"/>
        <pc:sldMkLst>
          <pc:docMk/>
          <pc:sldMk cId="0" sldId="314"/>
        </pc:sldMkLst>
      </pc:sldChg>
      <pc:sldChg chg="del">
        <pc:chgData name="Syed Zulqadar Hassan" userId="bb151c9adcbd665f" providerId="LiveId" clId="{A6E702B8-CC58-472C-AA78-B81279C7D363}" dt="2025-04-23T18:50:37.895" v="11" actId="47"/>
        <pc:sldMkLst>
          <pc:docMk/>
          <pc:sldMk cId="0" sldId="315"/>
        </pc:sldMkLst>
      </pc:sldChg>
      <pc:sldChg chg="del">
        <pc:chgData name="Syed Zulqadar Hassan" userId="bb151c9adcbd665f" providerId="LiveId" clId="{A6E702B8-CC58-472C-AA78-B81279C7D363}" dt="2025-04-23T18:43:48.905" v="5" actId="47"/>
        <pc:sldMkLst>
          <pc:docMk/>
          <pc:sldMk cId="0" sldId="316"/>
        </pc:sldMkLst>
      </pc:sldChg>
      <pc:sldChg chg="del">
        <pc:chgData name="Syed Zulqadar Hassan" userId="bb151c9adcbd665f" providerId="LiveId" clId="{A6E702B8-CC58-472C-AA78-B81279C7D363}" dt="2025-04-23T18:43:45.291" v="4" actId="47"/>
        <pc:sldMkLst>
          <pc:docMk/>
          <pc:sldMk cId="0" sldId="317"/>
        </pc:sldMkLst>
      </pc:sldChg>
      <pc:sldChg chg="modSp mod">
        <pc:chgData name="Syed Zulqadar Hassan" userId="bb151c9adcbd665f" providerId="LiveId" clId="{A6E702B8-CC58-472C-AA78-B81279C7D363}" dt="2025-04-23T18:30:21.694" v="0" actId="207"/>
        <pc:sldMkLst>
          <pc:docMk/>
          <pc:sldMk cId="0" sldId="326"/>
        </pc:sldMkLst>
        <pc:spChg chg="mod">
          <ac:chgData name="Syed Zulqadar Hassan" userId="bb151c9adcbd665f" providerId="LiveId" clId="{A6E702B8-CC58-472C-AA78-B81279C7D363}" dt="2025-04-23T18:30:21.694" v="0" actId="207"/>
          <ac:spMkLst>
            <pc:docMk/>
            <pc:sldMk cId="0" sldId="326"/>
            <ac:spMk id="792579" creationId="{00000000-0000-0000-0000-000000000000}"/>
          </ac:spMkLst>
        </pc:spChg>
      </pc:sldChg>
      <pc:sldChg chg="del">
        <pc:chgData name="Syed Zulqadar Hassan" userId="bb151c9adcbd665f" providerId="LiveId" clId="{A6E702B8-CC58-472C-AA78-B81279C7D363}" dt="2025-04-23T18:44:50.354" v="7" actId="47"/>
        <pc:sldMkLst>
          <pc:docMk/>
          <pc:sldMk cId="0" sldId="327"/>
        </pc:sldMkLst>
      </pc:sldChg>
      <pc:sldChg chg="del">
        <pc:chgData name="Syed Zulqadar Hassan" userId="bb151c9adcbd665f" providerId="LiveId" clId="{A6E702B8-CC58-472C-AA78-B81279C7D363}" dt="2025-04-23T18:44:50.354" v="7" actId="47"/>
        <pc:sldMkLst>
          <pc:docMk/>
          <pc:sldMk cId="0" sldId="328"/>
        </pc:sldMkLst>
      </pc:sldChg>
      <pc:sldChg chg="del">
        <pc:chgData name="Syed Zulqadar Hassan" userId="bb151c9adcbd665f" providerId="LiveId" clId="{A6E702B8-CC58-472C-AA78-B81279C7D363}" dt="2025-04-23T18:44:50.354" v="7" actId="47"/>
        <pc:sldMkLst>
          <pc:docMk/>
          <pc:sldMk cId="0" sldId="329"/>
        </pc:sldMkLst>
      </pc:sldChg>
      <pc:sldChg chg="del">
        <pc:chgData name="Syed Zulqadar Hassan" userId="bb151c9adcbd665f" providerId="LiveId" clId="{A6E702B8-CC58-472C-AA78-B81279C7D363}" dt="2025-04-23T18:44:50.354" v="7" actId="47"/>
        <pc:sldMkLst>
          <pc:docMk/>
          <pc:sldMk cId="0" sldId="330"/>
        </pc:sldMkLst>
      </pc:sldChg>
      <pc:sldChg chg="del">
        <pc:chgData name="Syed Zulqadar Hassan" userId="bb151c9adcbd665f" providerId="LiveId" clId="{A6E702B8-CC58-472C-AA78-B81279C7D363}" dt="2025-04-23T18:44:50.354" v="7" actId="47"/>
        <pc:sldMkLst>
          <pc:docMk/>
          <pc:sldMk cId="0" sldId="331"/>
        </pc:sldMkLst>
      </pc:sldChg>
      <pc:sldChg chg="del">
        <pc:chgData name="Syed Zulqadar Hassan" userId="bb151c9adcbd665f" providerId="LiveId" clId="{A6E702B8-CC58-472C-AA78-B81279C7D363}" dt="2025-04-23T18:45:48.711" v="10" actId="2696"/>
        <pc:sldMkLst>
          <pc:docMk/>
          <pc:sldMk cId="0" sldId="350"/>
        </pc:sldMkLst>
      </pc:sldChg>
      <pc:sldChg chg="del">
        <pc:chgData name="Syed Zulqadar Hassan" userId="bb151c9adcbd665f" providerId="LiveId" clId="{A6E702B8-CC58-472C-AA78-B81279C7D363}" dt="2025-04-23T18:45:29.107" v="8" actId="47"/>
        <pc:sldMkLst>
          <pc:docMk/>
          <pc:sldMk cId="0" sldId="351"/>
        </pc:sldMkLst>
      </pc:sldChg>
      <pc:sldChg chg="del">
        <pc:chgData name="Syed Zulqadar Hassan" userId="bb151c9adcbd665f" providerId="LiveId" clId="{A6E702B8-CC58-472C-AA78-B81279C7D363}" dt="2025-04-23T18:45:29.107" v="8" actId="47"/>
        <pc:sldMkLst>
          <pc:docMk/>
          <pc:sldMk cId="0" sldId="352"/>
        </pc:sldMkLst>
      </pc:sldChg>
      <pc:sldChg chg="del">
        <pc:chgData name="Syed Zulqadar Hassan" userId="bb151c9adcbd665f" providerId="LiveId" clId="{A6E702B8-CC58-472C-AA78-B81279C7D363}" dt="2025-04-23T18:45:29.107" v="8" actId="47"/>
        <pc:sldMkLst>
          <pc:docMk/>
          <pc:sldMk cId="0" sldId="353"/>
        </pc:sldMkLst>
      </pc:sldChg>
      <pc:sldChg chg="del">
        <pc:chgData name="Syed Zulqadar Hassan" userId="bb151c9adcbd665f" providerId="LiveId" clId="{A6E702B8-CC58-472C-AA78-B81279C7D363}" dt="2025-04-23T18:45:29.107" v="8" actId="47"/>
        <pc:sldMkLst>
          <pc:docMk/>
          <pc:sldMk cId="0" sldId="354"/>
        </pc:sldMkLst>
      </pc:sldChg>
      <pc:sldChg chg="del">
        <pc:chgData name="Syed Zulqadar Hassan" userId="bb151c9adcbd665f" providerId="LiveId" clId="{A6E702B8-CC58-472C-AA78-B81279C7D363}" dt="2025-04-23T18:45:38.247" v="9" actId="47"/>
        <pc:sldMkLst>
          <pc:docMk/>
          <pc:sldMk cId="0" sldId="355"/>
        </pc:sldMkLst>
      </pc:sldChg>
      <pc:sldChg chg="del">
        <pc:chgData name="Syed Zulqadar Hassan" userId="bb151c9adcbd665f" providerId="LiveId" clId="{A6E702B8-CC58-472C-AA78-B81279C7D363}" dt="2025-04-23T18:45:38.247" v="9" actId="47"/>
        <pc:sldMkLst>
          <pc:docMk/>
          <pc:sldMk cId="0" sldId="356"/>
        </pc:sldMkLst>
      </pc:sldChg>
      <pc:sldMasterChg chg="delSldLayout">
        <pc:chgData name="Syed Zulqadar Hassan" userId="bb151c9adcbd665f" providerId="LiveId" clId="{A6E702B8-CC58-472C-AA78-B81279C7D363}" dt="2025-04-23T18:50:37.895" v="11" actId="47"/>
        <pc:sldMasterMkLst>
          <pc:docMk/>
          <pc:sldMasterMk cId="0" sldId="2147483668"/>
        </pc:sldMasterMkLst>
        <pc:sldLayoutChg chg="del">
          <pc:chgData name="Syed Zulqadar Hassan" userId="bb151c9adcbd665f" providerId="LiveId" clId="{A6E702B8-CC58-472C-AA78-B81279C7D363}" dt="2025-04-23T18:50:37.895" v="11" actId="47"/>
          <pc:sldLayoutMkLst>
            <pc:docMk/>
            <pc:sldMasterMk cId="0" sldId="2147483668"/>
            <pc:sldLayoutMk cId="0" sldId="214748368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607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607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60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8E5A986-E9B5-4784-B47B-C46FFDC597DD}" type="slidenum">
              <a:rPr lang="en-GB"/>
              <a:pPr/>
              <a:t>‹#›</a:t>
            </a:fld>
            <a:endParaRPr lang="en-GB"/>
          </a:p>
        </p:txBody>
      </p:sp>
    </p:spTree>
    <p:extLst>
      <p:ext uri="{BB962C8B-B14F-4D97-AF65-F5344CB8AC3E}">
        <p14:creationId xmlns:p14="http://schemas.microsoft.com/office/powerpoint/2010/main" val="36100149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6700A1-D5DF-4414-9AEA-08781373257F}" type="slidenum">
              <a:rPr lang="en-GB"/>
              <a:pPr/>
              <a:t>‹#›</a:t>
            </a:fld>
            <a:endParaRPr lang="en-GB"/>
          </a:p>
        </p:txBody>
      </p:sp>
    </p:spTree>
    <p:extLst>
      <p:ext uri="{BB962C8B-B14F-4D97-AF65-F5344CB8AC3E}">
        <p14:creationId xmlns:p14="http://schemas.microsoft.com/office/powerpoint/2010/main" val="292010676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8FF475-875F-48C4-B89A-BFF993FDD242}" type="slidenum">
              <a:rPr lang="en-GB"/>
              <a:pPr/>
              <a:t>3</a:t>
            </a:fld>
            <a:endParaRPr lang="en-GB"/>
          </a:p>
        </p:txBody>
      </p:sp>
      <p:sp>
        <p:nvSpPr>
          <p:cNvPr id="726018" name="Rectangle 2"/>
          <p:cNvSpPr>
            <a:spLocks noGrp="1" noRot="1" noChangeAspect="1" noChangeArrowheads="1" noTextEdit="1"/>
          </p:cNvSpPr>
          <p:nvPr>
            <p:ph type="sldImg"/>
          </p:nvPr>
        </p:nvSpPr>
        <p:spPr>
          <a:ln/>
        </p:spPr>
      </p:sp>
      <p:sp>
        <p:nvSpPr>
          <p:cNvPr id="726019" name="Rectangle 3"/>
          <p:cNvSpPr>
            <a:spLocks noGrp="1" noChangeArrowheads="1"/>
          </p:cNvSpPr>
          <p:nvPr>
            <p:ph type="body" idx="1"/>
          </p:nvPr>
        </p:nvSpPr>
        <p:spPr/>
        <p:txBody>
          <a:bodyPr/>
          <a:lstStyle/>
          <a:p>
            <a:pPr>
              <a:buFontTx/>
              <a:buChar char="•"/>
            </a:pPr>
            <a:r>
              <a:rPr lang="en-GB"/>
              <a:t>The diagram shows the general architecture of the SOP Implementation.</a:t>
            </a:r>
          </a:p>
          <a:p>
            <a:pPr>
              <a:buFontTx/>
              <a:buChar char="•"/>
            </a:pPr>
            <a:r>
              <a:rPr lang="en-GB"/>
              <a:t>SOP expression is implemented by the AND-OR combination of gates.</a:t>
            </a:r>
          </a:p>
          <a:p>
            <a:pPr>
              <a:buFontTx/>
              <a:buChar char="•"/>
            </a:pPr>
            <a:r>
              <a:rPr lang="en-GB"/>
              <a:t>The AND gates produce the product terms.</a:t>
            </a:r>
          </a:p>
          <a:p>
            <a:pPr>
              <a:buFontTx/>
              <a:buChar char="•"/>
            </a:pPr>
            <a:r>
              <a:rPr lang="en-GB"/>
              <a:t>Outputs of all the AND gates are connected to a single multiple input OR gate for sum of products.</a:t>
            </a:r>
          </a:p>
          <a:p>
            <a:pPr>
              <a:buFontTx/>
              <a:buChar char="•"/>
            </a:pPr>
            <a:r>
              <a:rPr lang="en-GB"/>
              <a:t>The product terms comprise of literals in their complemented form and un-complemented form which are implemented by NOT gates connected to the inputs of the AND gates. </a:t>
            </a:r>
          </a:p>
        </p:txBody>
      </p:sp>
    </p:spTree>
    <p:extLst>
      <p:ext uri="{BB962C8B-B14F-4D97-AF65-F5344CB8AC3E}">
        <p14:creationId xmlns:p14="http://schemas.microsoft.com/office/powerpoint/2010/main" val="1898170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CF7AC0-5F62-488B-BFA9-43ED68177F9E}" type="slidenum">
              <a:rPr lang="en-GB"/>
              <a:pPr/>
              <a:t>6</a:t>
            </a:fld>
            <a:endParaRPr lang="en-GB"/>
          </a:p>
        </p:txBody>
      </p:sp>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pPr>
              <a:buFontTx/>
              <a:buChar char="•"/>
            </a:pPr>
            <a:r>
              <a:rPr lang="en-GB"/>
              <a:t>The Adjacent 1s detector circuit accepts a 4-bit binary input and generates a 1 output when it detects a combination of two adjacent 1s.</a:t>
            </a:r>
          </a:p>
          <a:p>
            <a:pPr>
              <a:buFontTx/>
              <a:buChar char="•"/>
            </a:pPr>
            <a:r>
              <a:rPr lang="en-GB"/>
              <a:t>The function diagram shows the 16 possible input combinations and the corresponding outputs.</a:t>
            </a:r>
          </a:p>
          <a:p>
            <a:pPr>
              <a:buFontTx/>
              <a:buChar char="•"/>
            </a:pPr>
            <a:r>
              <a:rPr lang="en-GB"/>
              <a:t>Thus for the input combinations 0011, 0110, 0111, 1011, 1100, 1101, 1110 and 1111 the output function is a 1.  </a:t>
            </a:r>
          </a:p>
          <a:p>
            <a:pPr>
              <a:buFontTx/>
              <a:buChar char="•"/>
            </a:pPr>
            <a:r>
              <a:rPr lang="en-GB"/>
              <a:t>The information provided by the function table can be directly implemented to form the Adjacent 1s Detector circuit</a:t>
            </a:r>
          </a:p>
          <a:p>
            <a:pPr>
              <a:buFontTx/>
              <a:buChar char="•"/>
            </a:pPr>
            <a:r>
              <a:rPr lang="en-GB"/>
              <a:t>How many AND gates are required?</a:t>
            </a:r>
          </a:p>
          <a:p>
            <a:pPr>
              <a:buFontTx/>
              <a:buChar char="•"/>
            </a:pPr>
            <a:r>
              <a:rPr lang="en-GB"/>
              <a:t>Eight gates to implement the 8 minterms.</a:t>
            </a:r>
          </a:p>
          <a:p>
            <a:pPr>
              <a:buFontTx/>
              <a:buChar char="•"/>
            </a:pPr>
            <a:r>
              <a:rPr lang="en-GB"/>
              <a:t>How many OR gates are required?</a:t>
            </a:r>
          </a:p>
          <a:p>
            <a:pPr>
              <a:buFontTx/>
              <a:buChar char="•"/>
            </a:pPr>
            <a:r>
              <a:rPr lang="en-GB"/>
              <a:t>A single eight input OR gate is required to sum all the eight product terms.</a:t>
            </a:r>
          </a:p>
          <a:p>
            <a:pPr>
              <a:buFontTx/>
              <a:buChar char="•"/>
            </a:pPr>
            <a:r>
              <a:rPr lang="en-GB"/>
              <a:t>Some NOT gates are also required to implement complemented literals in some of the product terms.</a:t>
            </a:r>
          </a:p>
          <a:p>
            <a:endParaRPr lang="en-GB"/>
          </a:p>
        </p:txBody>
      </p:sp>
    </p:spTree>
    <p:extLst>
      <p:ext uri="{BB962C8B-B14F-4D97-AF65-F5344CB8AC3E}">
        <p14:creationId xmlns:p14="http://schemas.microsoft.com/office/powerpoint/2010/main" val="2472655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C0225D-A730-4D62-A2D4-71244EF93060}" type="slidenum">
              <a:rPr lang="en-GB"/>
              <a:pPr/>
              <a:t>7</a:t>
            </a:fld>
            <a:endParaRPr lang="en-GB"/>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pPr>
              <a:buFontTx/>
              <a:buChar char="•"/>
            </a:pPr>
            <a:r>
              <a:rPr lang="en-GB"/>
              <a:t>The SOP based implementation of the Adjacent 1s detector circuit is shown implemented directly from the function table.</a:t>
            </a:r>
          </a:p>
          <a:p>
            <a:pPr>
              <a:buFontTx/>
              <a:buChar char="•"/>
            </a:pPr>
            <a:r>
              <a:rPr lang="en-GB"/>
              <a:t>This implementation uses maximum number of gates.</a:t>
            </a:r>
          </a:p>
          <a:p>
            <a:pPr>
              <a:buFontTx/>
              <a:buChar char="•"/>
            </a:pPr>
            <a:r>
              <a:rPr lang="en-GB"/>
              <a:t>The total gate count is </a:t>
            </a:r>
          </a:p>
          <a:p>
            <a:r>
              <a:rPr lang="en-GB"/>
              <a:t>	one 	8 input OR gate</a:t>
            </a:r>
          </a:p>
          <a:p>
            <a:r>
              <a:rPr lang="en-GB"/>
              <a:t>	eight 	4 input AND gates</a:t>
            </a:r>
          </a:p>
          <a:p>
            <a:r>
              <a:rPr lang="en-GB"/>
              <a:t>	ten	NOT gates</a:t>
            </a:r>
          </a:p>
          <a:p>
            <a:pPr>
              <a:buFontTx/>
              <a:buChar char="•"/>
            </a:pPr>
            <a:r>
              <a:rPr lang="en-GB"/>
              <a:t>All together 19 gates are required.</a:t>
            </a:r>
          </a:p>
          <a:p>
            <a:pPr>
              <a:buFontTx/>
              <a:buChar char="•"/>
            </a:pPr>
            <a:r>
              <a:rPr lang="en-GB"/>
              <a:t>The increased number of gates increases the cost, the size of the circuit, the power requirement and the propagation delay which is of the order of three gates. </a:t>
            </a:r>
          </a:p>
        </p:txBody>
      </p:sp>
    </p:spTree>
    <p:extLst>
      <p:ext uri="{BB962C8B-B14F-4D97-AF65-F5344CB8AC3E}">
        <p14:creationId xmlns:p14="http://schemas.microsoft.com/office/powerpoint/2010/main" val="3229254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4E4C46-D46B-48A9-99B4-21370A936F14}" type="slidenum">
              <a:rPr lang="en-GB"/>
              <a:pPr/>
              <a:t>8</a:t>
            </a:fld>
            <a:endParaRPr lang="en-GB"/>
          </a:p>
        </p:txBody>
      </p:sp>
      <p:sp>
        <p:nvSpPr>
          <p:cNvPr id="730114" name="Rectangle 2"/>
          <p:cNvSpPr>
            <a:spLocks noGrp="1" noRot="1" noChangeAspect="1" noChangeArrowheads="1" noTextEdit="1"/>
          </p:cNvSpPr>
          <p:nvPr>
            <p:ph type="sldImg"/>
          </p:nvPr>
        </p:nvSpPr>
        <p:spPr>
          <a:ln/>
        </p:spPr>
      </p:sp>
      <p:sp>
        <p:nvSpPr>
          <p:cNvPr id="730115" name="Rectangle 3"/>
          <p:cNvSpPr>
            <a:spLocks noGrp="1" noChangeArrowheads="1"/>
          </p:cNvSpPr>
          <p:nvPr>
            <p:ph type="body" idx="1"/>
          </p:nvPr>
        </p:nvSpPr>
        <p:spPr/>
        <p:txBody>
          <a:bodyPr/>
          <a:lstStyle/>
          <a:p>
            <a:pPr>
              <a:buFontTx/>
              <a:buChar char="•"/>
            </a:pPr>
            <a:r>
              <a:rPr lang="en-GB"/>
              <a:t>An appropriate way to implement the Adjacent 1s detector circuit is to simplify the SOP boolean expression represented by the function table and then implement the circuit based on the simplified expression.</a:t>
            </a:r>
          </a:p>
          <a:p>
            <a:pPr>
              <a:buFontTx/>
              <a:buChar char="•"/>
            </a:pPr>
            <a:r>
              <a:rPr lang="en-GB"/>
              <a:t>The function table information is directly mapped to a 4-variable K-map</a:t>
            </a:r>
          </a:p>
          <a:p>
            <a:pPr>
              <a:buFontTx/>
              <a:buChar char="•"/>
            </a:pPr>
            <a:r>
              <a:rPr lang="en-GB"/>
              <a:t>The 1s are grouped together forming three product terms</a:t>
            </a:r>
          </a:p>
          <a:p>
            <a:pPr>
              <a:buFontTx/>
              <a:buChar char="•"/>
            </a:pPr>
            <a:r>
              <a:rPr lang="en-GB"/>
              <a:t>AB, CD and BC</a:t>
            </a:r>
          </a:p>
        </p:txBody>
      </p:sp>
    </p:spTree>
    <p:extLst>
      <p:ext uri="{BB962C8B-B14F-4D97-AF65-F5344CB8AC3E}">
        <p14:creationId xmlns:p14="http://schemas.microsoft.com/office/powerpoint/2010/main" val="1268131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B30E12-0A37-4412-894D-1F41E3A1893C}" type="slidenum">
              <a:rPr lang="en-GB"/>
              <a:pPr/>
              <a:t>9</a:t>
            </a:fld>
            <a:endParaRPr lang="en-GB"/>
          </a:p>
        </p:txBody>
      </p:sp>
      <p:sp>
        <p:nvSpPr>
          <p:cNvPr id="731138" name="Rectangle 2"/>
          <p:cNvSpPr>
            <a:spLocks noGrp="1" noRot="1" noChangeAspect="1" noChangeArrowheads="1" noTextEdit="1"/>
          </p:cNvSpPr>
          <p:nvPr>
            <p:ph type="sldImg"/>
          </p:nvPr>
        </p:nvSpPr>
        <p:spPr>
          <a:ln/>
        </p:spPr>
      </p:sp>
      <p:sp>
        <p:nvSpPr>
          <p:cNvPr id="731139" name="Rectangle 3"/>
          <p:cNvSpPr>
            <a:spLocks noGrp="1" noChangeArrowheads="1"/>
          </p:cNvSpPr>
          <p:nvPr>
            <p:ph type="body" idx="1"/>
          </p:nvPr>
        </p:nvSpPr>
        <p:spPr/>
        <p:txBody>
          <a:bodyPr/>
          <a:lstStyle/>
          <a:p>
            <a:pPr>
              <a:buFontTx/>
              <a:buChar char="•"/>
            </a:pPr>
            <a:r>
              <a:rPr lang="en-GB"/>
              <a:t>The simplified circuit is implemented using </a:t>
            </a:r>
          </a:p>
          <a:p>
            <a:pPr>
              <a:buFontTx/>
              <a:buChar char="•"/>
            </a:pPr>
            <a:r>
              <a:rPr lang="en-GB"/>
              <a:t>three 2-input AND gates</a:t>
            </a:r>
          </a:p>
          <a:p>
            <a:pPr>
              <a:buFontTx/>
              <a:buChar char="•"/>
            </a:pPr>
            <a:r>
              <a:rPr lang="en-GB"/>
              <a:t>And a single 3-input OR gate.</a:t>
            </a:r>
          </a:p>
          <a:p>
            <a:pPr>
              <a:buFontTx/>
              <a:buChar char="•"/>
            </a:pPr>
            <a:r>
              <a:rPr lang="en-GB"/>
              <a:t>The total circuit count is 4 gates.</a:t>
            </a:r>
          </a:p>
          <a:p>
            <a:pPr>
              <a:buFontTx/>
              <a:buChar char="•"/>
            </a:pPr>
            <a:r>
              <a:rPr lang="en-GB"/>
              <a:t>The cost of the circuit reduces</a:t>
            </a:r>
          </a:p>
          <a:p>
            <a:pPr>
              <a:buFontTx/>
              <a:buChar char="•"/>
            </a:pPr>
            <a:r>
              <a:rPr lang="en-GB"/>
              <a:t>The size of the circuit reduces</a:t>
            </a:r>
          </a:p>
          <a:p>
            <a:pPr>
              <a:buFontTx/>
              <a:buChar char="•"/>
            </a:pPr>
            <a:r>
              <a:rPr lang="en-GB"/>
              <a:t>The power requirement of the circuit reduces</a:t>
            </a:r>
          </a:p>
          <a:p>
            <a:pPr>
              <a:buFontTx/>
              <a:buChar char="•"/>
            </a:pPr>
            <a:r>
              <a:rPr lang="en-GB"/>
              <a:t>And the propagation delay has reduced from three gate delay to two gate delay.</a:t>
            </a:r>
          </a:p>
        </p:txBody>
      </p:sp>
    </p:spTree>
    <p:extLst>
      <p:ext uri="{BB962C8B-B14F-4D97-AF65-F5344CB8AC3E}">
        <p14:creationId xmlns:p14="http://schemas.microsoft.com/office/powerpoint/2010/main" val="4245686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B24BE7-9777-43BB-A3C5-4900F95DBB51}" type="slidenum">
              <a:rPr lang="en-GB"/>
              <a:pPr/>
              <a:t>10</a:t>
            </a:fld>
            <a:endParaRPr lang="en-GB"/>
          </a:p>
        </p:txBody>
      </p:sp>
      <p:sp>
        <p:nvSpPr>
          <p:cNvPr id="732162" name="Rectangle 2"/>
          <p:cNvSpPr>
            <a:spLocks noGrp="1" noRot="1" noChangeAspect="1" noChangeArrowheads="1" noTextEdit="1"/>
          </p:cNvSpPr>
          <p:nvPr>
            <p:ph type="sldImg"/>
          </p:nvPr>
        </p:nvSpPr>
        <p:spPr>
          <a:ln/>
        </p:spPr>
      </p:sp>
      <p:sp>
        <p:nvSpPr>
          <p:cNvPr id="732163" name="Rectangle 3"/>
          <p:cNvSpPr>
            <a:spLocks noGrp="1" noChangeArrowheads="1"/>
          </p:cNvSpPr>
          <p:nvPr>
            <p:ph type="body" idx="1"/>
          </p:nvPr>
        </p:nvSpPr>
        <p:spPr/>
        <p:txBody>
          <a:bodyPr/>
          <a:lstStyle/>
          <a:p>
            <a:pPr>
              <a:buFontTx/>
              <a:buChar char="•"/>
            </a:pPr>
            <a:r>
              <a:rPr lang="en-GB"/>
              <a:t>The simplified 4 gate circuit can be implemented using only NAND gates without a change in the total number of gates.</a:t>
            </a:r>
          </a:p>
          <a:p>
            <a:pPr>
              <a:buFontTx/>
              <a:buChar char="•"/>
            </a:pPr>
            <a:r>
              <a:rPr lang="en-GB"/>
              <a:t>Bubbles representing NOT gates are placed at the output of the three AND gates. Converting the three AND gates to NAND gates. </a:t>
            </a:r>
          </a:p>
          <a:p>
            <a:pPr>
              <a:buFontTx/>
              <a:buChar char="•"/>
            </a:pPr>
            <a:r>
              <a:rPr lang="en-GB"/>
              <a:t>To balance out the three NOT gates added at the outputs of the three AND gates. Three bubbles representing three NOT gates are also placed at the three inputs of the OR gate.</a:t>
            </a:r>
          </a:p>
          <a:p>
            <a:pPr>
              <a:buFontTx/>
              <a:buChar char="•"/>
            </a:pPr>
            <a:r>
              <a:rPr lang="en-GB"/>
              <a:t>The Resulting OR gate symbol with three bubbles at the three inputs is an alternate symbol for a three input NAND gate.</a:t>
            </a:r>
          </a:p>
          <a:p>
            <a:pPr>
              <a:buFontTx/>
              <a:buChar char="•"/>
            </a:pPr>
            <a:r>
              <a:rPr lang="en-GB"/>
              <a:t>The NAND based circuit is shown. </a:t>
            </a:r>
          </a:p>
        </p:txBody>
      </p:sp>
    </p:spTree>
    <p:extLst>
      <p:ext uri="{BB962C8B-B14F-4D97-AF65-F5344CB8AC3E}">
        <p14:creationId xmlns:p14="http://schemas.microsoft.com/office/powerpoint/2010/main" val="392565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E3DF73-7A5D-40CC-A7C7-637BE94A6638}" type="slidenum">
              <a:rPr lang="en-GB"/>
              <a:pPr/>
              <a:t>12</a:t>
            </a:fld>
            <a:endParaRPr lang="en-GB"/>
          </a:p>
        </p:txBody>
      </p:sp>
      <p:sp>
        <p:nvSpPr>
          <p:cNvPr id="801794" name="Rectangle 2"/>
          <p:cNvSpPr>
            <a:spLocks noGrp="1" noRot="1" noChangeAspect="1" noChangeArrowheads="1" noTextEdit="1"/>
          </p:cNvSpPr>
          <p:nvPr>
            <p:ph type="sldImg"/>
          </p:nvPr>
        </p:nvSpPr>
        <p:spPr>
          <a:ln/>
        </p:spPr>
      </p:sp>
      <p:sp>
        <p:nvSpPr>
          <p:cNvPr id="801795" name="Rectangle 3"/>
          <p:cNvSpPr>
            <a:spLocks noGrp="1" noChangeArrowheads="1"/>
          </p:cNvSpPr>
          <p:nvPr>
            <p:ph type="body" idx="1"/>
          </p:nvPr>
        </p:nvSpPr>
        <p:spPr/>
        <p:txBody>
          <a:bodyPr/>
          <a:lstStyle/>
          <a:p>
            <a:pPr>
              <a:buFontTx/>
              <a:buChar char="•"/>
            </a:pPr>
            <a:r>
              <a:rPr lang="en-GB"/>
              <a:t>The XOR operation performs a comparison function. </a:t>
            </a:r>
          </a:p>
          <a:p>
            <a:pPr>
              <a:buFontTx/>
              <a:buChar char="•"/>
            </a:pPr>
            <a:r>
              <a:rPr lang="en-GB"/>
              <a:t>An XOR operation detects dissimilar inputs.</a:t>
            </a:r>
          </a:p>
          <a:p>
            <a:pPr>
              <a:buFontTx/>
              <a:buChar char="•"/>
            </a:pPr>
            <a:r>
              <a:rPr lang="en-GB"/>
              <a:t>The XOR gate can be implemented using a combination of NOT-AND-OR gates.</a:t>
            </a:r>
          </a:p>
          <a:p>
            <a:pPr>
              <a:buFontTx/>
              <a:buChar char="•"/>
            </a:pPr>
            <a:r>
              <a:rPr lang="en-GB"/>
              <a:t>Since the function performed by the XOR gate is commonly used in digital circuits therefore XOR gates are available in Integrated circuit form which can be readily used instead of implementing a XOR circuit based on NOT-AND-OR combination of gates.</a:t>
            </a:r>
          </a:p>
        </p:txBody>
      </p:sp>
    </p:spTree>
    <p:extLst>
      <p:ext uri="{BB962C8B-B14F-4D97-AF65-F5344CB8AC3E}">
        <p14:creationId xmlns:p14="http://schemas.microsoft.com/office/powerpoint/2010/main" val="1969079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5CA951-E119-4D3B-A010-B0E2D78919ED}" type="slidenum">
              <a:rPr lang="en-GB"/>
              <a:pPr/>
              <a:t>13</a:t>
            </a:fld>
            <a:endParaRPr lang="en-GB"/>
          </a:p>
        </p:txBody>
      </p:sp>
      <p:sp>
        <p:nvSpPr>
          <p:cNvPr id="805890" name="Rectangle 2"/>
          <p:cNvSpPr>
            <a:spLocks noGrp="1" noRot="1" noChangeAspect="1" noChangeArrowheads="1" noTextEdit="1"/>
          </p:cNvSpPr>
          <p:nvPr>
            <p:ph type="sldImg"/>
          </p:nvPr>
        </p:nvSpPr>
        <p:spPr>
          <a:ln/>
        </p:spPr>
      </p:sp>
      <p:sp>
        <p:nvSpPr>
          <p:cNvPr id="805891" name="Rectangle 3"/>
          <p:cNvSpPr>
            <a:spLocks noGrp="1" noChangeArrowheads="1"/>
          </p:cNvSpPr>
          <p:nvPr>
            <p:ph type="body" idx="1"/>
          </p:nvPr>
        </p:nvSpPr>
        <p:spPr/>
        <p:txBody>
          <a:bodyPr/>
          <a:lstStyle/>
          <a:p>
            <a:pPr>
              <a:buFontTx/>
              <a:buChar char="•"/>
            </a:pPr>
            <a:r>
              <a:rPr lang="en-GB"/>
              <a:t>The XNOR operation performs a comparison function. </a:t>
            </a:r>
          </a:p>
          <a:p>
            <a:pPr>
              <a:buFontTx/>
              <a:buChar char="•"/>
            </a:pPr>
            <a:r>
              <a:rPr lang="en-GB"/>
              <a:t>An XNOR operation detects similar inputs.</a:t>
            </a:r>
          </a:p>
          <a:p>
            <a:pPr>
              <a:buFontTx/>
              <a:buChar char="•"/>
            </a:pPr>
            <a:r>
              <a:rPr lang="en-GB"/>
              <a:t>The XNOR gate can also be implemented using a combination of NOT-AND-OR gates.</a:t>
            </a:r>
          </a:p>
          <a:p>
            <a:pPr>
              <a:buFontTx/>
              <a:buChar char="•"/>
            </a:pPr>
            <a:r>
              <a:rPr lang="en-GB"/>
              <a:t>Since the function performed by the XNOR gate is commonly used in digital circuits therefore XNOR gates are available in Integrated circuit form which can be readily used instead of implementing a XNOR circuit based on NOT-AND-OR combination of gates.</a:t>
            </a:r>
          </a:p>
          <a:p>
            <a:endParaRPr lang="en-GB"/>
          </a:p>
        </p:txBody>
      </p:sp>
    </p:spTree>
    <p:extLst>
      <p:ext uri="{BB962C8B-B14F-4D97-AF65-F5344CB8AC3E}">
        <p14:creationId xmlns:p14="http://schemas.microsoft.com/office/powerpoint/2010/main" val="216242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5A5471-54C2-4395-8E0D-FF9522137D6A}" type="slidenum">
              <a:rPr lang="en-GB"/>
              <a:pPr/>
              <a:t>16</a:t>
            </a:fld>
            <a:endParaRPr lang="en-GB"/>
          </a:p>
        </p:txBody>
      </p:sp>
      <p:sp>
        <p:nvSpPr>
          <p:cNvPr id="745474" name="Rectangle 2"/>
          <p:cNvSpPr>
            <a:spLocks noGrp="1" noRot="1" noChangeAspect="1" noChangeArrowheads="1" noTextEdit="1"/>
          </p:cNvSpPr>
          <p:nvPr>
            <p:ph type="sldImg"/>
          </p:nvPr>
        </p:nvSpPr>
        <p:spPr>
          <a:ln/>
        </p:spPr>
      </p:sp>
      <p:sp>
        <p:nvSpPr>
          <p:cNvPr id="745475" name="Rectangle 3"/>
          <p:cNvSpPr>
            <a:spLocks noGrp="1" noChangeArrowheads="1"/>
          </p:cNvSpPr>
          <p:nvPr>
            <p:ph type="body" idx="1"/>
          </p:nvPr>
        </p:nvSpPr>
        <p:spPr/>
        <p:txBody>
          <a:bodyPr/>
          <a:lstStyle/>
          <a:p>
            <a:pPr>
              <a:buFontTx/>
              <a:buChar char="•"/>
            </a:pPr>
            <a:r>
              <a:rPr lang="en-GB"/>
              <a:t>The block diagrams represent a Full-Adder and a Half-Adder.</a:t>
            </a:r>
          </a:p>
          <a:p>
            <a:pPr>
              <a:buFontTx/>
              <a:buChar char="•"/>
            </a:pPr>
            <a:r>
              <a:rPr lang="en-GB"/>
              <a:t>A single bit binary adder circuit basically adds two bits and a carry bit, generated by the addition of the least significant bits. The output of the single bit adder circuit generates a sum bit and a carry bit.</a:t>
            </a:r>
          </a:p>
          <a:p>
            <a:pPr>
              <a:buFontTx/>
              <a:buChar char="•"/>
            </a:pPr>
            <a:r>
              <a:rPr lang="en-GB"/>
              <a:t>An adder circuit that only has two bit input representing the two single bit numbers A and B and does not have the carry bit input from the least significant digit is regarded as a half-adder. </a:t>
            </a:r>
          </a:p>
          <a:p>
            <a:pPr>
              <a:buFontTx/>
              <a:buChar char="•"/>
            </a:pPr>
            <a:endParaRPr lang="en-GB"/>
          </a:p>
          <a:p>
            <a:pPr>
              <a:buFontTx/>
              <a:buChar char="•"/>
            </a:pPr>
            <a:r>
              <a:rPr lang="en-GB"/>
              <a:t>An adder circuit that has three inputs, two bits representing the two single bit numbers A and B, and the third bit represents the Carry in bit is regarded as a full-adder</a:t>
            </a:r>
          </a:p>
        </p:txBody>
      </p:sp>
    </p:spTree>
    <p:extLst>
      <p:ext uri="{BB962C8B-B14F-4D97-AF65-F5344CB8AC3E}">
        <p14:creationId xmlns:p14="http://schemas.microsoft.com/office/powerpoint/2010/main" val="3222822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843111-5B32-42C7-A342-0533365FB928}"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endParaRPr lang="en-US"/>
          </a:p>
        </p:txBody>
      </p:sp>
      <p:sp>
        <p:nvSpPr>
          <p:cNvPr id="4" name="Date Placeholder 3"/>
          <p:cNvSpPr>
            <a:spLocks noGrp="1"/>
          </p:cNvSpPr>
          <p:nvPr>
            <p:ph type="dt" sz="half" idx="10"/>
          </p:nvPr>
        </p:nvSpPr>
        <p:spPr>
          <a:xfrm>
            <a:off x="457200" y="6248400"/>
            <a:ext cx="2133600" cy="457200"/>
          </a:xfrm>
        </p:spPr>
        <p:txBody>
          <a:bodyPr/>
          <a:lstStyle>
            <a:lvl1pPr>
              <a:defRPr/>
            </a:lvl1pPr>
          </a:lstStyle>
          <a:p>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GB"/>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8400"/>
            <a:ext cx="2133600" cy="457200"/>
          </a:xfrm>
        </p:spPr>
        <p:txBody>
          <a:bodyPr/>
          <a:lstStyle>
            <a:lvl1pPr>
              <a:defRPr/>
            </a:lvl1pPr>
          </a:lstStyle>
          <a:p>
            <a:endParaRPr lang="en-GB"/>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endParaRPr lang="en-GB"/>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oleObject" Target="../embeddings/oleObject5.bin"/><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oleObject" Target="../embeddings/oleObject11.bin"/><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7" Type="http://schemas.openxmlformats.org/officeDocument/2006/relationships/image" Target="../media/image14.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13.wmf"/><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image" Target="../media/image15.wmf"/><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16.bin"/><Relationship Id="rId4" Type="http://schemas.openxmlformats.org/officeDocument/2006/relationships/image" Target="../media/image16.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9.wmf"/><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19.bin"/><Relationship Id="rId4" Type="http://schemas.openxmlformats.org/officeDocument/2006/relationships/image" Target="../media/image20.wmf"/></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22.emf"/><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2578" name="Rectangle 2"/>
          <p:cNvSpPr>
            <a:spLocks noGrp="1" noChangeArrowheads="1"/>
          </p:cNvSpPr>
          <p:nvPr>
            <p:ph type="title"/>
          </p:nvPr>
        </p:nvSpPr>
        <p:spPr/>
        <p:txBody>
          <a:bodyPr/>
          <a:lstStyle/>
          <a:p>
            <a:r>
              <a:rPr lang="en-US"/>
              <a:t> </a:t>
            </a:r>
          </a:p>
        </p:txBody>
      </p:sp>
      <p:sp>
        <p:nvSpPr>
          <p:cNvPr id="792579" name="Rectangle 3"/>
          <p:cNvSpPr>
            <a:spLocks noGrp="1" noChangeArrowheads="1"/>
          </p:cNvSpPr>
          <p:nvPr>
            <p:ph idx="1"/>
          </p:nvPr>
        </p:nvSpPr>
        <p:spPr>
          <a:xfrm>
            <a:off x="457200" y="1336675"/>
            <a:ext cx="8229600" cy="5292725"/>
          </a:xfrm>
        </p:spPr>
        <p:txBody>
          <a:bodyPr/>
          <a:lstStyle/>
          <a:p>
            <a:pPr algn="ctr">
              <a:buFont typeface="Wingdings" pitchFamily="2" charset="2"/>
              <a:buNone/>
            </a:pPr>
            <a:endParaRPr lang="en-US" dirty="0"/>
          </a:p>
          <a:p>
            <a:pPr algn="ctr">
              <a:buFont typeface="Wingdings" pitchFamily="2" charset="2"/>
              <a:buNone/>
            </a:pPr>
            <a:r>
              <a:rPr lang="en-US" sz="3800" dirty="0">
                <a:latin typeface="Folio"/>
              </a:rPr>
              <a:t>Digital Logic &amp; Design</a:t>
            </a:r>
            <a:br>
              <a:rPr lang="en-US" dirty="0"/>
            </a:br>
            <a:endParaRPr lang="en-US" dirty="0"/>
          </a:p>
          <a:p>
            <a:pPr algn="ctr">
              <a:buFont typeface="Wingdings" pitchFamily="2" charset="2"/>
              <a:buNone/>
            </a:pPr>
            <a:endParaRPr lang="en-US" dirty="0"/>
          </a:p>
          <a:p>
            <a:pPr algn="ctr">
              <a:buFont typeface="Wingdings" pitchFamily="2" charset="2"/>
              <a:buNone/>
            </a:pPr>
            <a:endParaRPr lang="en-US" b="1" dirty="0"/>
          </a:p>
          <a:p>
            <a:pPr algn="ctr">
              <a:buFont typeface="Wingdings" pitchFamily="2" charset="2"/>
              <a:buNone/>
            </a:pPr>
            <a:r>
              <a:rPr lang="en-US" dirty="0"/>
              <a:t>Lecture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en-GB" sz="3800" b="0"/>
              <a:t>Combinational Logic</a:t>
            </a:r>
          </a:p>
        </p:txBody>
      </p:sp>
      <p:sp>
        <p:nvSpPr>
          <p:cNvPr id="691203" name="Rectangle 3"/>
          <p:cNvSpPr>
            <a:spLocks noGrp="1" noChangeArrowheads="1"/>
          </p:cNvSpPr>
          <p:nvPr>
            <p:ph idx="1"/>
          </p:nvPr>
        </p:nvSpPr>
        <p:spPr>
          <a:xfrm>
            <a:off x="457200" y="2098675"/>
            <a:ext cx="8229600" cy="4530725"/>
          </a:xfrm>
        </p:spPr>
        <p:txBody>
          <a:bodyPr/>
          <a:lstStyle/>
          <a:p>
            <a:r>
              <a:rPr lang="en-GB" dirty="0"/>
              <a:t>Implementation of SOP using AND-OR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a:lstStyle/>
          <a:p>
            <a:r>
              <a:rPr lang="en-GB" sz="3800" b="0"/>
              <a:t>SOP Implementation</a:t>
            </a:r>
          </a:p>
        </p:txBody>
      </p:sp>
      <p:sp>
        <p:nvSpPr>
          <p:cNvPr id="692229" name="Rectangle 5"/>
          <p:cNvSpPr>
            <a:spLocks noChangeArrowheads="1"/>
          </p:cNvSpPr>
          <p:nvPr/>
        </p:nvSpPr>
        <p:spPr bwMode="auto">
          <a:xfrm>
            <a:off x="0" y="19478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692228" name="Object 4"/>
          <p:cNvGraphicFramePr>
            <a:graphicFrameLocks noChangeAspect="1"/>
          </p:cNvGraphicFramePr>
          <p:nvPr/>
        </p:nvGraphicFramePr>
        <p:xfrm>
          <a:off x="2667000" y="1524000"/>
          <a:ext cx="3500438" cy="4733925"/>
        </p:xfrm>
        <a:graphic>
          <a:graphicData uri="http://schemas.openxmlformats.org/presentationml/2006/ole">
            <mc:AlternateContent xmlns:mc="http://schemas.openxmlformats.org/markup-compatibility/2006">
              <mc:Choice xmlns:v="urn:schemas-microsoft-com:vml" Requires="v">
                <p:oleObj name="Visio" r:id="rId3" imgW="4364736" imgH="5909462" progId="Visio.Drawing.6">
                  <p:embed/>
                </p:oleObj>
              </mc:Choice>
              <mc:Fallback>
                <p:oleObj name="Visio" r:id="rId3" imgW="4364736" imgH="5909462" progId="Visio.Drawing.6">
                  <p:embed/>
                  <p:pic>
                    <p:nvPicPr>
                      <p:cNvPr id="6922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524000"/>
                        <a:ext cx="3500438" cy="473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p:txBody>
          <a:bodyPr>
            <a:normAutofit fontScale="90000"/>
          </a:bodyPr>
          <a:lstStyle/>
          <a:p>
            <a:r>
              <a:rPr lang="en-GB" sz="3800" b="0"/>
              <a:t>Design and Implementation of Digital Circuits</a:t>
            </a:r>
          </a:p>
        </p:txBody>
      </p:sp>
      <p:sp>
        <p:nvSpPr>
          <p:cNvPr id="694275" name="Rectangle 3"/>
          <p:cNvSpPr>
            <a:spLocks noGrp="1" noChangeArrowheads="1"/>
          </p:cNvSpPr>
          <p:nvPr>
            <p:ph idx="1"/>
          </p:nvPr>
        </p:nvSpPr>
        <p:spPr>
          <a:xfrm>
            <a:off x="457200" y="1946275"/>
            <a:ext cx="8229600" cy="4530725"/>
          </a:xfrm>
        </p:spPr>
        <p:txBody>
          <a:bodyPr/>
          <a:lstStyle/>
          <a:p>
            <a:r>
              <a:rPr lang="en-GB"/>
              <a:t>Function Table</a:t>
            </a:r>
          </a:p>
          <a:p>
            <a:r>
              <a:rPr lang="en-GB"/>
              <a:t>Simplification of Expression</a:t>
            </a:r>
          </a:p>
          <a:p>
            <a:r>
              <a:rPr lang="en-GB"/>
              <a:t>Implementation</a:t>
            </a:r>
          </a:p>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p:txBody>
          <a:bodyPr/>
          <a:lstStyle/>
          <a:p>
            <a:r>
              <a:rPr lang="en-GB" sz="3800" b="0"/>
              <a:t>Adjacent 1s Detector Circuit</a:t>
            </a:r>
          </a:p>
        </p:txBody>
      </p:sp>
      <p:sp>
        <p:nvSpPr>
          <p:cNvPr id="705539" name="Rectangle 3"/>
          <p:cNvSpPr>
            <a:spLocks noGrp="1" noChangeArrowheads="1"/>
          </p:cNvSpPr>
          <p:nvPr>
            <p:ph idx="1"/>
          </p:nvPr>
        </p:nvSpPr>
        <p:spPr>
          <a:xfrm>
            <a:off x="457200" y="1793875"/>
            <a:ext cx="8229600" cy="4530725"/>
          </a:xfrm>
        </p:spPr>
        <p:txBody>
          <a:bodyPr/>
          <a:lstStyle/>
          <a:p>
            <a:r>
              <a:rPr lang="en-GB"/>
              <a:t>SOP Implementation</a:t>
            </a:r>
          </a:p>
          <a:p>
            <a:pPr lvl="1">
              <a:buClr>
                <a:schemeClr val="tx1"/>
              </a:buClr>
            </a:pPr>
            <a:r>
              <a:rPr lang="en-GB">
                <a:effectLst/>
                <a:latin typeface="Arial" pitchFamily="34" charset="0"/>
              </a:rPr>
              <a:t>Directly from function table</a:t>
            </a:r>
          </a:p>
          <a:p>
            <a:r>
              <a:rPr lang="en-GB"/>
              <a:t>Simplified implementation</a:t>
            </a:r>
          </a:p>
          <a:p>
            <a:r>
              <a:rPr lang="en-GB"/>
              <a:t>Implementation using NAND gates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5298" name="Rectangle 2"/>
          <p:cNvSpPr>
            <a:spLocks noGrp="1" noChangeArrowheads="1"/>
          </p:cNvSpPr>
          <p:nvPr>
            <p:ph type="title"/>
          </p:nvPr>
        </p:nvSpPr>
        <p:spPr/>
        <p:txBody>
          <a:bodyPr/>
          <a:lstStyle/>
          <a:p>
            <a:r>
              <a:rPr lang="en-GB" sz="3800" b="0"/>
              <a:t>Adjacent 1s Detector Function</a:t>
            </a:r>
          </a:p>
        </p:txBody>
      </p:sp>
      <p:graphicFrame>
        <p:nvGraphicFramePr>
          <p:cNvPr id="695958" name="Group 662"/>
          <p:cNvGraphicFramePr>
            <a:graphicFrameLocks noGrp="1"/>
          </p:cNvGraphicFramePr>
          <p:nvPr>
            <p:ph type="tbl" idx="1"/>
          </p:nvPr>
        </p:nvGraphicFramePr>
        <p:xfrm>
          <a:off x="457200" y="1600200"/>
          <a:ext cx="8229600" cy="4545330"/>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822325">
                  <a:extLst>
                    <a:ext uri="{9D8B030D-6E8A-4147-A177-3AD203B41FA5}">
                      <a16:colId xmlns:a16="http://schemas.microsoft.com/office/drawing/2014/main" val="20005"/>
                    </a:ext>
                  </a:extLst>
                </a:gridCol>
                <a:gridCol w="823913">
                  <a:extLst>
                    <a:ext uri="{9D8B030D-6E8A-4147-A177-3AD203B41FA5}">
                      <a16:colId xmlns:a16="http://schemas.microsoft.com/office/drawing/2014/main" val="20006"/>
                    </a:ext>
                  </a:extLst>
                </a:gridCol>
                <a:gridCol w="715962">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990600">
                  <a:extLst>
                    <a:ext uri="{9D8B030D-6E8A-4147-A177-3AD203B41FA5}">
                      <a16:colId xmlns:a16="http://schemas.microsoft.com/office/drawing/2014/main" val="20009"/>
                    </a:ext>
                  </a:extLst>
                </a:gridCol>
              </a:tblGrid>
              <a:tr h="704850">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Input</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Input</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A</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B</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C</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D</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F</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A</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B</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C</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D</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F</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38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38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p:txBody>
          <a:bodyPr/>
          <a:lstStyle/>
          <a:p>
            <a:r>
              <a:rPr lang="en-GB" sz="3800" b="0"/>
              <a:t>SOP Implementation</a:t>
            </a:r>
          </a:p>
        </p:txBody>
      </p:sp>
      <p:sp>
        <p:nvSpPr>
          <p:cNvPr id="697349" name="Rectangle 5"/>
          <p:cNvSpPr>
            <a:spLocks noChangeArrowheads="1"/>
          </p:cNvSpPr>
          <p:nvPr/>
        </p:nvSpPr>
        <p:spPr bwMode="auto">
          <a:xfrm>
            <a:off x="0" y="181927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697348" name="Object 4"/>
          <p:cNvGraphicFramePr>
            <a:graphicFrameLocks noChangeAspect="1"/>
          </p:cNvGraphicFramePr>
          <p:nvPr/>
        </p:nvGraphicFramePr>
        <p:xfrm>
          <a:off x="2743200" y="1371600"/>
          <a:ext cx="4214813" cy="5126038"/>
        </p:xfrm>
        <a:graphic>
          <a:graphicData uri="http://schemas.openxmlformats.org/presentationml/2006/ole">
            <mc:AlternateContent xmlns:mc="http://schemas.openxmlformats.org/markup-compatibility/2006">
              <mc:Choice xmlns:v="urn:schemas-microsoft-com:vml" Requires="v">
                <p:oleObj name="Visio" r:id="rId3" imgW="3376270" imgH="4284574" progId="Visio.Drawing.6">
                  <p:embed/>
                </p:oleObj>
              </mc:Choice>
              <mc:Fallback>
                <p:oleObj name="Visio" r:id="rId3" imgW="3376270" imgH="4284574" progId="Visio.Drawing.6">
                  <p:embed/>
                  <p:pic>
                    <p:nvPicPr>
                      <p:cNvPr id="6973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371600"/>
                        <a:ext cx="4214813" cy="512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p:txBody>
          <a:bodyPr/>
          <a:lstStyle/>
          <a:p>
            <a:r>
              <a:rPr lang="en-GB" sz="3800" b="0"/>
              <a:t>SOP Expression Simplification</a:t>
            </a:r>
          </a:p>
        </p:txBody>
      </p:sp>
      <p:sp>
        <p:nvSpPr>
          <p:cNvPr id="698373" name="Oval 5"/>
          <p:cNvSpPr>
            <a:spLocks noChangeArrowheads="1"/>
          </p:cNvSpPr>
          <p:nvPr/>
        </p:nvSpPr>
        <p:spPr bwMode="auto">
          <a:xfrm>
            <a:off x="5105400" y="3733800"/>
            <a:ext cx="1600200" cy="1143000"/>
          </a:xfrm>
          <a:prstGeom prst="ellipse">
            <a:avLst/>
          </a:prstGeom>
          <a:solidFill>
            <a:srgbClr val="FFFFFF">
              <a:alpha val="0"/>
            </a:srgbClr>
          </a:solidFill>
          <a:ln w="9525">
            <a:solidFill>
              <a:srgbClr val="000000"/>
            </a:solidFill>
            <a:round/>
            <a:headEnd/>
            <a:tailEnd/>
          </a:ln>
        </p:spPr>
        <p:txBody>
          <a:bodyPr/>
          <a:lstStyle/>
          <a:p>
            <a:endParaRPr lang="en-US"/>
          </a:p>
        </p:txBody>
      </p:sp>
      <p:sp>
        <p:nvSpPr>
          <p:cNvPr id="698372" name="Oval 4"/>
          <p:cNvSpPr>
            <a:spLocks noChangeArrowheads="1"/>
          </p:cNvSpPr>
          <p:nvPr/>
        </p:nvSpPr>
        <p:spPr bwMode="auto">
          <a:xfrm>
            <a:off x="3505200" y="4343400"/>
            <a:ext cx="3124200" cy="609600"/>
          </a:xfrm>
          <a:prstGeom prst="ellipse">
            <a:avLst/>
          </a:prstGeom>
          <a:solidFill>
            <a:srgbClr val="FFFFFF">
              <a:alpha val="0"/>
            </a:srgbClr>
          </a:solidFill>
          <a:ln w="9525">
            <a:solidFill>
              <a:srgbClr val="000000"/>
            </a:solidFill>
            <a:round/>
            <a:headEnd/>
            <a:tailEnd/>
          </a:ln>
        </p:spPr>
        <p:txBody>
          <a:bodyPr/>
          <a:lstStyle/>
          <a:p>
            <a:endParaRPr lang="en-US"/>
          </a:p>
        </p:txBody>
      </p:sp>
      <p:sp>
        <p:nvSpPr>
          <p:cNvPr id="698374" name="Oval 6"/>
          <p:cNvSpPr>
            <a:spLocks noChangeArrowheads="1"/>
          </p:cNvSpPr>
          <p:nvPr/>
        </p:nvSpPr>
        <p:spPr bwMode="auto">
          <a:xfrm>
            <a:off x="5105400" y="2819400"/>
            <a:ext cx="685800" cy="2895600"/>
          </a:xfrm>
          <a:prstGeom prst="ellipse">
            <a:avLst/>
          </a:prstGeom>
          <a:solidFill>
            <a:srgbClr val="FFFFFF">
              <a:alpha val="0"/>
            </a:srgbClr>
          </a:solidFill>
          <a:ln w="9525">
            <a:solidFill>
              <a:srgbClr val="000000"/>
            </a:solidFill>
            <a:round/>
            <a:headEnd/>
            <a:tailEnd/>
          </a:ln>
        </p:spPr>
        <p:txBody>
          <a:bodyPr/>
          <a:lstStyle/>
          <a:p>
            <a:endParaRPr lang="en-US"/>
          </a:p>
        </p:txBody>
      </p:sp>
      <p:sp>
        <p:nvSpPr>
          <p:cNvPr id="698383" name="Rectangle 15"/>
          <p:cNvSpPr>
            <a:spLocks noChangeArrowheads="1"/>
          </p:cNvSpPr>
          <p:nvPr/>
        </p:nvSpPr>
        <p:spPr bwMode="auto">
          <a:xfrm>
            <a:off x="3560763" y="2701925"/>
            <a:ext cx="384175" cy="0"/>
          </a:xfrm>
          <a:prstGeom prst="rect">
            <a:avLst/>
          </a:prstGeom>
          <a:noFill/>
          <a:ln w="0" algn="ctr">
            <a:noFill/>
            <a:miter lim="800000"/>
            <a:headEnd/>
            <a:tailEnd/>
          </a:ln>
          <a:effectLst/>
        </p:spPr>
        <p:txBody>
          <a:bodyPr wrap="none" anchor="ctr">
            <a:spAutoFit/>
          </a:bodyPr>
          <a:lstStyle/>
          <a:p>
            <a:endParaRPr lang="en-US"/>
          </a:p>
        </p:txBody>
      </p:sp>
      <p:sp>
        <p:nvSpPr>
          <p:cNvPr id="698386" name="Rectangle 18"/>
          <p:cNvSpPr>
            <a:spLocks noChangeArrowheads="1"/>
          </p:cNvSpPr>
          <p:nvPr/>
        </p:nvSpPr>
        <p:spPr bwMode="auto">
          <a:xfrm>
            <a:off x="3560763" y="2701925"/>
            <a:ext cx="487362" cy="0"/>
          </a:xfrm>
          <a:prstGeom prst="rect">
            <a:avLst/>
          </a:prstGeom>
          <a:solidFill>
            <a:srgbClr val="D9D9D9"/>
          </a:solidFill>
          <a:ln w="0" algn="ctr">
            <a:noFill/>
            <a:miter lim="800000"/>
            <a:headEnd/>
            <a:tailEnd/>
          </a:ln>
          <a:effectLst/>
        </p:spPr>
        <p:txBody>
          <a:bodyPr wrap="none" anchor="ctr">
            <a:spAutoFit/>
          </a:bodyPr>
          <a:lstStyle/>
          <a:p>
            <a:endParaRPr lang="en-US"/>
          </a:p>
        </p:txBody>
      </p:sp>
      <p:graphicFrame>
        <p:nvGraphicFramePr>
          <p:cNvPr id="698539" name="Group 171"/>
          <p:cNvGraphicFramePr>
            <a:graphicFrameLocks noGrp="1"/>
          </p:cNvGraphicFramePr>
          <p:nvPr/>
        </p:nvGraphicFramePr>
        <p:xfrm>
          <a:off x="2362200" y="1905000"/>
          <a:ext cx="4343400" cy="3886202"/>
        </p:xfrm>
        <a:graphic>
          <a:graphicData uri="http://schemas.openxmlformats.org/drawingml/2006/table">
            <a:tbl>
              <a:tblPr/>
              <a:tblGrid>
                <a:gridCol w="1046163">
                  <a:extLst>
                    <a:ext uri="{9D8B030D-6E8A-4147-A177-3AD203B41FA5}">
                      <a16:colId xmlns:a16="http://schemas.microsoft.com/office/drawing/2014/main" val="20000"/>
                    </a:ext>
                  </a:extLst>
                </a:gridCol>
                <a:gridCol w="823912">
                  <a:extLst>
                    <a:ext uri="{9D8B030D-6E8A-4147-A177-3AD203B41FA5}">
                      <a16:colId xmlns:a16="http://schemas.microsoft.com/office/drawing/2014/main" val="20001"/>
                    </a:ext>
                  </a:extLst>
                </a:gridCol>
                <a:gridCol w="823913">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823912">
                  <a:extLst>
                    <a:ext uri="{9D8B030D-6E8A-4147-A177-3AD203B41FA5}">
                      <a16:colId xmlns:a16="http://schemas.microsoft.com/office/drawing/2014/main" val="20004"/>
                    </a:ext>
                  </a:extLst>
                </a:gridCol>
              </a:tblGrid>
              <a:tr h="8556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AB\CD</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00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01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11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10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7572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00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88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01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72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11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72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999999"/>
                          </a:solidFill>
                          <a:effectLst/>
                          <a:latin typeface="Times New Roman" pitchFamily="18" charset="0"/>
                          <a:cs typeface="Times New Roman" pitchFamily="18" charset="0"/>
                        </a:rPr>
                        <a:t>10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2200" b="0" i="0" u="none" strike="noStrike" cap="none" normalizeH="0" baseline="0">
                        <a:ln>
                          <a:noFill/>
                        </a:ln>
                        <a:solidFill>
                          <a:schemeClr val="tx1"/>
                        </a:solidFill>
                        <a:effectLst/>
                        <a:latin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p:txBody>
          <a:bodyPr/>
          <a:lstStyle/>
          <a:p>
            <a:r>
              <a:rPr lang="en-GB" sz="3800" b="0"/>
              <a:t>SOP based Simplified Circuit</a:t>
            </a:r>
          </a:p>
        </p:txBody>
      </p:sp>
      <p:sp>
        <p:nvSpPr>
          <p:cNvPr id="699397" name="Rectangle 5"/>
          <p:cNvSpPr>
            <a:spLocks noChangeArrowheads="1"/>
          </p:cNvSpPr>
          <p:nvPr/>
        </p:nvSpPr>
        <p:spPr bwMode="auto">
          <a:xfrm>
            <a:off x="0" y="29098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699396" name="Object 4"/>
          <p:cNvGraphicFramePr>
            <a:graphicFrameLocks noChangeAspect="1"/>
          </p:cNvGraphicFramePr>
          <p:nvPr/>
        </p:nvGraphicFramePr>
        <p:xfrm>
          <a:off x="914400" y="1676400"/>
          <a:ext cx="7450138" cy="4462463"/>
        </p:xfrm>
        <a:graphic>
          <a:graphicData uri="http://schemas.openxmlformats.org/presentationml/2006/ole">
            <mc:AlternateContent xmlns:mc="http://schemas.openxmlformats.org/markup-compatibility/2006">
              <mc:Choice xmlns:v="urn:schemas-microsoft-com:vml" Requires="v">
                <p:oleObj name="Visio" r:id="rId3" imgW="2478329" imgH="1488948" progId="Visio.Drawing.6">
                  <p:embed/>
                </p:oleObj>
              </mc:Choice>
              <mc:Fallback>
                <p:oleObj name="Visio" r:id="rId3" imgW="2478329" imgH="1488948" progId="Visio.Drawing.6">
                  <p:embed/>
                  <p:pic>
                    <p:nvPicPr>
                      <p:cNvPr id="6993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76400"/>
                        <a:ext cx="7450138" cy="446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r>
              <a:rPr lang="en-GB" sz="3800" b="0"/>
              <a:t>NAND based Implementation</a:t>
            </a:r>
          </a:p>
        </p:txBody>
      </p:sp>
      <p:sp>
        <p:nvSpPr>
          <p:cNvPr id="700421" name="Rectangle 5"/>
          <p:cNvSpPr>
            <a:spLocks noChangeArrowheads="1"/>
          </p:cNvSpPr>
          <p:nvPr/>
        </p:nvSpPr>
        <p:spPr bwMode="auto">
          <a:xfrm>
            <a:off x="0" y="29098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00420" name="Object 4"/>
          <p:cNvGraphicFramePr>
            <a:graphicFrameLocks noChangeAspect="1"/>
          </p:cNvGraphicFramePr>
          <p:nvPr/>
        </p:nvGraphicFramePr>
        <p:xfrm>
          <a:off x="457200" y="1371600"/>
          <a:ext cx="4652963" cy="2786063"/>
        </p:xfrm>
        <a:graphic>
          <a:graphicData uri="http://schemas.openxmlformats.org/presentationml/2006/ole">
            <mc:AlternateContent xmlns:mc="http://schemas.openxmlformats.org/markup-compatibility/2006">
              <mc:Choice xmlns:v="urn:schemas-microsoft-com:vml" Requires="v">
                <p:oleObj name="Visio" r:id="rId3" imgW="2253691" imgH="1392022" progId="Visio.Drawing.6">
                  <p:embed/>
                </p:oleObj>
              </mc:Choice>
              <mc:Fallback>
                <p:oleObj name="Visio" r:id="rId3" imgW="2253691" imgH="1392022" progId="Visio.Drawing.6">
                  <p:embed/>
                  <p:pic>
                    <p:nvPicPr>
                      <p:cNvPr id="70042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71600"/>
                        <a:ext cx="4652963" cy="2786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0423" name="Rectangle 7"/>
          <p:cNvSpPr>
            <a:spLocks noChangeArrowheads="1"/>
          </p:cNvSpPr>
          <p:nvPr/>
        </p:nvSpPr>
        <p:spPr bwMode="auto">
          <a:xfrm>
            <a:off x="0" y="281940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00422" name="Object 6"/>
          <p:cNvGraphicFramePr>
            <a:graphicFrameLocks noChangeAspect="1"/>
          </p:cNvGraphicFramePr>
          <p:nvPr/>
        </p:nvGraphicFramePr>
        <p:xfrm>
          <a:off x="4114800" y="3581400"/>
          <a:ext cx="4652963" cy="2786063"/>
        </p:xfrm>
        <a:graphic>
          <a:graphicData uri="http://schemas.openxmlformats.org/presentationml/2006/ole">
            <mc:AlternateContent xmlns:mc="http://schemas.openxmlformats.org/markup-compatibility/2006">
              <mc:Choice xmlns:v="urn:schemas-microsoft-com:vml" Requires="v">
                <p:oleObj name="Visio" r:id="rId5" imgW="2253691" imgH="1392022" progId="Visio.Drawing.6">
                  <p:embed/>
                </p:oleObj>
              </mc:Choice>
              <mc:Fallback>
                <p:oleObj name="Visio" r:id="rId5" imgW="2253691" imgH="1392022" progId="Visio.Drawing.6">
                  <p:embed/>
                  <p:pic>
                    <p:nvPicPr>
                      <p:cNvPr id="70042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581400"/>
                        <a:ext cx="4652963" cy="2786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p:txBody>
          <a:bodyPr/>
          <a:lstStyle/>
          <a:p>
            <a:r>
              <a:rPr lang="en-GB" sz="3800" b="0"/>
              <a:t>XOR &amp; XNOR Gates</a:t>
            </a:r>
          </a:p>
        </p:txBody>
      </p:sp>
      <p:sp>
        <p:nvSpPr>
          <p:cNvPr id="802819" name="Rectangle 3"/>
          <p:cNvSpPr>
            <a:spLocks noGrp="1" noChangeArrowheads="1"/>
          </p:cNvSpPr>
          <p:nvPr>
            <p:ph idx="1"/>
          </p:nvPr>
        </p:nvSpPr>
        <p:spPr/>
        <p:txBody>
          <a:bodyPr/>
          <a:lstStyle/>
          <a:p>
            <a:r>
              <a:rPr lang="en-GB"/>
              <a:t>XOR function</a:t>
            </a:r>
          </a:p>
          <a:p>
            <a:endParaRPr lang="en-GB"/>
          </a:p>
          <a:p>
            <a:endParaRPr lang="en-GB"/>
          </a:p>
          <a:p>
            <a:r>
              <a:rPr lang="en-GB"/>
              <a:t>XNOR function</a:t>
            </a:r>
          </a:p>
        </p:txBody>
      </p:sp>
      <p:sp>
        <p:nvSpPr>
          <p:cNvPr id="802820" name="Rectangle 4"/>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802821" name="Object 5"/>
          <p:cNvGraphicFramePr>
            <a:graphicFrameLocks noChangeAspect="1"/>
          </p:cNvGraphicFramePr>
          <p:nvPr/>
        </p:nvGraphicFramePr>
        <p:xfrm>
          <a:off x="914400" y="2286000"/>
          <a:ext cx="1535113" cy="511175"/>
        </p:xfrm>
        <a:graphic>
          <a:graphicData uri="http://schemas.openxmlformats.org/presentationml/2006/ole">
            <mc:AlternateContent xmlns:mc="http://schemas.openxmlformats.org/markup-compatibility/2006">
              <mc:Choice xmlns:v="urn:schemas-microsoft-com:vml" Requires="v">
                <p:oleObj name="Equation" r:id="rId2" imgW="596641" imgH="203112" progId="Equation.3">
                  <p:embed/>
                </p:oleObj>
              </mc:Choice>
              <mc:Fallback>
                <p:oleObj name="Equation" r:id="rId2" imgW="596641" imgH="203112" progId="Equation.3">
                  <p:embed/>
                  <p:pic>
                    <p:nvPicPr>
                      <p:cNvPr id="80282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286000"/>
                        <a:ext cx="1535113"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2822" name="Rectangle 6"/>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802823" name="Object 7"/>
          <p:cNvGraphicFramePr>
            <a:graphicFrameLocks noChangeAspect="1"/>
          </p:cNvGraphicFramePr>
          <p:nvPr/>
        </p:nvGraphicFramePr>
        <p:xfrm>
          <a:off x="914400" y="4191000"/>
          <a:ext cx="1535113" cy="503238"/>
        </p:xfrm>
        <a:graphic>
          <a:graphicData uri="http://schemas.openxmlformats.org/presentationml/2006/ole">
            <mc:AlternateContent xmlns:mc="http://schemas.openxmlformats.org/markup-compatibility/2006">
              <mc:Choice xmlns:v="urn:schemas-microsoft-com:vml" Requires="v">
                <p:oleObj name="Equation" r:id="rId4" imgW="609336" imgH="203112" progId="Equation.3">
                  <p:embed/>
                </p:oleObj>
              </mc:Choice>
              <mc:Fallback>
                <p:oleObj name="Equation" r:id="rId4" imgW="609336" imgH="203112" progId="Equation.3">
                  <p:embed/>
                  <p:pic>
                    <p:nvPicPr>
                      <p:cNvPr id="80282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191000"/>
                        <a:ext cx="1535113"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0770" name="Rectangle 2"/>
          <p:cNvSpPr>
            <a:spLocks noGrp="1" noChangeArrowheads="1"/>
          </p:cNvSpPr>
          <p:nvPr>
            <p:ph type="title"/>
          </p:nvPr>
        </p:nvSpPr>
        <p:spPr/>
        <p:txBody>
          <a:bodyPr/>
          <a:lstStyle/>
          <a:p>
            <a:r>
              <a:rPr lang="en-GB" sz="3800" b="0"/>
              <a:t>XOR Gate</a:t>
            </a:r>
          </a:p>
        </p:txBody>
      </p:sp>
      <p:sp>
        <p:nvSpPr>
          <p:cNvPr id="800771" name="Rectangle 3"/>
          <p:cNvSpPr>
            <a:spLocks noChangeArrowheads="1"/>
          </p:cNvSpPr>
          <p:nvPr/>
        </p:nvSpPr>
        <p:spPr bwMode="auto">
          <a:xfrm>
            <a:off x="0" y="29098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800772" name="Object 4"/>
          <p:cNvGraphicFramePr>
            <a:graphicFrameLocks noChangeAspect="1"/>
          </p:cNvGraphicFramePr>
          <p:nvPr/>
        </p:nvGraphicFramePr>
        <p:xfrm>
          <a:off x="914400" y="1676400"/>
          <a:ext cx="7431088" cy="4449763"/>
        </p:xfrm>
        <a:graphic>
          <a:graphicData uri="http://schemas.openxmlformats.org/presentationml/2006/ole">
            <mc:AlternateContent xmlns:mc="http://schemas.openxmlformats.org/markup-compatibility/2006">
              <mc:Choice xmlns:v="urn:schemas-microsoft-com:vml" Requires="v">
                <p:oleObj name="Visio" r:id="rId3" imgW="2478329" imgH="1488948" progId="Visio.Drawing.6">
                  <p:embed/>
                </p:oleObj>
              </mc:Choice>
              <mc:Fallback>
                <p:oleObj name="Visio" r:id="rId3" imgW="2478329" imgH="1488948" progId="Visio.Drawing.6">
                  <p:embed/>
                  <p:pic>
                    <p:nvPicPr>
                      <p:cNvPr id="8007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76400"/>
                        <a:ext cx="7431088" cy="444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r>
              <a:rPr lang="en-GB" sz="3800" b="0"/>
              <a:t>XNOR Gate</a:t>
            </a:r>
          </a:p>
        </p:txBody>
      </p:sp>
      <p:sp>
        <p:nvSpPr>
          <p:cNvPr id="804867" name="Rectangle 3"/>
          <p:cNvSpPr>
            <a:spLocks noChangeArrowheads="1"/>
          </p:cNvSpPr>
          <p:nvPr/>
        </p:nvSpPr>
        <p:spPr bwMode="auto">
          <a:xfrm>
            <a:off x="0" y="29098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804868" name="Object 4"/>
          <p:cNvGraphicFramePr>
            <a:graphicFrameLocks noChangeAspect="1"/>
          </p:cNvGraphicFramePr>
          <p:nvPr/>
        </p:nvGraphicFramePr>
        <p:xfrm>
          <a:off x="914400" y="1676400"/>
          <a:ext cx="7431088" cy="4449763"/>
        </p:xfrm>
        <a:graphic>
          <a:graphicData uri="http://schemas.openxmlformats.org/presentationml/2006/ole">
            <mc:AlternateContent xmlns:mc="http://schemas.openxmlformats.org/markup-compatibility/2006">
              <mc:Choice xmlns:v="urn:schemas-microsoft-com:vml" Requires="v">
                <p:oleObj name="Visio" r:id="rId3" imgW="2478329" imgH="1488948" progId="Visio.Drawing.6">
                  <p:embed/>
                </p:oleObj>
              </mc:Choice>
              <mc:Fallback>
                <p:oleObj name="Visio" r:id="rId3" imgW="2478329" imgH="1488948" progId="Visio.Drawing.6">
                  <p:embed/>
                  <p:pic>
                    <p:nvPicPr>
                      <p:cNvPr id="8048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76400"/>
                        <a:ext cx="7431088" cy="444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a:lstStyle/>
          <a:p>
            <a:r>
              <a:rPr lang="en-GB" sz="3800" b="0"/>
              <a:t>Combinational Functional Devices</a:t>
            </a:r>
          </a:p>
        </p:txBody>
      </p:sp>
      <p:sp>
        <p:nvSpPr>
          <p:cNvPr id="726019" name="Rectangle 3"/>
          <p:cNvSpPr>
            <a:spLocks noGrp="1" noChangeArrowheads="1"/>
          </p:cNvSpPr>
          <p:nvPr>
            <p:ph idx="1"/>
          </p:nvPr>
        </p:nvSpPr>
        <p:spPr/>
        <p:txBody>
          <a:bodyPr/>
          <a:lstStyle/>
          <a:p>
            <a:r>
              <a:rPr lang="en-GB"/>
              <a:t>Comparators</a:t>
            </a:r>
          </a:p>
          <a:p>
            <a:r>
              <a:rPr lang="en-GB"/>
              <a:t>BCD to 7-Segment</a:t>
            </a:r>
          </a:p>
          <a:p>
            <a:r>
              <a:rPr lang="en-GB"/>
              <a:t>Parity Generator Circuit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42" name="Rectangle 2"/>
          <p:cNvSpPr>
            <a:spLocks noGrp="1" noChangeArrowheads="1"/>
          </p:cNvSpPr>
          <p:nvPr>
            <p:ph type="title"/>
          </p:nvPr>
        </p:nvSpPr>
        <p:spPr/>
        <p:txBody>
          <a:bodyPr/>
          <a:lstStyle/>
          <a:p>
            <a:r>
              <a:rPr lang="en-GB" sz="3800" b="0"/>
              <a:t>Half &amp; Full Adders</a:t>
            </a:r>
          </a:p>
        </p:txBody>
      </p:sp>
      <p:sp>
        <p:nvSpPr>
          <p:cNvPr id="727043" name="Rectangle 3"/>
          <p:cNvSpPr>
            <a:spLocks noGrp="1" noChangeArrowheads="1"/>
          </p:cNvSpPr>
          <p:nvPr>
            <p:ph idx="1"/>
          </p:nvPr>
        </p:nvSpPr>
        <p:spPr/>
        <p:txBody>
          <a:bodyPr/>
          <a:lstStyle/>
          <a:p>
            <a:r>
              <a:rPr lang="en-GB"/>
              <a:t>Half Adder</a:t>
            </a:r>
          </a:p>
          <a:p>
            <a:r>
              <a:rPr lang="en-GB"/>
              <a:t>Full Adder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p:txBody>
          <a:bodyPr/>
          <a:lstStyle/>
          <a:p>
            <a:r>
              <a:rPr lang="en-GB" sz="3800" b="0"/>
              <a:t>Half &amp; Full Adders</a:t>
            </a:r>
          </a:p>
        </p:txBody>
      </p:sp>
      <p:sp>
        <p:nvSpPr>
          <p:cNvPr id="728069" name="Rectangle 5"/>
          <p:cNvSpPr>
            <a:spLocks noChangeArrowheads="1"/>
          </p:cNvSpPr>
          <p:nvPr/>
        </p:nvSpPr>
        <p:spPr bwMode="auto">
          <a:xfrm>
            <a:off x="0" y="26431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28068" name="Object 4"/>
          <p:cNvGraphicFramePr>
            <a:graphicFrameLocks noChangeAspect="1"/>
          </p:cNvGraphicFramePr>
          <p:nvPr/>
        </p:nvGraphicFramePr>
        <p:xfrm>
          <a:off x="457200" y="2819400"/>
          <a:ext cx="3994150" cy="3122613"/>
        </p:xfrm>
        <a:graphic>
          <a:graphicData uri="http://schemas.openxmlformats.org/presentationml/2006/ole">
            <mc:AlternateContent xmlns:mc="http://schemas.openxmlformats.org/markup-compatibility/2006">
              <mc:Choice xmlns:v="urn:schemas-microsoft-com:vml" Requires="v">
                <p:oleObj name="Visio" r:id="rId3" imgW="2008022" imgH="1567282" progId="Visio.Drawing.6">
                  <p:embed/>
                </p:oleObj>
              </mc:Choice>
              <mc:Fallback>
                <p:oleObj name="Visio" r:id="rId3" imgW="2008022" imgH="1567282" progId="Visio.Drawing.6">
                  <p:embed/>
                  <p:pic>
                    <p:nvPicPr>
                      <p:cNvPr id="7280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819400"/>
                        <a:ext cx="3994150" cy="312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8071" name="Rectangle 7"/>
          <p:cNvSpPr>
            <a:spLocks noChangeArrowheads="1"/>
          </p:cNvSpPr>
          <p:nvPr/>
        </p:nvSpPr>
        <p:spPr bwMode="auto">
          <a:xfrm>
            <a:off x="0" y="26431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28070" name="Object 6"/>
          <p:cNvGraphicFramePr>
            <a:graphicFrameLocks noChangeAspect="1"/>
          </p:cNvGraphicFramePr>
          <p:nvPr/>
        </p:nvGraphicFramePr>
        <p:xfrm>
          <a:off x="4724400" y="2819400"/>
          <a:ext cx="3994150" cy="3122613"/>
        </p:xfrm>
        <a:graphic>
          <a:graphicData uri="http://schemas.openxmlformats.org/presentationml/2006/ole">
            <mc:AlternateContent xmlns:mc="http://schemas.openxmlformats.org/markup-compatibility/2006">
              <mc:Choice xmlns:v="urn:schemas-microsoft-com:vml" Requires="v">
                <p:oleObj name="Visio" r:id="rId5" imgW="2008022" imgH="1567282" progId="Visio.Drawing.6">
                  <p:embed/>
                </p:oleObj>
              </mc:Choice>
              <mc:Fallback>
                <p:oleObj name="Visio" r:id="rId5" imgW="2008022" imgH="1567282" progId="Visio.Drawing.6">
                  <p:embed/>
                  <p:pic>
                    <p:nvPicPr>
                      <p:cNvPr id="72807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2819400"/>
                        <a:ext cx="3994150" cy="312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9090" name="Rectangle 2"/>
          <p:cNvSpPr>
            <a:spLocks noGrp="1" noChangeArrowheads="1"/>
          </p:cNvSpPr>
          <p:nvPr>
            <p:ph type="title"/>
          </p:nvPr>
        </p:nvSpPr>
        <p:spPr/>
        <p:txBody>
          <a:bodyPr/>
          <a:lstStyle/>
          <a:p>
            <a:r>
              <a:rPr lang="en-GB" sz="3800" b="0"/>
              <a:t>Half-Adder</a:t>
            </a:r>
          </a:p>
        </p:txBody>
      </p:sp>
      <p:sp>
        <p:nvSpPr>
          <p:cNvPr id="729091" name="Rectangle 3"/>
          <p:cNvSpPr>
            <a:spLocks noGrp="1" noChangeArrowheads="1"/>
          </p:cNvSpPr>
          <p:nvPr>
            <p:ph idx="1"/>
          </p:nvPr>
        </p:nvSpPr>
        <p:spPr/>
        <p:txBody>
          <a:bodyPr/>
          <a:lstStyle/>
          <a:p>
            <a:r>
              <a:rPr lang="en-GB"/>
              <a:t>Function Table</a:t>
            </a:r>
          </a:p>
          <a:p>
            <a:r>
              <a:rPr lang="en-GB"/>
              <a:t>Expression</a:t>
            </a:r>
          </a:p>
          <a:p>
            <a:r>
              <a:rPr lang="en-GB"/>
              <a:t>Logic Circuit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p:txBody>
          <a:bodyPr/>
          <a:lstStyle/>
          <a:p>
            <a:r>
              <a:rPr lang="en-GB" sz="3800" b="0"/>
              <a:t>Half-Adder Function Table</a:t>
            </a:r>
          </a:p>
        </p:txBody>
      </p:sp>
      <p:sp>
        <p:nvSpPr>
          <p:cNvPr id="730116" name="Rectangle 4"/>
          <p:cNvSpPr>
            <a:spLocks noChangeArrowheads="1"/>
          </p:cNvSpPr>
          <p:nvPr/>
        </p:nvSpPr>
        <p:spPr bwMode="auto">
          <a:xfrm>
            <a:off x="0" y="2605088"/>
            <a:ext cx="9144000" cy="0"/>
          </a:xfrm>
          <a:prstGeom prst="rect">
            <a:avLst/>
          </a:prstGeom>
          <a:solidFill>
            <a:srgbClr val="E6E6E6"/>
          </a:solidFill>
          <a:ln w="0" algn="ctr">
            <a:noFill/>
            <a:miter lim="800000"/>
            <a:headEnd/>
            <a:tailEnd/>
          </a:ln>
          <a:effectLst/>
        </p:spPr>
        <p:txBody>
          <a:bodyPr wrap="none" anchor="ctr">
            <a:spAutoFit/>
          </a:bodyPr>
          <a:lstStyle/>
          <a:p>
            <a:endParaRPr lang="en-US"/>
          </a:p>
        </p:txBody>
      </p:sp>
      <p:graphicFrame>
        <p:nvGraphicFramePr>
          <p:cNvPr id="730413" name="Group 301"/>
          <p:cNvGraphicFramePr>
            <a:graphicFrameLocks noGrp="1"/>
          </p:cNvGraphicFramePr>
          <p:nvPr/>
        </p:nvGraphicFramePr>
        <p:xfrm>
          <a:off x="2667000" y="2362200"/>
          <a:ext cx="3733800" cy="3300413"/>
        </p:xfrm>
        <a:graphic>
          <a:graphicData uri="http://schemas.openxmlformats.org/drawingml/2006/table">
            <a:tbl>
              <a:tblPr/>
              <a:tblGrid>
                <a:gridCol w="849313">
                  <a:extLst>
                    <a:ext uri="{9D8B030D-6E8A-4147-A177-3AD203B41FA5}">
                      <a16:colId xmlns:a16="http://schemas.microsoft.com/office/drawing/2014/main" val="20000"/>
                    </a:ext>
                  </a:extLst>
                </a:gridCol>
                <a:gridCol w="847725">
                  <a:extLst>
                    <a:ext uri="{9D8B030D-6E8A-4147-A177-3AD203B41FA5}">
                      <a16:colId xmlns:a16="http://schemas.microsoft.com/office/drawing/2014/main" val="20001"/>
                    </a:ext>
                  </a:extLst>
                </a:gridCol>
                <a:gridCol w="849312">
                  <a:extLst>
                    <a:ext uri="{9D8B030D-6E8A-4147-A177-3AD203B41FA5}">
                      <a16:colId xmlns:a16="http://schemas.microsoft.com/office/drawing/2014/main" val="20002"/>
                    </a:ext>
                  </a:extLst>
                </a:gridCol>
                <a:gridCol w="1187450">
                  <a:extLst>
                    <a:ext uri="{9D8B030D-6E8A-4147-A177-3AD203B41FA5}">
                      <a16:colId xmlns:a16="http://schemas.microsoft.com/office/drawing/2014/main" val="20003"/>
                    </a:ext>
                  </a:extLst>
                </a:gridCol>
              </a:tblGrid>
              <a:tr h="508000">
                <a:tc grid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Input</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hMerge="1">
                  <a:txBody>
                    <a:bodyPr/>
                    <a:lstStyle/>
                    <a:p>
                      <a:endParaRPr lang="en-US"/>
                    </a:p>
                  </a:txBody>
                  <a:tcPr/>
                </a:tc>
                <a:tc grid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Output</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hMerge="1">
                  <a:txBody>
                    <a:bodyPr/>
                    <a:lstStyle/>
                    <a:p>
                      <a:endParaRPr lang="en-US"/>
                    </a:p>
                  </a:txBody>
                  <a:tcPr/>
                </a:tc>
                <a:extLst>
                  <a:ext uri="{0D108BD9-81ED-4DB2-BD59-A6C34878D82A}">
                    <a16:rowId xmlns:a16="http://schemas.microsoft.com/office/drawing/2014/main" val="10000"/>
                  </a:ext>
                </a:extLst>
              </a:tr>
              <a:tr h="5095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A</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B</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Sum</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Carry Out</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1"/>
                  </a:ext>
                </a:extLst>
              </a:tr>
              <a:tr h="5080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080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06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5080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
        <p:nvSpPr>
          <p:cNvPr id="730265" name="Rectangle 153"/>
          <p:cNvSpPr>
            <a:spLocks noChangeArrowheads="1"/>
          </p:cNvSpPr>
          <p:nvPr/>
        </p:nvSpPr>
        <p:spPr bwMode="auto">
          <a:xfrm>
            <a:off x="0" y="2605088"/>
            <a:ext cx="9144000" cy="0"/>
          </a:xfrm>
          <a:prstGeom prst="rect">
            <a:avLst/>
          </a:prstGeom>
          <a:solidFill>
            <a:srgbClr val="E6E6E6"/>
          </a:solidFill>
          <a:ln w="0" algn="ctr">
            <a:noFill/>
            <a:miter lim="800000"/>
            <a:headEnd/>
            <a:tailEnd/>
          </a:ln>
          <a:effectLst/>
        </p:spPr>
        <p:txBody>
          <a:bodyPr wrap="none" anchor="ctr">
            <a:spAutoFit/>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p:txBody>
          <a:bodyPr/>
          <a:lstStyle/>
          <a:p>
            <a:r>
              <a:rPr lang="en-GB" sz="3800" b="0"/>
              <a:t>Half-Adder Circuit</a:t>
            </a:r>
          </a:p>
        </p:txBody>
      </p:sp>
      <p:sp>
        <p:nvSpPr>
          <p:cNvPr id="731141" name="Rectangle 5"/>
          <p:cNvSpPr>
            <a:spLocks noChangeArrowheads="1"/>
          </p:cNvSpPr>
          <p:nvPr/>
        </p:nvSpPr>
        <p:spPr bwMode="auto">
          <a:xfrm>
            <a:off x="0" y="28336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31140" name="Object 4"/>
          <p:cNvGraphicFramePr>
            <a:graphicFrameLocks noChangeAspect="1"/>
          </p:cNvGraphicFramePr>
          <p:nvPr/>
        </p:nvGraphicFramePr>
        <p:xfrm>
          <a:off x="2133600" y="2438400"/>
          <a:ext cx="4643438" cy="3136900"/>
        </p:xfrm>
        <a:graphic>
          <a:graphicData uri="http://schemas.openxmlformats.org/presentationml/2006/ole">
            <mc:AlternateContent xmlns:mc="http://schemas.openxmlformats.org/markup-compatibility/2006">
              <mc:Choice xmlns:v="urn:schemas-microsoft-com:vml" Requires="v">
                <p:oleObj name="Visio" r:id="rId2" imgW="2514295" imgH="1575206" progId="Visio.Drawing.6">
                  <p:embed/>
                </p:oleObj>
              </mc:Choice>
              <mc:Fallback>
                <p:oleObj name="Visio" r:id="rId2" imgW="2514295" imgH="1575206" progId="Visio.Drawing.6">
                  <p:embed/>
                  <p:pic>
                    <p:nvPicPr>
                      <p:cNvPr id="7311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438400"/>
                        <a:ext cx="4643438" cy="313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1143"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31142" name="Object 6"/>
          <p:cNvGraphicFramePr>
            <a:graphicFrameLocks noChangeAspect="1"/>
          </p:cNvGraphicFramePr>
          <p:nvPr/>
        </p:nvGraphicFramePr>
        <p:xfrm>
          <a:off x="609600" y="1600200"/>
          <a:ext cx="3967163" cy="539750"/>
        </p:xfrm>
        <a:graphic>
          <a:graphicData uri="http://schemas.openxmlformats.org/presentationml/2006/ole">
            <mc:AlternateContent xmlns:mc="http://schemas.openxmlformats.org/markup-compatibility/2006">
              <mc:Choice xmlns:v="urn:schemas-microsoft-com:vml" Requires="v">
                <p:oleObj name="Equation" r:id="rId4" imgW="1612900" imgH="215900" progId="Equation.3">
                  <p:embed/>
                </p:oleObj>
              </mc:Choice>
              <mc:Fallback>
                <p:oleObj name="Equation" r:id="rId4" imgW="1612900" imgH="215900" progId="Equation.3">
                  <p:embed/>
                  <p:pic>
                    <p:nvPicPr>
                      <p:cNvPr id="73114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1600200"/>
                        <a:ext cx="396716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1145" name="Rectangle 9"/>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31144" name="Object 8"/>
          <p:cNvGraphicFramePr>
            <a:graphicFrameLocks noChangeAspect="1"/>
          </p:cNvGraphicFramePr>
          <p:nvPr/>
        </p:nvGraphicFramePr>
        <p:xfrm>
          <a:off x="5791200" y="1676400"/>
          <a:ext cx="2587625" cy="503238"/>
        </p:xfrm>
        <a:graphic>
          <a:graphicData uri="http://schemas.openxmlformats.org/presentationml/2006/ole">
            <mc:AlternateContent xmlns:mc="http://schemas.openxmlformats.org/markup-compatibility/2006">
              <mc:Choice xmlns:v="urn:schemas-microsoft-com:vml" Requires="v">
                <p:oleObj name="Equation" r:id="rId6" imgW="1028254" imgH="203112" progId="Equation.3">
                  <p:embed/>
                </p:oleObj>
              </mc:Choice>
              <mc:Fallback>
                <p:oleObj name="Equation" r:id="rId6" imgW="1028254" imgH="203112" progId="Equation.3">
                  <p:embed/>
                  <p:pic>
                    <p:nvPicPr>
                      <p:cNvPr id="73114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1200" y="1676400"/>
                        <a:ext cx="2587625"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a:lstStyle/>
          <a:p>
            <a:r>
              <a:rPr lang="en-GB" sz="3800" b="0"/>
              <a:t>Full-Adder</a:t>
            </a:r>
          </a:p>
        </p:txBody>
      </p:sp>
      <p:sp>
        <p:nvSpPr>
          <p:cNvPr id="732163" name="Rectangle 3"/>
          <p:cNvSpPr>
            <a:spLocks noGrp="1" noChangeArrowheads="1"/>
          </p:cNvSpPr>
          <p:nvPr>
            <p:ph idx="1"/>
          </p:nvPr>
        </p:nvSpPr>
        <p:spPr/>
        <p:txBody>
          <a:bodyPr/>
          <a:lstStyle/>
          <a:p>
            <a:r>
              <a:rPr lang="en-GB"/>
              <a:t>Function Table</a:t>
            </a:r>
          </a:p>
          <a:p>
            <a:r>
              <a:rPr lang="en-GB"/>
              <a:t>Expression</a:t>
            </a:r>
          </a:p>
          <a:p>
            <a:r>
              <a:rPr lang="en-GB"/>
              <a:t>Logic Circuit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3188" name="Rectangle 4"/>
          <p:cNvSpPr>
            <a:spLocks noGrp="1" noChangeArrowheads="1"/>
          </p:cNvSpPr>
          <p:nvPr>
            <p:ph type="title"/>
          </p:nvPr>
        </p:nvSpPr>
        <p:spPr>
          <a:noFill/>
          <a:ln/>
        </p:spPr>
        <p:txBody>
          <a:bodyPr/>
          <a:lstStyle/>
          <a:p>
            <a:r>
              <a:rPr lang="en-GB" sz="3800" b="0"/>
              <a:t>Full-Adder Function Table</a:t>
            </a:r>
          </a:p>
        </p:txBody>
      </p:sp>
      <p:sp>
        <p:nvSpPr>
          <p:cNvPr id="733189" name="Rectangle 5"/>
          <p:cNvSpPr>
            <a:spLocks noChangeArrowheads="1"/>
          </p:cNvSpPr>
          <p:nvPr/>
        </p:nvSpPr>
        <p:spPr bwMode="auto">
          <a:xfrm>
            <a:off x="0" y="1965325"/>
            <a:ext cx="9144000" cy="0"/>
          </a:xfrm>
          <a:prstGeom prst="rect">
            <a:avLst/>
          </a:prstGeom>
          <a:solidFill>
            <a:srgbClr val="E6E6E6"/>
          </a:solidFill>
          <a:ln w="0" algn="ctr">
            <a:noFill/>
            <a:miter lim="800000"/>
            <a:headEnd/>
            <a:tailEnd/>
          </a:ln>
          <a:effectLst/>
        </p:spPr>
        <p:txBody>
          <a:bodyPr wrap="none" anchor="ctr">
            <a:spAutoFit/>
          </a:bodyPr>
          <a:lstStyle/>
          <a:p>
            <a:endParaRPr lang="en-US"/>
          </a:p>
        </p:txBody>
      </p:sp>
      <p:graphicFrame>
        <p:nvGraphicFramePr>
          <p:cNvPr id="733509" name="Group 325"/>
          <p:cNvGraphicFramePr>
            <a:graphicFrameLocks noGrp="1"/>
          </p:cNvGraphicFramePr>
          <p:nvPr/>
        </p:nvGraphicFramePr>
        <p:xfrm>
          <a:off x="2209800" y="1676400"/>
          <a:ext cx="4686300" cy="4602480"/>
        </p:xfrm>
        <a:graphic>
          <a:graphicData uri="http://schemas.openxmlformats.org/drawingml/2006/table">
            <a:tbl>
              <a:tblPr/>
              <a:tblGrid>
                <a:gridCol w="744538">
                  <a:extLst>
                    <a:ext uri="{9D8B030D-6E8A-4147-A177-3AD203B41FA5}">
                      <a16:colId xmlns:a16="http://schemas.microsoft.com/office/drawing/2014/main" val="20000"/>
                    </a:ext>
                  </a:extLst>
                </a:gridCol>
                <a:gridCol w="820737">
                  <a:extLst>
                    <a:ext uri="{9D8B030D-6E8A-4147-A177-3AD203B41FA5}">
                      <a16:colId xmlns:a16="http://schemas.microsoft.com/office/drawing/2014/main" val="20001"/>
                    </a:ext>
                  </a:extLst>
                </a:gridCol>
                <a:gridCol w="1254125">
                  <a:extLst>
                    <a:ext uri="{9D8B030D-6E8A-4147-A177-3AD203B41FA5}">
                      <a16:colId xmlns:a16="http://schemas.microsoft.com/office/drawing/2014/main" val="20002"/>
                    </a:ext>
                  </a:extLst>
                </a:gridCol>
                <a:gridCol w="717550">
                  <a:extLst>
                    <a:ext uri="{9D8B030D-6E8A-4147-A177-3AD203B41FA5}">
                      <a16:colId xmlns:a16="http://schemas.microsoft.com/office/drawing/2014/main" val="20003"/>
                    </a:ext>
                  </a:extLst>
                </a:gridCol>
                <a:gridCol w="1149350">
                  <a:extLst>
                    <a:ext uri="{9D8B030D-6E8A-4147-A177-3AD203B41FA5}">
                      <a16:colId xmlns:a16="http://schemas.microsoft.com/office/drawing/2014/main" val="20004"/>
                    </a:ext>
                  </a:extLst>
                </a:gridCol>
              </a:tblGrid>
              <a:tr h="373063">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Input</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hMerge="1">
                  <a:txBody>
                    <a:bodyPr/>
                    <a:lstStyle/>
                    <a:p>
                      <a:endParaRPr lang="en-US"/>
                    </a:p>
                  </a:txBody>
                  <a:tcPr/>
                </a:tc>
                <a:tc hMerge="1">
                  <a:txBody>
                    <a:bodyPr/>
                    <a:lstStyle/>
                    <a:p>
                      <a:endParaRPr lang="en-US"/>
                    </a:p>
                  </a:txBody>
                  <a:tcPr/>
                </a:tc>
                <a:tc grid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Output</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hMerge="1">
                  <a:txBody>
                    <a:bodyPr/>
                    <a:lstStyle/>
                    <a:p>
                      <a:endParaRPr lang="en-US"/>
                    </a:p>
                  </a:txBody>
                  <a:tcPr/>
                </a:tc>
                <a:extLst>
                  <a:ext uri="{0D108BD9-81ED-4DB2-BD59-A6C34878D82A}">
                    <a16:rowId xmlns:a16="http://schemas.microsoft.com/office/drawing/2014/main" val="10000"/>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A</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B</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Carry In (C)</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Sum</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Carry Out</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1"/>
                  </a:ext>
                </a:extLst>
              </a:tr>
              <a:tr h="3746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746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0</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730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200" b="0" i="0" u="none" strike="noStrike" cap="none" normalizeH="0" baseline="0">
                          <a:ln>
                            <a:noFill/>
                          </a:ln>
                          <a:solidFill>
                            <a:srgbClr val="000000"/>
                          </a:solidFill>
                          <a:effectLst/>
                          <a:latin typeface="Times New Roman" pitchFamily="18" charset="0"/>
                          <a:cs typeface="Times New Roman" pitchFamily="18" charset="0"/>
                        </a:rPr>
                        <a:t>1</a:t>
                      </a:r>
                      <a:endParaRPr kumimoji="0" lang="en-GB" sz="22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a:lstStyle/>
          <a:p>
            <a:r>
              <a:rPr lang="en-GB" sz="3800" b="0"/>
              <a:t>Sum Expression</a:t>
            </a:r>
          </a:p>
        </p:txBody>
      </p:sp>
      <p:pic>
        <p:nvPicPr>
          <p:cNvPr id="746506" name="Picture 10"/>
          <p:cNvPicPr>
            <a:picLocks noGrp="1" noChangeAspect="1" noChangeArrowheads="1"/>
          </p:cNvPicPr>
          <p:nvPr>
            <p:ph idx="1"/>
          </p:nvPr>
        </p:nvPicPr>
        <p:blipFill>
          <a:blip r:embed="rId2"/>
          <a:srcRect/>
          <a:stretch>
            <a:fillRect/>
          </a:stretch>
        </p:blipFill>
        <p:spPr>
          <a:xfrm>
            <a:off x="762000" y="3657600"/>
            <a:ext cx="2979738" cy="449263"/>
          </a:xfrm>
          <a:noFill/>
          <a:ln/>
        </p:spPr>
      </p:pic>
      <p:sp>
        <p:nvSpPr>
          <p:cNvPr id="746501"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6500" name="Object 4"/>
          <p:cNvGraphicFramePr>
            <a:graphicFrameLocks noChangeAspect="1"/>
          </p:cNvGraphicFramePr>
          <p:nvPr/>
        </p:nvGraphicFramePr>
        <p:xfrm>
          <a:off x="762000" y="1600200"/>
          <a:ext cx="5365750" cy="538163"/>
        </p:xfrm>
        <a:graphic>
          <a:graphicData uri="http://schemas.openxmlformats.org/presentationml/2006/ole">
            <mc:AlternateContent xmlns:mc="http://schemas.openxmlformats.org/markup-compatibility/2006">
              <mc:Choice xmlns:v="urn:schemas-microsoft-com:vml" Requires="v">
                <p:oleObj name="Equation" r:id="rId3" imgW="2183452" imgH="215806" progId="Equation.3">
                  <p:embed/>
                </p:oleObj>
              </mc:Choice>
              <mc:Fallback>
                <p:oleObj name="Equation" r:id="rId3" imgW="2183452" imgH="215806" progId="Equation.3">
                  <p:embed/>
                  <p:pic>
                    <p:nvPicPr>
                      <p:cNvPr id="74650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600200"/>
                        <a:ext cx="5365750"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6503" name="Rectangle 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6502" name="Object 6"/>
          <p:cNvGraphicFramePr>
            <a:graphicFrameLocks noChangeAspect="1"/>
          </p:cNvGraphicFramePr>
          <p:nvPr/>
        </p:nvGraphicFramePr>
        <p:xfrm>
          <a:off x="762000" y="2209800"/>
          <a:ext cx="5530850" cy="603250"/>
        </p:xfrm>
        <a:graphic>
          <a:graphicData uri="http://schemas.openxmlformats.org/presentationml/2006/ole">
            <mc:AlternateContent xmlns:mc="http://schemas.openxmlformats.org/markup-compatibility/2006">
              <mc:Choice xmlns:v="urn:schemas-microsoft-com:vml" Requires="v">
                <p:oleObj name="Equation" r:id="rId5" imgW="2184400" imgH="241300" progId="Equation.3">
                  <p:embed/>
                </p:oleObj>
              </mc:Choice>
              <mc:Fallback>
                <p:oleObj name="Equation" r:id="rId5" imgW="2184400" imgH="241300" progId="Equation.3">
                  <p:embed/>
                  <p:pic>
                    <p:nvPicPr>
                      <p:cNvPr id="7465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2209800"/>
                        <a:ext cx="55308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6505"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6504" name="Object 8"/>
          <p:cNvGraphicFramePr>
            <a:graphicFrameLocks noChangeAspect="1"/>
          </p:cNvGraphicFramePr>
          <p:nvPr/>
        </p:nvGraphicFramePr>
        <p:xfrm>
          <a:off x="762000" y="2895600"/>
          <a:ext cx="4662488" cy="603250"/>
        </p:xfrm>
        <a:graphic>
          <a:graphicData uri="http://schemas.openxmlformats.org/presentationml/2006/ole">
            <mc:AlternateContent xmlns:mc="http://schemas.openxmlformats.org/markup-compatibility/2006">
              <mc:Choice xmlns:v="urn:schemas-microsoft-com:vml" Requires="v">
                <p:oleObj name="Equation" r:id="rId7" imgW="1841500" imgH="241300" progId="Equation.3">
                  <p:embed/>
                </p:oleObj>
              </mc:Choice>
              <mc:Fallback>
                <p:oleObj name="Equation" r:id="rId7" imgW="1841500" imgH="241300" progId="Equation.3">
                  <p:embed/>
                  <p:pic>
                    <p:nvPicPr>
                      <p:cNvPr id="746504"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2895600"/>
                        <a:ext cx="466248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p:txBody>
          <a:bodyPr/>
          <a:lstStyle/>
          <a:p>
            <a:r>
              <a:rPr lang="en-GB" sz="3800" b="0"/>
              <a:t>Carry Out Expression</a:t>
            </a:r>
          </a:p>
        </p:txBody>
      </p:sp>
      <p:pic>
        <p:nvPicPr>
          <p:cNvPr id="748552" name="Picture 8"/>
          <p:cNvPicPr>
            <a:picLocks noGrp="1" noChangeAspect="1" noChangeArrowheads="1"/>
          </p:cNvPicPr>
          <p:nvPr>
            <p:ph idx="1"/>
          </p:nvPr>
        </p:nvPicPr>
        <p:blipFill>
          <a:blip r:embed="rId2"/>
          <a:srcRect/>
          <a:stretch>
            <a:fillRect/>
          </a:stretch>
        </p:blipFill>
        <p:spPr>
          <a:xfrm>
            <a:off x="838200" y="3352800"/>
            <a:ext cx="4451350" cy="512763"/>
          </a:xfrm>
          <a:noFill/>
          <a:ln/>
        </p:spPr>
      </p:pic>
      <p:sp>
        <p:nvSpPr>
          <p:cNvPr id="748549" name="Rectangle 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8548" name="Object 4"/>
          <p:cNvGraphicFramePr>
            <a:graphicFrameLocks noChangeAspect="1"/>
          </p:cNvGraphicFramePr>
          <p:nvPr/>
        </p:nvGraphicFramePr>
        <p:xfrm>
          <a:off x="838200" y="1752600"/>
          <a:ext cx="6343650" cy="603250"/>
        </p:xfrm>
        <a:graphic>
          <a:graphicData uri="http://schemas.openxmlformats.org/presentationml/2006/ole">
            <mc:AlternateContent xmlns:mc="http://schemas.openxmlformats.org/markup-compatibility/2006">
              <mc:Choice xmlns:v="urn:schemas-microsoft-com:vml" Requires="v">
                <p:oleObj name="Equation" r:id="rId3" imgW="2501900" imgH="241300" progId="Equation.3">
                  <p:embed/>
                </p:oleObj>
              </mc:Choice>
              <mc:Fallback>
                <p:oleObj name="Equation" r:id="rId3" imgW="2501900" imgH="241300" progId="Equation.3">
                  <p:embed/>
                  <p:pic>
                    <p:nvPicPr>
                      <p:cNvPr id="7485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752600"/>
                        <a:ext cx="63436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8551" name="Rectangle 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8550" name="Object 6"/>
          <p:cNvGraphicFramePr>
            <a:graphicFrameLocks noChangeAspect="1"/>
          </p:cNvGraphicFramePr>
          <p:nvPr/>
        </p:nvGraphicFramePr>
        <p:xfrm>
          <a:off x="838200" y="2514600"/>
          <a:ext cx="6078538" cy="603250"/>
        </p:xfrm>
        <a:graphic>
          <a:graphicData uri="http://schemas.openxmlformats.org/presentationml/2006/ole">
            <mc:AlternateContent xmlns:mc="http://schemas.openxmlformats.org/markup-compatibility/2006">
              <mc:Choice xmlns:v="urn:schemas-microsoft-com:vml" Requires="v">
                <p:oleObj name="Equation" r:id="rId5" imgW="2400300" imgH="241300" progId="Equation.3">
                  <p:embed/>
                </p:oleObj>
              </mc:Choice>
              <mc:Fallback>
                <p:oleObj name="Equation" r:id="rId5" imgW="2400300" imgH="241300" progId="Equation.3">
                  <p:embed/>
                  <p:pic>
                    <p:nvPicPr>
                      <p:cNvPr id="74855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514600"/>
                        <a:ext cx="60785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4212" name="Rectangle 4"/>
          <p:cNvSpPr>
            <a:spLocks noGrp="1" noChangeArrowheads="1"/>
          </p:cNvSpPr>
          <p:nvPr>
            <p:ph type="title"/>
          </p:nvPr>
        </p:nvSpPr>
        <p:spPr>
          <a:noFill/>
          <a:ln/>
        </p:spPr>
        <p:txBody>
          <a:bodyPr/>
          <a:lstStyle/>
          <a:p>
            <a:r>
              <a:rPr lang="en-GB" sz="3800" b="0"/>
              <a:t>Full-Adder Circuit</a:t>
            </a:r>
          </a:p>
        </p:txBody>
      </p:sp>
      <p:pic>
        <p:nvPicPr>
          <p:cNvPr id="734213" name="Picture 5"/>
          <p:cNvPicPr>
            <a:picLocks noGrp="1" noChangeAspect="1" noChangeArrowheads="1"/>
          </p:cNvPicPr>
          <p:nvPr>
            <p:ph sz="half" idx="1"/>
          </p:nvPr>
        </p:nvPicPr>
        <p:blipFill>
          <a:blip r:embed="rId2"/>
          <a:stretch>
            <a:fillRect/>
          </a:stretch>
        </p:blipFill>
        <p:spPr>
          <a:xfrm>
            <a:off x="457200" y="2667734"/>
            <a:ext cx="4038600" cy="2395657"/>
          </a:xfrm>
          <a:noFill/>
          <a:ln/>
        </p:spPr>
      </p:pic>
      <p:pic>
        <p:nvPicPr>
          <p:cNvPr id="734215" name="Picture 7"/>
          <p:cNvPicPr>
            <a:picLocks noGrp="1" noChangeAspect="1" noChangeArrowheads="1"/>
          </p:cNvPicPr>
          <p:nvPr>
            <p:ph sz="quarter" idx="2"/>
          </p:nvPr>
        </p:nvPicPr>
        <p:blipFill>
          <a:blip r:embed="rId3"/>
          <a:srcRect/>
          <a:stretch>
            <a:fillRect/>
          </a:stretch>
        </p:blipFill>
        <p:spPr>
          <a:xfrm>
            <a:off x="4419600" y="1524000"/>
            <a:ext cx="2979738" cy="449263"/>
          </a:xfrm>
          <a:noFill/>
          <a:ln/>
        </p:spPr>
      </p:pic>
      <p:pic>
        <p:nvPicPr>
          <p:cNvPr id="734217" name="Picture 9"/>
          <p:cNvPicPr>
            <a:picLocks noGrp="1" noChangeAspect="1" noChangeArrowheads="1"/>
          </p:cNvPicPr>
          <p:nvPr>
            <p:ph sz="quarter" idx="3"/>
          </p:nvPr>
        </p:nvPicPr>
        <p:blipFill>
          <a:blip r:embed="rId4"/>
          <a:srcRect/>
          <a:stretch>
            <a:fillRect/>
          </a:stretch>
        </p:blipFill>
        <p:spPr>
          <a:xfrm>
            <a:off x="4419600" y="2057400"/>
            <a:ext cx="4451350" cy="512763"/>
          </a:xfrm>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en-GB" sz="3800" b="0"/>
              <a:t>Full-Adder</a:t>
            </a:r>
          </a:p>
        </p:txBody>
      </p:sp>
      <p:sp>
        <p:nvSpPr>
          <p:cNvPr id="738307" name="Rectangle 3"/>
          <p:cNvSpPr>
            <a:spLocks noGrp="1" noChangeArrowheads="1"/>
          </p:cNvSpPr>
          <p:nvPr>
            <p:ph idx="1"/>
          </p:nvPr>
        </p:nvSpPr>
        <p:spPr/>
        <p:txBody>
          <a:bodyPr/>
          <a:lstStyle/>
          <a:p>
            <a:r>
              <a:rPr lang="en-GB"/>
              <a:t>Full-Adder = Half-Adder + Half-Adder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p:txBody>
          <a:bodyPr>
            <a:normAutofit fontScale="90000"/>
          </a:bodyPr>
          <a:lstStyle/>
          <a:p>
            <a:r>
              <a:rPr lang="en-GB" sz="3800" b="0"/>
              <a:t>Full-Adder based on </a:t>
            </a:r>
            <a:br>
              <a:rPr lang="en-GB" sz="3800" b="0"/>
            </a:br>
            <a:r>
              <a:rPr lang="en-GB" sz="3800" b="0"/>
              <a:t>Two Half-Adders</a:t>
            </a:r>
          </a:p>
        </p:txBody>
      </p:sp>
      <p:sp>
        <p:nvSpPr>
          <p:cNvPr id="743429" name="Rectangle 5"/>
          <p:cNvSpPr>
            <a:spLocks noChangeArrowheads="1"/>
          </p:cNvSpPr>
          <p:nvPr/>
        </p:nvSpPr>
        <p:spPr bwMode="auto">
          <a:xfrm>
            <a:off x="0" y="27527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3428" name="Object 4"/>
          <p:cNvGraphicFramePr>
            <a:graphicFrameLocks noChangeAspect="1"/>
          </p:cNvGraphicFramePr>
          <p:nvPr/>
        </p:nvGraphicFramePr>
        <p:xfrm>
          <a:off x="838200" y="3048000"/>
          <a:ext cx="7586663" cy="2706688"/>
        </p:xfrm>
        <a:graphic>
          <a:graphicData uri="http://schemas.openxmlformats.org/presentationml/2006/ole">
            <mc:AlternateContent xmlns:mc="http://schemas.openxmlformats.org/markup-compatibility/2006">
              <mc:Choice xmlns:v="urn:schemas-microsoft-com:vml" Requires="v">
                <p:oleObj name="Visio" r:id="rId2" imgW="4964278" imgH="1799539" progId="Visio.Drawing.6">
                  <p:embed/>
                </p:oleObj>
              </mc:Choice>
              <mc:Fallback>
                <p:oleObj name="Visio" r:id="rId2" imgW="4964278" imgH="1799539" progId="Visio.Drawing.6">
                  <p:embed/>
                  <p:pic>
                    <p:nvPicPr>
                      <p:cNvPr id="74342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0"/>
                        <a:ext cx="7586663" cy="2706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p:txBody>
          <a:bodyPr/>
          <a:lstStyle/>
          <a:p>
            <a:r>
              <a:rPr lang="en-GB" sz="3800" b="0"/>
              <a:t>Parallel Binary Adder</a:t>
            </a:r>
          </a:p>
        </p:txBody>
      </p:sp>
      <p:sp>
        <p:nvSpPr>
          <p:cNvPr id="739331" name="Rectangle 3"/>
          <p:cNvSpPr>
            <a:spLocks noGrp="1" noChangeArrowheads="1"/>
          </p:cNvSpPr>
          <p:nvPr>
            <p:ph idx="1"/>
          </p:nvPr>
        </p:nvSpPr>
        <p:spPr/>
        <p:txBody>
          <a:bodyPr/>
          <a:lstStyle/>
          <a:p>
            <a:r>
              <a:rPr lang="en-GB"/>
              <a:t>Multiple Single bit Full-Adder connected in Parallel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a:lstStyle/>
          <a:p>
            <a:r>
              <a:rPr lang="en-GB" sz="3800" b="0"/>
              <a:t>4-bit Parallel Adder</a:t>
            </a:r>
          </a:p>
        </p:txBody>
      </p:sp>
      <p:sp>
        <p:nvSpPr>
          <p:cNvPr id="740357" name="Rectangle 5"/>
          <p:cNvSpPr>
            <a:spLocks noChangeArrowheads="1"/>
          </p:cNvSpPr>
          <p:nvPr/>
        </p:nvSpPr>
        <p:spPr bwMode="auto">
          <a:xfrm>
            <a:off x="0" y="273367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740356" name="Object 4"/>
          <p:cNvGraphicFramePr>
            <a:graphicFrameLocks noChangeAspect="1"/>
          </p:cNvGraphicFramePr>
          <p:nvPr/>
        </p:nvGraphicFramePr>
        <p:xfrm>
          <a:off x="533400" y="2667000"/>
          <a:ext cx="8145463" cy="2979738"/>
        </p:xfrm>
        <a:graphic>
          <a:graphicData uri="http://schemas.openxmlformats.org/presentationml/2006/ole">
            <mc:AlternateContent xmlns:mc="http://schemas.openxmlformats.org/markup-compatibility/2006">
              <mc:Choice xmlns:v="urn:schemas-microsoft-com:vml" Requires="v">
                <p:oleObj name="Visio" r:id="rId2" imgW="5446166" imgH="1989734" progId="Visio.Drawing.6">
                  <p:embed/>
                </p:oleObj>
              </mc:Choice>
              <mc:Fallback>
                <p:oleObj name="Visio" r:id="rId2" imgW="5446166" imgH="1989734" progId="Visio.Drawing.6">
                  <p:embed/>
                  <p:pic>
                    <p:nvPicPr>
                      <p:cNvPr id="74035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667000"/>
                        <a:ext cx="8145463" cy="297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22544</TotalTime>
  <Words>1148</Words>
  <Application>Microsoft Office PowerPoint</Application>
  <PresentationFormat>On-screen Show (4:3)</PresentationFormat>
  <Paragraphs>307</Paragraphs>
  <Slides>28</Slides>
  <Notes>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28</vt:i4>
      </vt:variant>
    </vt:vector>
  </HeadingPairs>
  <TitlesOfParts>
    <vt:vector size="36" baseType="lpstr">
      <vt:lpstr>Folio</vt:lpstr>
      <vt:lpstr>Arial</vt:lpstr>
      <vt:lpstr>Calibri</vt:lpstr>
      <vt:lpstr>Times New Roman</vt:lpstr>
      <vt:lpstr>Wingdings</vt:lpstr>
      <vt:lpstr>Office Theme</vt:lpstr>
      <vt:lpstr>Visio</vt:lpstr>
      <vt:lpstr>Equation</vt:lpstr>
      <vt:lpstr> </vt:lpstr>
      <vt:lpstr>Combinational Logic</vt:lpstr>
      <vt:lpstr>SOP Implementation</vt:lpstr>
      <vt:lpstr>Design and Implementation of Digital Circuits</vt:lpstr>
      <vt:lpstr>Adjacent 1s Detector Circuit</vt:lpstr>
      <vt:lpstr>Adjacent 1s Detector Function</vt:lpstr>
      <vt:lpstr>SOP Implementation</vt:lpstr>
      <vt:lpstr>SOP Expression Simplification</vt:lpstr>
      <vt:lpstr>SOP based Simplified Circuit</vt:lpstr>
      <vt:lpstr>NAND based Implementation</vt:lpstr>
      <vt:lpstr>XOR &amp; XNOR Gates</vt:lpstr>
      <vt:lpstr>XOR Gate</vt:lpstr>
      <vt:lpstr>XNOR Gate</vt:lpstr>
      <vt:lpstr>Combinational Functional Devices</vt:lpstr>
      <vt:lpstr>Half &amp; Full Adders</vt:lpstr>
      <vt:lpstr>Half &amp; Full Adders</vt:lpstr>
      <vt:lpstr>Half-Adder</vt:lpstr>
      <vt:lpstr>Half-Adder Function Table</vt:lpstr>
      <vt:lpstr>Half-Adder Circuit</vt:lpstr>
      <vt:lpstr>Full-Adder</vt:lpstr>
      <vt:lpstr>Full-Adder Function Table</vt:lpstr>
      <vt:lpstr>Sum Expression</vt:lpstr>
      <vt:lpstr>Carry Out Expression</vt:lpstr>
      <vt:lpstr>Full-Adder Circuit</vt:lpstr>
      <vt:lpstr>Full-Adder</vt:lpstr>
      <vt:lpstr>Full-Adder based on  Two Half-Adders</vt:lpstr>
      <vt:lpstr>Parallel Binary Adder</vt:lpstr>
      <vt:lpstr>4-bit Parallel Adder</vt:lpstr>
    </vt:vector>
  </TitlesOfParts>
  <Company>NU_FAST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No. 1</dc:title>
  <dc:creator>waseem</dc:creator>
  <cp:lastModifiedBy>Syed Zulqadar Hassan</cp:lastModifiedBy>
  <cp:revision>955</cp:revision>
  <dcterms:created xsi:type="dcterms:W3CDTF">2003-07-15T08:28:34Z</dcterms:created>
  <dcterms:modified xsi:type="dcterms:W3CDTF">2025-04-23T18:50:41Z</dcterms:modified>
</cp:coreProperties>
</file>
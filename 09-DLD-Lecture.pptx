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29"/>
  </p:notesMasterIdLst>
  <p:handoutMasterIdLst>
    <p:handoutMasterId r:id="rId30"/>
  </p:handoutMasterIdLst>
  <p:sldIdLst>
    <p:sldId id="359" r:id="rId2"/>
    <p:sldId id="278" r:id="rId3"/>
    <p:sldId id="333" r:id="rId4"/>
    <p:sldId id="334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4" r:id="rId13"/>
    <p:sldId id="343" r:id="rId14"/>
    <p:sldId id="345" r:id="rId15"/>
    <p:sldId id="346" r:id="rId16"/>
    <p:sldId id="347" r:id="rId17"/>
    <p:sldId id="348" r:id="rId18"/>
    <p:sldId id="349" r:id="rId19"/>
    <p:sldId id="357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</p:sldIdLst>
  <p:sldSz cx="9144000" cy="6858000" type="screen4x3"/>
  <p:notesSz cx="6858000" cy="9144000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FF9900"/>
    <a:srgbClr val="FFFFFF"/>
    <a:srgbClr val="000000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 autoAdjust="0"/>
    <p:restoredTop sz="63188" autoAdjust="0"/>
  </p:normalViewPr>
  <p:slideViewPr>
    <p:cSldViewPr>
      <p:cViewPr varScale="1">
        <p:scale>
          <a:sx n="48" d="100"/>
          <a:sy n="48" d="100"/>
        </p:scale>
        <p:origin x="225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80"/>
    </p:cViewPr>
  </p:sorterViewPr>
  <p:notesViewPr>
    <p:cSldViewPr>
      <p:cViewPr varScale="1">
        <p:scale>
          <a:sx n="55" d="100"/>
          <a:sy n="55" d="100"/>
        </p:scale>
        <p:origin x="-185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Zulqadar Hassan" userId="bb151c9adcbd665f" providerId="LiveId" clId="{36E89A3B-E0DF-4F4F-ADD7-19B2FBF94DFF}"/>
    <pc:docChg chg="delSld modSld">
      <pc:chgData name="Syed Zulqadar Hassan" userId="bb151c9adcbd665f" providerId="LiveId" clId="{36E89A3B-E0DF-4F4F-ADD7-19B2FBF94DFF}" dt="2025-04-23T18:05:35.460" v="39" actId="20577"/>
      <pc:docMkLst>
        <pc:docMk/>
      </pc:docMkLst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15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16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17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18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19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20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21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22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23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24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25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27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28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29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30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31"/>
        </pc:sldMkLst>
      </pc:sldChg>
      <pc:sldChg chg="del">
        <pc:chgData name="Syed Zulqadar Hassan" userId="bb151c9adcbd665f" providerId="LiveId" clId="{36E89A3B-E0DF-4F4F-ADD7-19B2FBF94DFF}" dt="2025-04-23T18:04:36.367" v="24" actId="47"/>
        <pc:sldMkLst>
          <pc:docMk/>
          <pc:sldMk cId="0" sldId="332"/>
        </pc:sldMkLst>
      </pc:sldChg>
      <pc:sldChg chg="modSp mod">
        <pc:chgData name="Syed Zulqadar Hassan" userId="bb151c9adcbd665f" providerId="LiveId" clId="{36E89A3B-E0DF-4F4F-ADD7-19B2FBF94DFF}" dt="2025-04-23T17:58:29.523" v="23" actId="20577"/>
        <pc:sldMkLst>
          <pc:docMk/>
          <pc:sldMk cId="0" sldId="359"/>
        </pc:sldMkLst>
        <pc:spChg chg="mod">
          <ac:chgData name="Syed Zulqadar Hassan" userId="bb151c9adcbd665f" providerId="LiveId" clId="{36E89A3B-E0DF-4F4F-ADD7-19B2FBF94DFF}" dt="2025-04-23T17:58:29.523" v="23" actId="20577"/>
          <ac:spMkLst>
            <pc:docMk/>
            <pc:sldMk cId="0" sldId="359"/>
            <ac:spMk id="2053" creationId="{00000000-0000-0000-0000-000000000000}"/>
          </ac:spMkLst>
        </pc:spChg>
      </pc:sldChg>
      <pc:sldChg chg="modSp mod">
        <pc:chgData name="Syed Zulqadar Hassan" userId="bb151c9adcbd665f" providerId="LiveId" clId="{36E89A3B-E0DF-4F4F-ADD7-19B2FBF94DFF}" dt="2025-04-23T18:05:35.460" v="39" actId="20577"/>
        <pc:sldMkLst>
          <pc:docMk/>
          <pc:sldMk cId="3918080164" sldId="369"/>
        </pc:sldMkLst>
        <pc:spChg chg="mod">
          <ac:chgData name="Syed Zulqadar Hassan" userId="bb151c9adcbd665f" providerId="LiveId" clId="{36E89A3B-E0DF-4F4F-ADD7-19B2FBF94DFF}" dt="2025-04-23T18:05:35.460" v="39" actId="20577"/>
          <ac:spMkLst>
            <pc:docMk/>
            <pc:sldMk cId="3918080164" sldId="369"/>
            <ac:spMk id="691203" creationId="{00000000-0000-0000-0000-000000000000}"/>
          </ac:spMkLst>
        </pc:spChg>
      </pc:sldChg>
      <pc:sldMasterChg chg="delSldLayout">
        <pc:chgData name="Syed Zulqadar Hassan" userId="bb151c9adcbd665f" providerId="LiveId" clId="{36E89A3B-E0DF-4F4F-ADD7-19B2FBF94DFF}" dt="2025-04-23T18:04:36.367" v="24" actId="47"/>
        <pc:sldMasterMkLst>
          <pc:docMk/>
          <pc:sldMasterMk cId="0" sldId="2147483682"/>
        </pc:sldMasterMkLst>
        <pc:sldLayoutChg chg="del">
          <pc:chgData name="Syed Zulqadar Hassan" userId="bb151c9adcbd665f" providerId="LiveId" clId="{36E89A3B-E0DF-4F4F-ADD7-19B2FBF94DFF}" dt="2025-04-23T18:04:36.367" v="24" actId="47"/>
          <pc:sldLayoutMkLst>
            <pc:docMk/>
            <pc:sldMasterMk cId="0" sldId="2147483682"/>
            <pc:sldLayoutMk cId="0" sldId="2147483694"/>
          </pc:sldLayoutMkLst>
        </pc:sldLayoutChg>
        <pc:sldLayoutChg chg="del">
          <pc:chgData name="Syed Zulqadar Hassan" userId="bb151c9adcbd665f" providerId="LiveId" clId="{36E89A3B-E0DF-4F4F-ADD7-19B2FBF94DFF}" dt="2025-04-23T18:04:36.367" v="24" actId="47"/>
          <pc:sldLayoutMkLst>
            <pc:docMk/>
            <pc:sldMasterMk cId="0" sldId="2147483682"/>
            <pc:sldLayoutMk cId="0" sldId="214748369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60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0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8923E2B-B77E-4AFB-BBD7-018C5DB2A50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8520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07D5C6E-2749-4ED2-B8E0-378B5FB3810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5630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9330D4-C92C-4788-9B58-82F7F51A1FC1}" type="slidenum">
              <a:rPr lang="en-GB"/>
              <a:pPr/>
              <a:t>1</a:t>
            </a:fld>
            <a:endParaRPr lang="en-GB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8018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A04DBE-1EC7-41AA-A8C8-4FF7B23C674C}" type="slidenum">
              <a:rPr lang="en-GB"/>
              <a:pPr/>
              <a:t>4</a:t>
            </a:fld>
            <a:endParaRPr lang="en-GB"/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7-Segment display is shaped like the number 8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It has 7-segments that can be lit in  different combinations to display any digit between 0 to 9.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The 7-segments are identified by segment numbers a, b, c, d, e, f and g.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The three horizontal segments starting from the top are a, g and f respectively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The two vertical segments on the right side are segments b and c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The two vertical segments on the left side are segments f and e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To display the numbers 0 to 9 different set of segments are turned on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0	a, b, c, d, e, f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1	b, c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2	a, b, d, e, g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3	a, b, c, d, g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4	b, c, f, g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5	a, c, d, f, g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6	a, c, d, e, f, g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7	a, b, c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8	a, b, c, d, e, f, g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9 	a, b, c, d, f, g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The segment a, for example is turned on when numbers 0, 2, 3, 5, 6, 7 and 8 are displayed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The segment d, for example is turned on when the numbers 0, 2, 3, 5, 6 and 8 re displayed.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Similarly different sets of segments are selected to display different digits.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The 7-segment display circuit basically can be considered to be 7 different circuits having 4 inputs and 1 output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The 4-bit input of the circuit accepts BCD numbers and the output controls a single segment.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GB" sz="1000" dirty="0"/>
              <a:t>Before implementing the 7 circuits, function tables for each of the 7 circuits have to be prepared.     </a:t>
            </a:r>
          </a:p>
        </p:txBody>
      </p:sp>
    </p:spTree>
    <p:extLst>
      <p:ext uri="{BB962C8B-B14F-4D97-AF65-F5344CB8AC3E}">
        <p14:creationId xmlns:p14="http://schemas.microsoft.com/office/powerpoint/2010/main" val="1981496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11BE2E-4141-41FD-A10D-FA57B8DC0682}" type="slidenum">
              <a:rPr lang="en-GB"/>
              <a:pPr/>
              <a:t>5</a:t>
            </a:fld>
            <a:endParaRPr lang="en-GB"/>
          </a:p>
        </p:txBody>
      </p:sp>
      <p:sp>
        <p:nvSpPr>
          <p:cNvPr id="60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501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52CB47-BC5C-4CEE-A030-08392259A86F}" type="slidenum">
              <a:rPr lang="en-GB"/>
              <a:pPr/>
              <a:t>6</a:t>
            </a:fld>
            <a:endParaRPr lang="en-GB"/>
          </a:p>
        </p:txBody>
      </p:sp>
      <p:sp>
        <p:nvSpPr>
          <p:cNvPr id="607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525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52A32E-E685-444D-A60D-309C9D19C220}" type="slidenum">
              <a:rPr lang="en-GB"/>
              <a:pPr/>
              <a:t>7</a:t>
            </a:fld>
            <a:endParaRPr lang="en-GB"/>
          </a:p>
        </p:txBody>
      </p:sp>
      <p:sp>
        <p:nvSpPr>
          <p:cNvPr id="609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01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3F96E2-11A1-4EEC-BD6D-246C1844F1C0}" type="slidenum">
              <a:rPr lang="en-GB"/>
              <a:pPr/>
              <a:t>8</a:t>
            </a:fld>
            <a:endParaRPr lang="en-GB"/>
          </a:p>
        </p:txBody>
      </p:sp>
      <p:sp>
        <p:nvSpPr>
          <p:cNvPr id="611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041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2814A7-902B-4C8F-AEA5-665D779089E2}" type="slidenum">
              <a:rPr lang="en-GB"/>
              <a:pPr/>
              <a:t>9</a:t>
            </a:fld>
            <a:endParaRPr lang="en-GB"/>
          </a:p>
        </p:txBody>
      </p:sp>
      <p:sp>
        <p:nvSpPr>
          <p:cNvPr id="613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224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4270C4-7DD9-4B49-9EEA-C01A670D89A7}" type="slidenum">
              <a:rPr lang="en-GB"/>
              <a:pPr/>
              <a:t>10</a:t>
            </a:fld>
            <a:endParaRPr lang="en-GB"/>
          </a:p>
        </p:txBody>
      </p:sp>
      <p:sp>
        <p:nvSpPr>
          <p:cNvPr id="615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939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25756F-44BA-4D67-A335-A5B6493B6CF0}" type="slidenum">
              <a:rPr lang="en-GB"/>
              <a:pPr/>
              <a:t>11</a:t>
            </a:fld>
            <a:endParaRPr lang="en-GB"/>
          </a:p>
        </p:txBody>
      </p:sp>
      <p:sp>
        <p:nvSpPr>
          <p:cNvPr id="617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896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C7690C-FCF2-4A44-9251-7D523AE90CE4}" type="slidenum">
              <a:rPr lang="en-GB"/>
              <a:pPr/>
              <a:t>12</a:t>
            </a:fld>
            <a:endParaRPr lang="en-GB"/>
          </a:p>
        </p:txBody>
      </p:sp>
      <p:sp>
        <p:nvSpPr>
          <p:cNvPr id="621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55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6C9A8B-2CF5-4888-91BA-A937B1428CB2}" type="slidenum">
              <a:rPr lang="en-GB"/>
              <a:pPr/>
              <a:t>13</a:t>
            </a:fld>
            <a:endParaRPr lang="en-GB"/>
          </a:p>
        </p:txBody>
      </p:sp>
      <p:sp>
        <p:nvSpPr>
          <p:cNvPr id="619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62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F537F6-BCFD-42C5-AFE4-0ACA31CE5EEA}" type="slidenum">
              <a:rPr lang="en-GB"/>
              <a:pPr/>
              <a:t>14</a:t>
            </a:fld>
            <a:endParaRPr lang="en-GB"/>
          </a:p>
        </p:txBody>
      </p:sp>
      <p:sp>
        <p:nvSpPr>
          <p:cNvPr id="623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3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47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5D321C-2C16-4171-90EF-F72DF79C9620}" type="slidenum">
              <a:rPr lang="en-GB"/>
              <a:pPr/>
              <a:t>15</a:t>
            </a:fld>
            <a:endParaRPr lang="en-GB"/>
          </a:p>
        </p:txBody>
      </p:sp>
      <p:sp>
        <p:nvSpPr>
          <p:cNvPr id="625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65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F4EE63-7513-463D-8552-6D755DD63770}" type="slidenum">
              <a:rPr lang="en-GB"/>
              <a:pPr/>
              <a:t>16</a:t>
            </a:fld>
            <a:endParaRPr lang="en-GB"/>
          </a:p>
        </p:txBody>
      </p:sp>
      <p:sp>
        <p:nvSpPr>
          <p:cNvPr id="627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7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43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9AC753-60D4-4592-BF0D-5BE882170765}" type="slidenum">
              <a:rPr lang="en-GB"/>
              <a:pPr/>
              <a:t>17</a:t>
            </a:fld>
            <a:endParaRPr lang="en-GB"/>
          </a:p>
        </p:txBody>
      </p:sp>
      <p:sp>
        <p:nvSpPr>
          <p:cNvPr id="629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194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E8B115-5E86-40E8-B42D-8D34237A966C}" type="slidenum">
              <a:rPr lang="en-GB"/>
              <a:pPr/>
              <a:t>18</a:t>
            </a:fld>
            <a:endParaRPr lang="en-GB"/>
          </a:p>
        </p:txBody>
      </p:sp>
      <p:sp>
        <p:nvSpPr>
          <p:cNvPr id="631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97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C0026F-1B48-4A11-BF1A-083D1CC31D6D}" type="slidenum">
              <a:rPr lang="en-GB"/>
              <a:pPr/>
              <a:t>21</a:t>
            </a:fld>
            <a:endParaRPr lang="en-GB"/>
          </a:p>
        </p:txBody>
      </p:sp>
      <p:sp>
        <p:nvSpPr>
          <p:cNvPr id="633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function table for the output A&gt;B represents the output of the circuit output logic line representing A&gt;B for 16 combinations of the 2-bit numbers A and B.</a:t>
            </a:r>
          </a:p>
          <a:p>
            <a:pPr>
              <a:buFontTx/>
              <a:buChar char="•"/>
            </a:pPr>
            <a:r>
              <a:rPr lang="en-GB"/>
              <a:t>The input numbers A and B are represented by A</a:t>
            </a:r>
            <a:r>
              <a:rPr lang="en-GB" baseline="-25000"/>
              <a:t>1</a:t>
            </a:r>
            <a:r>
              <a:rPr lang="en-GB"/>
              <a:t>A</a:t>
            </a:r>
            <a:r>
              <a:rPr lang="en-GB" baseline="-25000"/>
              <a:t>0</a:t>
            </a:r>
            <a:r>
              <a:rPr lang="en-GB"/>
              <a:t> and B</a:t>
            </a:r>
            <a:r>
              <a:rPr lang="en-GB" baseline="-25000"/>
              <a:t>1</a:t>
            </a:r>
            <a:r>
              <a:rPr lang="en-GB"/>
              <a:t>B</a:t>
            </a:r>
            <a:r>
              <a:rPr lang="en-GB" baseline="-25000"/>
              <a:t>0 </a:t>
            </a:r>
            <a:r>
              <a:rPr lang="en-GB"/>
              <a:t>columns of the function table</a:t>
            </a:r>
          </a:p>
          <a:p>
            <a:pPr>
              <a:buFontTx/>
              <a:buChar char="•"/>
            </a:pPr>
            <a:r>
              <a:rPr lang="en-GB"/>
              <a:t>Output A&gt;B line is set to 1 when A&gt;B.</a:t>
            </a:r>
          </a:p>
          <a:p>
            <a:pPr>
              <a:buFontTx/>
              <a:buChar char="•"/>
            </a:pPr>
            <a:r>
              <a:rPr lang="en-GB"/>
              <a:t>Thus for input combinations of A and B that is 01 00, 10 00, 10 01, 11 00, 11 01 and 11 10 the output A&gt;B is 1 </a:t>
            </a:r>
          </a:p>
        </p:txBody>
      </p:sp>
    </p:spTree>
    <p:extLst>
      <p:ext uri="{BB962C8B-B14F-4D97-AF65-F5344CB8AC3E}">
        <p14:creationId xmlns:p14="http://schemas.microsoft.com/office/powerpoint/2010/main" val="23554883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AC419C-E817-4DA9-9704-A35E05990C36}" type="slidenum">
              <a:rPr lang="en-GB"/>
              <a:pPr/>
              <a:t>22</a:t>
            </a:fld>
            <a:endParaRPr lang="en-GB"/>
          </a:p>
        </p:txBody>
      </p:sp>
      <p:sp>
        <p:nvSpPr>
          <p:cNvPr id="635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5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function table for the output A=B represents the output of the circuit logic line representing A=B for 16 combinations of the 2-bit numbers A and B.</a:t>
            </a:r>
          </a:p>
          <a:p>
            <a:pPr>
              <a:buFontTx/>
              <a:buChar char="•"/>
            </a:pPr>
            <a:r>
              <a:rPr lang="en-GB"/>
              <a:t>The input numbers A and B are represented by A</a:t>
            </a:r>
            <a:r>
              <a:rPr lang="en-GB" baseline="-25000"/>
              <a:t>1</a:t>
            </a:r>
            <a:r>
              <a:rPr lang="en-GB"/>
              <a:t>A</a:t>
            </a:r>
            <a:r>
              <a:rPr lang="en-GB" baseline="-25000"/>
              <a:t>0</a:t>
            </a:r>
            <a:r>
              <a:rPr lang="en-GB"/>
              <a:t> and B</a:t>
            </a:r>
            <a:r>
              <a:rPr lang="en-GB" baseline="-25000"/>
              <a:t>1</a:t>
            </a:r>
            <a:r>
              <a:rPr lang="en-GB"/>
              <a:t>B</a:t>
            </a:r>
            <a:r>
              <a:rPr lang="en-GB" baseline="-25000"/>
              <a:t>0 </a:t>
            </a:r>
            <a:r>
              <a:rPr lang="en-GB"/>
              <a:t>columns of the function table</a:t>
            </a:r>
          </a:p>
          <a:p>
            <a:pPr>
              <a:buFontTx/>
              <a:buChar char="•"/>
            </a:pPr>
            <a:r>
              <a:rPr lang="en-GB"/>
              <a:t>Output A=B line is set to 1 when A=B.</a:t>
            </a:r>
          </a:p>
          <a:p>
            <a:pPr>
              <a:buFontTx/>
              <a:buChar char="•"/>
            </a:pPr>
            <a:r>
              <a:rPr lang="en-GB"/>
              <a:t>Thus for input combinations of A and B that is 00 00, 01 01, 10 10 and 11 11 the output A=B is 1 </a:t>
            </a:r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8195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485E3C-F089-4D51-93AC-DF3B5215751B}" type="slidenum">
              <a:rPr lang="en-GB"/>
              <a:pPr/>
              <a:t>23</a:t>
            </a:fld>
            <a:endParaRPr lang="en-GB"/>
          </a:p>
        </p:txBody>
      </p:sp>
      <p:sp>
        <p:nvSpPr>
          <p:cNvPr id="637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7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The function table for the output A&lt;B represents the output of the circuit logic line representing A&lt;B for 16 combinations of the 2-bit numbers A and B.</a:t>
            </a:r>
          </a:p>
          <a:p>
            <a:pPr>
              <a:buFontTx/>
              <a:buChar char="•"/>
            </a:pPr>
            <a:r>
              <a:rPr lang="en-GB"/>
              <a:t>The input numbers A and B are represented by A</a:t>
            </a:r>
            <a:r>
              <a:rPr lang="en-GB" baseline="-25000"/>
              <a:t>1</a:t>
            </a:r>
            <a:r>
              <a:rPr lang="en-GB"/>
              <a:t>A</a:t>
            </a:r>
            <a:r>
              <a:rPr lang="en-GB" baseline="-25000"/>
              <a:t>0</a:t>
            </a:r>
            <a:r>
              <a:rPr lang="en-GB"/>
              <a:t> and B</a:t>
            </a:r>
            <a:r>
              <a:rPr lang="en-GB" baseline="-25000"/>
              <a:t>1</a:t>
            </a:r>
            <a:r>
              <a:rPr lang="en-GB"/>
              <a:t>B</a:t>
            </a:r>
            <a:r>
              <a:rPr lang="en-GB" baseline="-25000"/>
              <a:t>0 </a:t>
            </a:r>
            <a:r>
              <a:rPr lang="en-GB"/>
              <a:t>columns of the function table</a:t>
            </a:r>
          </a:p>
          <a:p>
            <a:pPr>
              <a:buFontTx/>
              <a:buChar char="•"/>
            </a:pPr>
            <a:r>
              <a:rPr lang="en-GB"/>
              <a:t>Output A&lt;B line is set to 1 when A&lt;B.</a:t>
            </a:r>
          </a:p>
          <a:p>
            <a:pPr>
              <a:buFontTx/>
              <a:buChar char="•"/>
            </a:pPr>
            <a:r>
              <a:rPr lang="en-GB"/>
              <a:t>Thus for input combinations of A and B that is 00 01, 00 10, 00 11, 01 10, 01 11 and 10 11 the output A&lt;B is 1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672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D367E2-807B-4983-B6B6-DB4FA554B01C}" type="slidenum">
              <a:rPr lang="en-GB"/>
              <a:pPr/>
              <a:t>24</a:t>
            </a:fld>
            <a:endParaRPr lang="en-GB"/>
          </a:p>
        </p:txBody>
      </p:sp>
      <p:sp>
        <p:nvSpPr>
          <p:cNvPr id="640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0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Simplifying expression for A&gt;B through a 4-variable K-map yields A1B1*+A0B1*B0*+A1A0B0*</a:t>
            </a:r>
          </a:p>
          <a:p>
            <a:pPr>
              <a:buFontTx/>
              <a:buChar char="•"/>
            </a:pPr>
            <a:r>
              <a:rPr lang="en-GB"/>
              <a:t>Note that the left most column has binary values 00, 01, 11 and 10 representing A1A0</a:t>
            </a:r>
          </a:p>
          <a:p>
            <a:pPr>
              <a:buFontTx/>
              <a:buChar char="•"/>
            </a:pPr>
            <a:r>
              <a:rPr lang="en-GB"/>
              <a:t>The top row has binary values 00, 01, 11 and 10 representing B1B0</a:t>
            </a:r>
          </a:p>
          <a:p>
            <a:pPr>
              <a:buFontTx/>
              <a:buChar char="•"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675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A20742-E0AC-49B2-A042-FEDFAF9C8E3A}" type="slidenum">
              <a:rPr lang="en-GB"/>
              <a:pPr/>
              <a:t>25</a:t>
            </a:fld>
            <a:endParaRPr lang="en-GB"/>
          </a:p>
        </p:txBody>
      </p:sp>
      <p:sp>
        <p:nvSpPr>
          <p:cNvPr id="642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Simplifying expression for A=B through a 4-variable K-map yields A1*A0*B1*B0*+A1*A0B1*B0+A1A0B1B0+A1A0*B1B0*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5783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3FD9EF-D708-4824-B09A-96A9F925BB77}" type="slidenum">
              <a:rPr lang="en-GB"/>
              <a:pPr/>
              <a:t>26</a:t>
            </a:fld>
            <a:endParaRPr lang="en-GB"/>
          </a:p>
        </p:txBody>
      </p:sp>
      <p:sp>
        <p:nvSpPr>
          <p:cNvPr id="64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Simplifying expression for A&lt;B through a 4-variable K-map yields A1*B1+A1*A0*B0+A0*B1B0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9096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19519-1823-4CA1-AE86-743FB426F176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60475"/>
            <a:ext cx="8229600" cy="1143000"/>
          </a:xfrm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Digital Logic and Design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3013075"/>
            <a:ext cx="8229600" cy="3159125"/>
          </a:xfrm>
        </p:spPr>
        <p:txBody>
          <a:bodyPr/>
          <a:lstStyle/>
          <a:p>
            <a:pPr algn="ctr">
              <a:buNone/>
            </a:pPr>
            <a:r>
              <a:rPr lang="en-US" sz="2800" dirty="0"/>
              <a:t>Dr. Syed Zulqadar Hassan</a:t>
            </a:r>
          </a:p>
          <a:p>
            <a:pPr algn="ctr">
              <a:buFont typeface="Wingdings" pitchFamily="2" charset="2"/>
              <a:buNone/>
            </a:pPr>
            <a:endParaRPr lang="en-GB" sz="2800" dirty="0"/>
          </a:p>
          <a:p>
            <a:pPr algn="ctr">
              <a:buFont typeface="Wingdings" pitchFamily="2" charset="2"/>
              <a:buNone/>
            </a:pPr>
            <a:endParaRPr lang="en-GB" sz="2800" dirty="0"/>
          </a:p>
          <a:p>
            <a:pPr algn="ctr">
              <a:buFont typeface="Wingdings" pitchFamily="2" charset="2"/>
              <a:buNone/>
            </a:pPr>
            <a:r>
              <a:rPr lang="en-GB" sz="2800" dirty="0"/>
              <a:t>Lecture No. 09</a:t>
            </a:r>
          </a:p>
        </p:txBody>
      </p:sp>
    </p:spTree>
  </p:cSld>
  <p:clrMapOvr>
    <a:masterClrMapping/>
  </p:clrMapOvr>
  <p:transition advTm="328128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>
                <a:latin typeface="Arial" pitchFamily="34" charset="0"/>
                <a:cs typeface="Arial" pitchFamily="34" charset="0"/>
              </a:rPr>
              <a:t>Recap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Karnaugh Maps</a:t>
            </a:r>
          </a:p>
          <a:p>
            <a:r>
              <a:rPr lang="en-GB" dirty="0"/>
              <a:t>Mapping Standard SOP expressions</a:t>
            </a:r>
          </a:p>
          <a:p>
            <a:r>
              <a:rPr lang="en-GB" dirty="0"/>
              <a:t>Mapping Non-Standard SOP expressions</a:t>
            </a:r>
          </a:p>
          <a:p>
            <a:r>
              <a:rPr lang="en-GB" dirty="0"/>
              <a:t>Simplification of K-maps</a:t>
            </a:r>
          </a:p>
          <a:p>
            <a:r>
              <a:rPr lang="en-GB" dirty="0"/>
              <a:t>Don’t care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Functions having multiple outputs</a:t>
            </a:r>
          </a:p>
        </p:txBody>
      </p:sp>
      <p:sp>
        <p:nvSpPr>
          <p:cNvPr id="600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Ckt</a:t>
            </a:r>
            <a:r>
              <a:rPr lang="en-GB" dirty="0"/>
              <a:t> receives a BCD number input</a:t>
            </a:r>
          </a:p>
          <a:p>
            <a:r>
              <a:rPr lang="en-GB" dirty="0"/>
              <a:t>Displays decimal number 0 to 9 on a single digit 7-segment display</a:t>
            </a:r>
          </a:p>
          <a:p>
            <a:r>
              <a:rPr lang="en-GB" dirty="0" err="1"/>
              <a:t>Ckt</a:t>
            </a:r>
            <a:r>
              <a:rPr lang="en-GB" dirty="0"/>
              <a:t> receives two 2-bit numbers A and B</a:t>
            </a:r>
          </a:p>
          <a:p>
            <a:r>
              <a:rPr lang="en-GB" dirty="0"/>
              <a:t>Sets one of three outputs to &gt;, =, or &lt;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7-Segment Display</a:t>
            </a:r>
          </a:p>
        </p:txBody>
      </p:sp>
      <p:graphicFrame>
        <p:nvGraphicFramePr>
          <p:cNvPr id="601095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3351213" y="1600200"/>
          <a:ext cx="2439987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610051" imgH="6696151" progId="Visio.Drawing.11">
                  <p:embed/>
                </p:oleObj>
              </mc:Choice>
              <mc:Fallback>
                <p:oleObj name="Visio" r:id="rId3" imgW="3610051" imgH="6696151" progId="Visio.Drawing.11">
                  <p:embed/>
                  <p:pic>
                    <p:nvPicPr>
                      <p:cNvPr id="601095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1213" y="1600200"/>
                        <a:ext cx="2439987" cy="452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93" name="Rectangle 13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Function Table for Segment ‘a’</a:t>
            </a:r>
          </a:p>
        </p:txBody>
      </p:sp>
      <p:graphicFrame>
        <p:nvGraphicFramePr>
          <p:cNvPr id="604163" name="Group 3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04228" name="Group 68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340" name="Rectangle 1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Function Table for Segment ‘b’</a:t>
            </a:r>
          </a:p>
        </p:txBody>
      </p:sp>
      <p:graphicFrame>
        <p:nvGraphicFramePr>
          <p:cNvPr id="606210" name="Group 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06275" name="Group 67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388" name="Rectangle 1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Function Table for Segment ‘c’</a:t>
            </a:r>
          </a:p>
        </p:txBody>
      </p:sp>
      <p:graphicFrame>
        <p:nvGraphicFramePr>
          <p:cNvPr id="608258" name="Group 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08323" name="Group 67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436" name="Rectangle 1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Function Table for Segment ‘d’</a:t>
            </a:r>
          </a:p>
        </p:txBody>
      </p:sp>
      <p:graphicFrame>
        <p:nvGraphicFramePr>
          <p:cNvPr id="610437" name="Group 133"/>
          <p:cNvGraphicFramePr>
            <a:graphicFrameLocks noGrp="1"/>
          </p:cNvGraphicFramePr>
          <p:nvPr>
            <p:ph sz="half" idx="1"/>
          </p:nvPr>
        </p:nvGraphicFramePr>
        <p:xfrm>
          <a:off x="533400" y="2209800"/>
          <a:ext cx="3962400" cy="405574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10371" name="Group 67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484" name="Rectangle 1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Function Table for Segment ‘e’</a:t>
            </a:r>
          </a:p>
        </p:txBody>
      </p:sp>
      <p:graphicFrame>
        <p:nvGraphicFramePr>
          <p:cNvPr id="612354" name="Group 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12419" name="Group 67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e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32" name="Rectangle 1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Function Table for Segment ‘f’</a:t>
            </a:r>
          </a:p>
        </p:txBody>
      </p:sp>
      <p:graphicFrame>
        <p:nvGraphicFramePr>
          <p:cNvPr id="614402" name="Group 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14467" name="Group 67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580" name="Rectangle 1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Function Table for Segment ‘g’</a:t>
            </a:r>
          </a:p>
        </p:txBody>
      </p:sp>
      <p:graphicFrame>
        <p:nvGraphicFramePr>
          <p:cNvPr id="616450" name="Group 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g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16515" name="Group 67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g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Karnaugh Map for Segment ‘a’ </a:t>
            </a:r>
          </a:p>
        </p:txBody>
      </p:sp>
      <p:sp>
        <p:nvSpPr>
          <p:cNvPr id="620547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0548" name="Group 4"/>
          <p:cNvGraphicFramePr>
            <a:graphicFrameLocks noGrp="1"/>
          </p:cNvGraphicFramePr>
          <p:nvPr/>
        </p:nvGraphicFramePr>
        <p:xfrm>
          <a:off x="24384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0586" name="Oval 42"/>
          <p:cNvSpPr>
            <a:spLocks noChangeArrowheads="1"/>
          </p:cNvSpPr>
          <p:nvPr/>
        </p:nvSpPr>
        <p:spPr bwMode="auto">
          <a:xfrm>
            <a:off x="5029200" y="3352800"/>
            <a:ext cx="1524000" cy="2438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0587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0588" name="Object 44"/>
          <p:cNvGraphicFramePr>
            <a:graphicFrameLocks noChangeAspect="1"/>
          </p:cNvGraphicFramePr>
          <p:nvPr/>
        </p:nvGraphicFramePr>
        <p:xfrm>
          <a:off x="1060450" y="1828800"/>
          <a:ext cx="26733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215640" progId="Equation.3">
                  <p:embed/>
                </p:oleObj>
              </mc:Choice>
              <mc:Fallback>
                <p:oleObj name="Equation" r:id="rId3" imgW="1091880" imgH="215640" progId="Equation.3">
                  <p:embed/>
                  <p:pic>
                    <p:nvPicPr>
                      <p:cNvPr id="620588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450" y="1828800"/>
                        <a:ext cx="26733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0589" name="Oval 45"/>
          <p:cNvSpPr>
            <a:spLocks noChangeArrowheads="1"/>
          </p:cNvSpPr>
          <p:nvPr/>
        </p:nvSpPr>
        <p:spPr bwMode="auto">
          <a:xfrm>
            <a:off x="4267200" y="3962400"/>
            <a:ext cx="1524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0590" name="Oval 46"/>
          <p:cNvSpPr>
            <a:spLocks noChangeArrowheads="1"/>
          </p:cNvSpPr>
          <p:nvPr/>
        </p:nvSpPr>
        <p:spPr bwMode="auto">
          <a:xfrm>
            <a:off x="3352800" y="4572000"/>
            <a:ext cx="33528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0591" name="Freeform 47"/>
          <p:cNvSpPr>
            <a:spLocks/>
          </p:cNvSpPr>
          <p:nvPr/>
        </p:nvSpPr>
        <p:spPr bwMode="auto">
          <a:xfrm rot="41533151">
            <a:off x="3505200" y="34290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0592" name="Freeform 48"/>
          <p:cNvSpPr>
            <a:spLocks/>
          </p:cNvSpPr>
          <p:nvPr/>
        </p:nvSpPr>
        <p:spPr bwMode="auto">
          <a:xfrm rot="46791595">
            <a:off x="5881687" y="33385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0593" name="Freeform 49"/>
          <p:cNvSpPr>
            <a:spLocks/>
          </p:cNvSpPr>
          <p:nvPr/>
        </p:nvSpPr>
        <p:spPr bwMode="auto">
          <a:xfrm rot="57169036">
            <a:off x="3595687" y="51673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0594" name="Freeform 50"/>
          <p:cNvSpPr>
            <a:spLocks/>
          </p:cNvSpPr>
          <p:nvPr/>
        </p:nvSpPr>
        <p:spPr bwMode="auto">
          <a:xfrm rot="52312811">
            <a:off x="5943600" y="51054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Karnaugh Map for Segment ‘b’ </a:t>
            </a:r>
          </a:p>
        </p:txBody>
      </p:sp>
      <p:sp>
        <p:nvSpPr>
          <p:cNvPr id="618499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8500" name="Group 4"/>
          <p:cNvGraphicFramePr>
            <a:graphicFrameLocks noGrp="1"/>
          </p:cNvGraphicFramePr>
          <p:nvPr/>
        </p:nvGraphicFramePr>
        <p:xfrm>
          <a:off x="24384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8538" name="Oval 42"/>
          <p:cNvSpPr>
            <a:spLocks noChangeArrowheads="1"/>
          </p:cNvSpPr>
          <p:nvPr/>
        </p:nvSpPr>
        <p:spPr bwMode="auto">
          <a:xfrm>
            <a:off x="3505200" y="3352800"/>
            <a:ext cx="609600" cy="2438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8539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8540" name="Object 44"/>
          <p:cNvGraphicFramePr>
            <a:graphicFrameLocks noChangeAspect="1"/>
          </p:cNvGraphicFramePr>
          <p:nvPr/>
        </p:nvGraphicFramePr>
        <p:xfrm>
          <a:off x="1355725" y="1828800"/>
          <a:ext cx="2082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680" imgH="215640" progId="Equation.3">
                  <p:embed/>
                </p:oleObj>
              </mc:Choice>
              <mc:Fallback>
                <p:oleObj name="Equation" r:id="rId3" imgW="850680" imgH="215640" progId="Equation.3">
                  <p:embed/>
                  <p:pic>
                    <p:nvPicPr>
                      <p:cNvPr id="61854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1828800"/>
                        <a:ext cx="20828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547" name="Oval 51"/>
          <p:cNvSpPr>
            <a:spLocks noChangeArrowheads="1"/>
          </p:cNvSpPr>
          <p:nvPr/>
        </p:nvSpPr>
        <p:spPr bwMode="auto">
          <a:xfrm>
            <a:off x="5029200" y="3352800"/>
            <a:ext cx="609600" cy="2438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8548" name="Freeform 52"/>
          <p:cNvSpPr>
            <a:spLocks/>
          </p:cNvSpPr>
          <p:nvPr/>
        </p:nvSpPr>
        <p:spPr bwMode="auto">
          <a:xfrm rot="10800000">
            <a:off x="3429000" y="5105400"/>
            <a:ext cx="31242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8549" name="Freeform 53"/>
          <p:cNvSpPr>
            <a:spLocks/>
          </p:cNvSpPr>
          <p:nvPr/>
        </p:nvSpPr>
        <p:spPr bwMode="auto">
          <a:xfrm>
            <a:off x="3429000" y="3429000"/>
            <a:ext cx="3124200" cy="6096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Karnaugh Map for Segment ‘c’ </a:t>
            </a:r>
          </a:p>
        </p:txBody>
      </p:sp>
      <p:sp>
        <p:nvSpPr>
          <p:cNvPr id="622595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2596" name="Group 4"/>
          <p:cNvGraphicFramePr>
            <a:graphicFrameLocks noGrp="1"/>
          </p:cNvGraphicFramePr>
          <p:nvPr/>
        </p:nvGraphicFramePr>
        <p:xfrm>
          <a:off x="24384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2634" name="Oval 42"/>
          <p:cNvSpPr>
            <a:spLocks noChangeArrowheads="1"/>
          </p:cNvSpPr>
          <p:nvPr/>
        </p:nvSpPr>
        <p:spPr bwMode="auto">
          <a:xfrm>
            <a:off x="3581400" y="3200400"/>
            <a:ext cx="1219200" cy="2667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2635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2636" name="Object 44"/>
          <p:cNvGraphicFramePr>
            <a:graphicFrameLocks noChangeAspect="1"/>
          </p:cNvGraphicFramePr>
          <p:nvPr/>
        </p:nvGraphicFramePr>
        <p:xfrm>
          <a:off x="1619250" y="1828800"/>
          <a:ext cx="15541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34680" imgH="215640" progId="Equation.3">
                  <p:embed/>
                </p:oleObj>
              </mc:Choice>
              <mc:Fallback>
                <p:oleObj name="Equation" r:id="rId3" imgW="634680" imgH="215640" progId="Equation.3">
                  <p:embed/>
                  <p:pic>
                    <p:nvPicPr>
                      <p:cNvPr id="62263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828800"/>
                        <a:ext cx="155416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2640" name="Oval 48"/>
          <p:cNvSpPr>
            <a:spLocks noChangeArrowheads="1"/>
          </p:cNvSpPr>
          <p:nvPr/>
        </p:nvSpPr>
        <p:spPr bwMode="auto">
          <a:xfrm>
            <a:off x="4419600" y="3200400"/>
            <a:ext cx="1219200" cy="2667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2641" name="Oval 49"/>
          <p:cNvSpPr>
            <a:spLocks noChangeArrowheads="1"/>
          </p:cNvSpPr>
          <p:nvPr/>
        </p:nvSpPr>
        <p:spPr bwMode="auto">
          <a:xfrm>
            <a:off x="3352800" y="3962400"/>
            <a:ext cx="33528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Karnaugh Map for Segment ‘d’ </a:t>
            </a:r>
          </a:p>
        </p:txBody>
      </p:sp>
      <p:sp>
        <p:nvSpPr>
          <p:cNvPr id="624643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4644" name="Group 4"/>
          <p:cNvGraphicFramePr>
            <a:graphicFrameLocks noGrp="1"/>
          </p:cNvGraphicFramePr>
          <p:nvPr/>
        </p:nvGraphicFramePr>
        <p:xfrm>
          <a:off x="24384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4682" name="Oval 42"/>
          <p:cNvSpPr>
            <a:spLocks noChangeArrowheads="1"/>
          </p:cNvSpPr>
          <p:nvPr/>
        </p:nvSpPr>
        <p:spPr bwMode="auto">
          <a:xfrm>
            <a:off x="4267200" y="3962400"/>
            <a:ext cx="609600" cy="12954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4683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4684" name="Object 44"/>
          <p:cNvGraphicFramePr>
            <a:graphicFrameLocks noChangeAspect="1"/>
          </p:cNvGraphicFramePr>
          <p:nvPr/>
        </p:nvGraphicFramePr>
        <p:xfrm>
          <a:off x="838200" y="1828800"/>
          <a:ext cx="39782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25400" imgH="215640" progId="Equation.3">
                  <p:embed/>
                </p:oleObj>
              </mc:Choice>
              <mc:Fallback>
                <p:oleObj name="Equation" r:id="rId3" imgW="1625400" imgH="215640" progId="Equation.3">
                  <p:embed/>
                  <p:pic>
                    <p:nvPicPr>
                      <p:cNvPr id="624684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828800"/>
                        <a:ext cx="397827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5" name="Oval 45"/>
          <p:cNvSpPr>
            <a:spLocks noChangeArrowheads="1"/>
          </p:cNvSpPr>
          <p:nvPr/>
        </p:nvSpPr>
        <p:spPr bwMode="auto">
          <a:xfrm>
            <a:off x="5791200" y="3200400"/>
            <a:ext cx="685800" cy="2667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4687" name="Freeform 47"/>
          <p:cNvSpPr>
            <a:spLocks/>
          </p:cNvSpPr>
          <p:nvPr/>
        </p:nvSpPr>
        <p:spPr bwMode="auto">
          <a:xfrm rot="41533151">
            <a:off x="3505200" y="34290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688" name="Freeform 48"/>
          <p:cNvSpPr>
            <a:spLocks/>
          </p:cNvSpPr>
          <p:nvPr/>
        </p:nvSpPr>
        <p:spPr bwMode="auto">
          <a:xfrm rot="46791595">
            <a:off x="5881687" y="33385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689" name="Freeform 49"/>
          <p:cNvSpPr>
            <a:spLocks/>
          </p:cNvSpPr>
          <p:nvPr/>
        </p:nvSpPr>
        <p:spPr bwMode="auto">
          <a:xfrm rot="57169036">
            <a:off x="3595687" y="51673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690" name="Freeform 50"/>
          <p:cNvSpPr>
            <a:spLocks/>
          </p:cNvSpPr>
          <p:nvPr/>
        </p:nvSpPr>
        <p:spPr bwMode="auto">
          <a:xfrm rot="52312811">
            <a:off x="5943600" y="51054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691" name="Freeform 51"/>
          <p:cNvSpPr>
            <a:spLocks/>
          </p:cNvSpPr>
          <p:nvPr/>
        </p:nvSpPr>
        <p:spPr bwMode="auto">
          <a:xfrm>
            <a:off x="5105400" y="3429000"/>
            <a:ext cx="1295400" cy="4572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692" name="Freeform 52"/>
          <p:cNvSpPr>
            <a:spLocks/>
          </p:cNvSpPr>
          <p:nvPr/>
        </p:nvSpPr>
        <p:spPr bwMode="auto">
          <a:xfrm rot="10800000">
            <a:off x="5105400" y="5105400"/>
            <a:ext cx="1295400" cy="4572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693" name="Oval 53"/>
          <p:cNvSpPr>
            <a:spLocks noChangeArrowheads="1"/>
          </p:cNvSpPr>
          <p:nvPr/>
        </p:nvSpPr>
        <p:spPr bwMode="auto">
          <a:xfrm>
            <a:off x="3352800" y="4572000"/>
            <a:ext cx="33528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Karnaugh Map for Segment ‘e’ </a:t>
            </a:r>
          </a:p>
        </p:txBody>
      </p:sp>
      <p:sp>
        <p:nvSpPr>
          <p:cNvPr id="626691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6692" name="Group 4"/>
          <p:cNvGraphicFramePr>
            <a:graphicFrameLocks noGrp="1"/>
          </p:cNvGraphicFramePr>
          <p:nvPr/>
        </p:nvGraphicFramePr>
        <p:xfrm>
          <a:off x="24384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6731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6732" name="Object 44"/>
          <p:cNvGraphicFramePr>
            <a:graphicFrameLocks noChangeAspect="1"/>
          </p:cNvGraphicFramePr>
          <p:nvPr/>
        </p:nvGraphicFramePr>
        <p:xfrm>
          <a:off x="1665288" y="1828800"/>
          <a:ext cx="1460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15640" progId="Equation.3">
                  <p:embed/>
                </p:oleObj>
              </mc:Choice>
              <mc:Fallback>
                <p:oleObj name="Equation" r:id="rId3" imgW="596880" imgH="215640" progId="Equation.3">
                  <p:embed/>
                  <p:pic>
                    <p:nvPicPr>
                      <p:cNvPr id="62673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5288" y="1828800"/>
                        <a:ext cx="1460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6733" name="Oval 45"/>
          <p:cNvSpPr>
            <a:spLocks noChangeArrowheads="1"/>
          </p:cNvSpPr>
          <p:nvPr/>
        </p:nvSpPr>
        <p:spPr bwMode="auto">
          <a:xfrm>
            <a:off x="5791200" y="3200400"/>
            <a:ext cx="685800" cy="2667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6734" name="Freeform 46"/>
          <p:cNvSpPr>
            <a:spLocks/>
          </p:cNvSpPr>
          <p:nvPr/>
        </p:nvSpPr>
        <p:spPr bwMode="auto">
          <a:xfrm rot="41533151">
            <a:off x="3505200" y="34290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6735" name="Freeform 47"/>
          <p:cNvSpPr>
            <a:spLocks/>
          </p:cNvSpPr>
          <p:nvPr/>
        </p:nvSpPr>
        <p:spPr bwMode="auto">
          <a:xfrm rot="46791595">
            <a:off x="5881687" y="33385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6736" name="Freeform 48"/>
          <p:cNvSpPr>
            <a:spLocks/>
          </p:cNvSpPr>
          <p:nvPr/>
        </p:nvSpPr>
        <p:spPr bwMode="auto">
          <a:xfrm rot="57169036">
            <a:off x="3595687" y="51673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6737" name="Freeform 49"/>
          <p:cNvSpPr>
            <a:spLocks/>
          </p:cNvSpPr>
          <p:nvPr/>
        </p:nvSpPr>
        <p:spPr bwMode="auto">
          <a:xfrm rot="52312811">
            <a:off x="5943600" y="5105400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Karnaugh Map for Segment ‘f’ </a:t>
            </a:r>
          </a:p>
        </p:txBody>
      </p:sp>
      <p:sp>
        <p:nvSpPr>
          <p:cNvPr id="628739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8740" name="Group 4"/>
          <p:cNvGraphicFramePr>
            <a:graphicFrameLocks noGrp="1"/>
          </p:cNvGraphicFramePr>
          <p:nvPr/>
        </p:nvGraphicFramePr>
        <p:xfrm>
          <a:off x="24384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8778" name="Rectangle 4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8779" name="Object 43"/>
          <p:cNvGraphicFramePr>
            <a:graphicFrameLocks noChangeAspect="1"/>
          </p:cNvGraphicFramePr>
          <p:nvPr/>
        </p:nvGraphicFramePr>
        <p:xfrm>
          <a:off x="950913" y="1828800"/>
          <a:ext cx="28908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800" imgH="215640" progId="Equation.3">
                  <p:embed/>
                </p:oleObj>
              </mc:Choice>
              <mc:Fallback>
                <p:oleObj name="Equation" r:id="rId3" imgW="1180800" imgH="215640" progId="Equation.3">
                  <p:embed/>
                  <p:pic>
                    <p:nvPicPr>
                      <p:cNvPr id="628779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913" y="1828800"/>
                        <a:ext cx="2890837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8780" name="Oval 44"/>
          <p:cNvSpPr>
            <a:spLocks noChangeArrowheads="1"/>
          </p:cNvSpPr>
          <p:nvPr/>
        </p:nvSpPr>
        <p:spPr bwMode="auto">
          <a:xfrm>
            <a:off x="3505200" y="3124200"/>
            <a:ext cx="685800" cy="2667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8785" name="Oval 49"/>
          <p:cNvSpPr>
            <a:spLocks noChangeArrowheads="1"/>
          </p:cNvSpPr>
          <p:nvPr/>
        </p:nvSpPr>
        <p:spPr bwMode="auto">
          <a:xfrm>
            <a:off x="3352800" y="4572000"/>
            <a:ext cx="33528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8786" name="Freeform 50"/>
          <p:cNvSpPr>
            <a:spLocks/>
          </p:cNvSpPr>
          <p:nvPr/>
        </p:nvSpPr>
        <p:spPr bwMode="auto">
          <a:xfrm rot="5400000">
            <a:off x="5524500" y="4381500"/>
            <a:ext cx="1295400" cy="4572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8787" name="Freeform 51"/>
          <p:cNvSpPr>
            <a:spLocks/>
          </p:cNvSpPr>
          <p:nvPr/>
        </p:nvSpPr>
        <p:spPr bwMode="auto">
          <a:xfrm rot="16200000">
            <a:off x="3162300" y="4305300"/>
            <a:ext cx="1295400" cy="4572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8788" name="Oval 52"/>
          <p:cNvSpPr>
            <a:spLocks noChangeArrowheads="1"/>
          </p:cNvSpPr>
          <p:nvPr/>
        </p:nvSpPr>
        <p:spPr bwMode="auto">
          <a:xfrm>
            <a:off x="3352800" y="3962400"/>
            <a:ext cx="16002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Karnaugh Map for Segment ‘g’ </a:t>
            </a:r>
          </a:p>
        </p:txBody>
      </p:sp>
      <p:sp>
        <p:nvSpPr>
          <p:cNvPr id="630787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30788" name="Group 4"/>
          <p:cNvGraphicFramePr>
            <a:graphicFrameLocks noGrp="1"/>
          </p:cNvGraphicFramePr>
          <p:nvPr/>
        </p:nvGraphicFramePr>
        <p:xfrm>
          <a:off x="24384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AB\CD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0826" name="Rectangle 4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30827" name="Object 43"/>
          <p:cNvGraphicFramePr>
            <a:graphicFrameLocks noChangeAspect="1"/>
          </p:cNvGraphicFramePr>
          <p:nvPr/>
        </p:nvGraphicFramePr>
        <p:xfrm>
          <a:off x="935038" y="1828800"/>
          <a:ext cx="2921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3760" imgH="215640" progId="Equation.3">
                  <p:embed/>
                </p:oleObj>
              </mc:Choice>
              <mc:Fallback>
                <p:oleObj name="Equation" r:id="rId3" imgW="1193760" imgH="215640" progId="Equation.3">
                  <p:embed/>
                  <p:pic>
                    <p:nvPicPr>
                      <p:cNvPr id="630827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1828800"/>
                        <a:ext cx="29210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0828" name="Oval 44"/>
          <p:cNvSpPr>
            <a:spLocks noChangeArrowheads="1"/>
          </p:cNvSpPr>
          <p:nvPr/>
        </p:nvSpPr>
        <p:spPr bwMode="auto">
          <a:xfrm>
            <a:off x="5791200" y="3276600"/>
            <a:ext cx="685800" cy="2667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0829" name="Oval 45"/>
          <p:cNvSpPr>
            <a:spLocks noChangeArrowheads="1"/>
          </p:cNvSpPr>
          <p:nvPr/>
        </p:nvSpPr>
        <p:spPr bwMode="auto">
          <a:xfrm>
            <a:off x="3352800" y="4572000"/>
            <a:ext cx="33528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0832" name="Oval 48"/>
          <p:cNvSpPr>
            <a:spLocks noChangeArrowheads="1"/>
          </p:cNvSpPr>
          <p:nvPr/>
        </p:nvSpPr>
        <p:spPr bwMode="auto">
          <a:xfrm>
            <a:off x="3429000" y="3962400"/>
            <a:ext cx="1524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0833" name="Freeform 49"/>
          <p:cNvSpPr>
            <a:spLocks/>
          </p:cNvSpPr>
          <p:nvPr/>
        </p:nvSpPr>
        <p:spPr bwMode="auto">
          <a:xfrm rot="10800000">
            <a:off x="5105400" y="5105400"/>
            <a:ext cx="1295400" cy="4572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0834" name="Freeform 50"/>
          <p:cNvSpPr>
            <a:spLocks/>
          </p:cNvSpPr>
          <p:nvPr/>
        </p:nvSpPr>
        <p:spPr bwMode="auto">
          <a:xfrm>
            <a:off x="5105400" y="3429000"/>
            <a:ext cx="1295400" cy="457200"/>
          </a:xfrm>
          <a:custGeom>
            <a:avLst/>
            <a:gdLst/>
            <a:ahLst/>
            <a:cxnLst>
              <a:cxn ang="0">
                <a:pos x="60" y="0"/>
              </a:cxn>
              <a:cxn ang="0">
                <a:pos x="60" y="180"/>
              </a:cxn>
              <a:cxn ang="0">
                <a:pos x="420" y="360"/>
              </a:cxn>
              <a:cxn ang="0">
                <a:pos x="960" y="360"/>
              </a:cxn>
              <a:cxn ang="0">
                <a:pos x="1320" y="180"/>
              </a:cxn>
              <a:cxn ang="0">
                <a:pos x="1320" y="0"/>
              </a:cxn>
            </a:cxnLst>
            <a:rect l="0" t="0" r="r" b="b"/>
            <a:pathLst>
              <a:path w="1380" h="390">
                <a:moveTo>
                  <a:pt x="60" y="0"/>
                </a:moveTo>
                <a:cubicBezTo>
                  <a:pt x="30" y="60"/>
                  <a:pt x="0" y="120"/>
                  <a:pt x="60" y="180"/>
                </a:cubicBezTo>
                <a:cubicBezTo>
                  <a:pt x="120" y="240"/>
                  <a:pt x="270" y="330"/>
                  <a:pt x="420" y="360"/>
                </a:cubicBezTo>
                <a:cubicBezTo>
                  <a:pt x="570" y="390"/>
                  <a:pt x="810" y="390"/>
                  <a:pt x="960" y="360"/>
                </a:cubicBezTo>
                <a:cubicBezTo>
                  <a:pt x="1110" y="330"/>
                  <a:pt x="1260" y="240"/>
                  <a:pt x="1320" y="180"/>
                </a:cubicBezTo>
                <a:cubicBezTo>
                  <a:pt x="1380" y="120"/>
                  <a:pt x="1290" y="30"/>
                  <a:pt x="1320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7-Segment Circuit</a:t>
            </a:r>
          </a:p>
        </p:txBody>
      </p:sp>
      <p:graphicFrame>
        <p:nvGraphicFramePr>
          <p:cNvPr id="647177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2058988" y="2657475"/>
          <a:ext cx="5026025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026457" imgH="2411578" progId="Visio.Drawing.11">
                  <p:embed/>
                </p:oleObj>
              </mc:Choice>
              <mc:Fallback>
                <p:oleObj name="Visio" r:id="rId2" imgW="5026457" imgH="2411578" progId="Visio.Drawing.11">
                  <p:embed/>
                  <p:pic>
                    <p:nvPicPr>
                      <p:cNvPr id="647177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8988" y="2657475"/>
                        <a:ext cx="5026025" cy="241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/>
              <a:t>Comparator Circuit</a:t>
            </a:r>
          </a:p>
        </p:txBody>
      </p:sp>
      <p:sp>
        <p:nvSpPr>
          <p:cNvPr id="64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Inputs two 2-bit binary numbers A and B</a:t>
            </a:r>
          </a:p>
          <a:p>
            <a:r>
              <a:rPr lang="en-GB"/>
              <a:t>Has three outputs</a:t>
            </a:r>
          </a:p>
          <a:p>
            <a:r>
              <a:rPr lang="en-GB"/>
              <a:t>A&gt;B </a:t>
            </a:r>
          </a:p>
          <a:p>
            <a:r>
              <a:rPr lang="en-GB"/>
              <a:t>A=B</a:t>
            </a:r>
          </a:p>
          <a:p>
            <a:r>
              <a:rPr lang="en-GB"/>
              <a:t>A&lt;B</a:t>
            </a:r>
          </a:p>
        </p:txBody>
      </p:sp>
    </p:spTree>
    <p:extLst>
      <p:ext uri="{BB962C8B-B14F-4D97-AF65-F5344CB8AC3E}">
        <p14:creationId xmlns:p14="http://schemas.microsoft.com/office/powerpoint/2010/main" val="3650436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964" name="Rectangle 1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/>
              <a:t>Function Table for A&gt;B</a:t>
            </a:r>
          </a:p>
        </p:txBody>
      </p:sp>
      <p:graphicFrame>
        <p:nvGraphicFramePr>
          <p:cNvPr id="632834" name="Group 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A&gt;B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32899" name="Group 67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A&gt;B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535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012" name="Rectangle 1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>
                <a:latin typeface="Arial" pitchFamily="34" charset="0"/>
                <a:cs typeface="Arial" pitchFamily="34" charset="0"/>
              </a:rPr>
              <a:t>Function Table for A=B</a:t>
            </a:r>
          </a:p>
        </p:txBody>
      </p:sp>
      <p:graphicFrame>
        <p:nvGraphicFramePr>
          <p:cNvPr id="634882" name="Group 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A=B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34947" name="Group 67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A=B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4621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060" name="Rectangle 13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/>
              <a:t>Function Table for A&lt;B</a:t>
            </a:r>
          </a:p>
        </p:txBody>
      </p:sp>
      <p:graphicFrame>
        <p:nvGraphicFramePr>
          <p:cNvPr id="636930" name="Group 2"/>
          <p:cNvGraphicFramePr>
            <a:graphicFrameLocks noGrp="1"/>
          </p:cNvGraphicFramePr>
          <p:nvPr>
            <p:ph sz="half" idx="1"/>
          </p:nvPr>
        </p:nvGraphicFramePr>
        <p:xfrm>
          <a:off x="457200" y="2209800"/>
          <a:ext cx="4038600" cy="405574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A&lt;B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36995" name="Group 67"/>
          <p:cNvGraphicFramePr>
            <a:graphicFrameLocks noGrp="1"/>
          </p:cNvGraphicFramePr>
          <p:nvPr>
            <p:ph sz="half" idx="2"/>
          </p:nvPr>
        </p:nvGraphicFramePr>
        <p:xfrm>
          <a:off x="4648200" y="2209800"/>
          <a:ext cx="4038600" cy="404558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9425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Inputs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Output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A&lt;B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420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/>
              <a:t>Karnaugh Map for A&gt;B </a:t>
            </a:r>
          </a:p>
        </p:txBody>
      </p:sp>
      <p:sp>
        <p:nvSpPr>
          <p:cNvPr id="638979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38980" name="Group 4"/>
          <p:cNvGraphicFramePr>
            <a:graphicFrameLocks noGrp="1"/>
          </p:cNvGraphicFramePr>
          <p:nvPr/>
        </p:nvGraphicFramePr>
        <p:xfrm>
          <a:off x="24384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-2500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9018" name="Oval 42"/>
          <p:cNvSpPr>
            <a:spLocks noChangeArrowheads="1"/>
          </p:cNvSpPr>
          <p:nvPr/>
        </p:nvSpPr>
        <p:spPr bwMode="auto">
          <a:xfrm>
            <a:off x="3505200" y="3886200"/>
            <a:ext cx="609600" cy="12192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9019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39020" name="Object 44"/>
          <p:cNvGraphicFramePr>
            <a:graphicFrameLocks noChangeAspect="1"/>
          </p:cNvGraphicFramePr>
          <p:nvPr/>
        </p:nvGraphicFramePr>
        <p:xfrm>
          <a:off x="1493838" y="1704975"/>
          <a:ext cx="4165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01720" imgH="253800" progId="Equation.3">
                  <p:embed/>
                </p:oleObj>
              </mc:Choice>
              <mc:Fallback>
                <p:oleObj name="Equation" r:id="rId3" imgW="1701720" imgH="253800" progId="Equation.3">
                  <p:embed/>
                  <p:pic>
                    <p:nvPicPr>
                      <p:cNvPr id="63902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1704975"/>
                        <a:ext cx="41656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9021" name="Oval 45"/>
          <p:cNvSpPr>
            <a:spLocks noChangeArrowheads="1"/>
          </p:cNvSpPr>
          <p:nvPr/>
        </p:nvSpPr>
        <p:spPr bwMode="auto">
          <a:xfrm>
            <a:off x="3429000" y="4495800"/>
            <a:ext cx="1524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39023" name="Freeform 47"/>
          <p:cNvSpPr>
            <a:spLocks/>
          </p:cNvSpPr>
          <p:nvPr/>
        </p:nvSpPr>
        <p:spPr bwMode="auto">
          <a:xfrm rot="39080211">
            <a:off x="3519487" y="46339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9024" name="Freeform 48"/>
          <p:cNvSpPr>
            <a:spLocks/>
          </p:cNvSpPr>
          <p:nvPr/>
        </p:nvSpPr>
        <p:spPr bwMode="auto">
          <a:xfrm rot="49284653">
            <a:off x="5957887" y="4481513"/>
            <a:ext cx="512763" cy="541338"/>
          </a:xfrm>
          <a:custGeom>
            <a:avLst/>
            <a:gdLst/>
            <a:ahLst/>
            <a:cxnLst>
              <a:cxn ang="0">
                <a:pos x="720" y="0"/>
              </a:cxn>
              <a:cxn ang="0">
                <a:pos x="540" y="540"/>
              </a:cxn>
              <a:cxn ang="0">
                <a:pos x="0" y="180"/>
              </a:cxn>
            </a:cxnLst>
            <a:rect l="0" t="0" r="r" b="b"/>
            <a:pathLst>
              <a:path w="720" h="570">
                <a:moveTo>
                  <a:pt x="720" y="0"/>
                </a:moveTo>
                <a:cubicBezTo>
                  <a:pt x="690" y="255"/>
                  <a:pt x="660" y="510"/>
                  <a:pt x="540" y="540"/>
                </a:cubicBezTo>
                <a:cubicBezTo>
                  <a:pt x="420" y="570"/>
                  <a:pt x="210" y="375"/>
                  <a:pt x="0" y="18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12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/>
              <a:t>Karnaugh Map for A=B </a:t>
            </a:r>
          </a:p>
        </p:txBody>
      </p:sp>
      <p:sp>
        <p:nvSpPr>
          <p:cNvPr id="641027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1076" name="Group 52"/>
          <p:cNvGraphicFramePr>
            <a:graphicFrameLocks noGrp="1"/>
          </p:cNvGraphicFramePr>
          <p:nvPr/>
        </p:nvGraphicFramePr>
        <p:xfrm>
          <a:off x="24384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1066" name="Oval 42"/>
          <p:cNvSpPr>
            <a:spLocks noChangeArrowheads="1"/>
          </p:cNvSpPr>
          <p:nvPr/>
        </p:nvSpPr>
        <p:spPr bwMode="auto">
          <a:xfrm>
            <a:off x="3505200" y="3429000"/>
            <a:ext cx="609600" cy="609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41067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1068" name="Object 44"/>
          <p:cNvGraphicFramePr>
            <a:graphicFrameLocks noChangeAspect="1"/>
          </p:cNvGraphicFramePr>
          <p:nvPr/>
        </p:nvGraphicFramePr>
        <p:xfrm>
          <a:off x="334963" y="1704975"/>
          <a:ext cx="77422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62240" imgH="253800" progId="Equation.3">
                  <p:embed/>
                </p:oleObj>
              </mc:Choice>
              <mc:Fallback>
                <p:oleObj name="Equation" r:id="rId3" imgW="3162240" imgH="253800" progId="Equation.3">
                  <p:embed/>
                  <p:pic>
                    <p:nvPicPr>
                      <p:cNvPr id="641068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3" y="1704975"/>
                        <a:ext cx="7742237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72" name="Oval 48"/>
          <p:cNvSpPr>
            <a:spLocks noChangeArrowheads="1"/>
          </p:cNvSpPr>
          <p:nvPr/>
        </p:nvSpPr>
        <p:spPr bwMode="auto">
          <a:xfrm>
            <a:off x="4267200" y="3962400"/>
            <a:ext cx="609600" cy="609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41073" name="Oval 49"/>
          <p:cNvSpPr>
            <a:spLocks noChangeArrowheads="1"/>
          </p:cNvSpPr>
          <p:nvPr/>
        </p:nvSpPr>
        <p:spPr bwMode="auto">
          <a:xfrm>
            <a:off x="5105400" y="4495800"/>
            <a:ext cx="609600" cy="609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41074" name="Oval 50"/>
          <p:cNvSpPr>
            <a:spLocks noChangeArrowheads="1"/>
          </p:cNvSpPr>
          <p:nvPr/>
        </p:nvSpPr>
        <p:spPr bwMode="auto">
          <a:xfrm>
            <a:off x="5867400" y="5105400"/>
            <a:ext cx="609600" cy="609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03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sz="3800" b="0"/>
              <a:t>Karnaugh Map for A&lt;B </a:t>
            </a:r>
          </a:p>
        </p:txBody>
      </p:sp>
      <p:sp>
        <p:nvSpPr>
          <p:cNvPr id="643075" name="Rectangle 3"/>
          <p:cNvSpPr>
            <a:spLocks noChangeArrowheads="1"/>
          </p:cNvSpPr>
          <p:nvPr/>
        </p:nvSpPr>
        <p:spPr bwMode="auto">
          <a:xfrm>
            <a:off x="1781175" y="2701925"/>
            <a:ext cx="384175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3125" name="Group 53"/>
          <p:cNvGraphicFramePr>
            <a:graphicFrameLocks noGrp="1"/>
          </p:cNvGraphicFramePr>
          <p:nvPr/>
        </p:nvGraphicFramePr>
        <p:xfrm>
          <a:off x="2438400" y="2590800"/>
          <a:ext cx="4114800" cy="312420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B</a:t>
                      </a:r>
                      <a:r>
                        <a:rPr kumimoji="0" lang="en-GB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rgbClr val="999999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99999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GB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3115" name="Rectangle 4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3116" name="Object 44"/>
          <p:cNvGraphicFramePr>
            <a:graphicFrameLocks noChangeAspect="1"/>
          </p:cNvGraphicFramePr>
          <p:nvPr/>
        </p:nvGraphicFramePr>
        <p:xfrm>
          <a:off x="2185988" y="1704975"/>
          <a:ext cx="404018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0960" imgH="253800" progId="Equation.3">
                  <p:embed/>
                </p:oleObj>
              </mc:Choice>
              <mc:Fallback>
                <p:oleObj name="Equation" r:id="rId3" imgW="1650960" imgH="253800" progId="Equation.3">
                  <p:embed/>
                  <p:pic>
                    <p:nvPicPr>
                      <p:cNvPr id="64311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1704975"/>
                        <a:ext cx="4040187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3120" name="Oval 48"/>
          <p:cNvSpPr>
            <a:spLocks noChangeArrowheads="1"/>
          </p:cNvSpPr>
          <p:nvPr/>
        </p:nvSpPr>
        <p:spPr bwMode="auto">
          <a:xfrm>
            <a:off x="5029200" y="3352800"/>
            <a:ext cx="1524000" cy="11430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43121" name="Oval 49"/>
          <p:cNvSpPr>
            <a:spLocks noChangeArrowheads="1"/>
          </p:cNvSpPr>
          <p:nvPr/>
        </p:nvSpPr>
        <p:spPr bwMode="auto">
          <a:xfrm>
            <a:off x="4267200" y="3352800"/>
            <a:ext cx="1371600" cy="6096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43122" name="Freeform 50"/>
          <p:cNvSpPr>
            <a:spLocks/>
          </p:cNvSpPr>
          <p:nvPr/>
        </p:nvSpPr>
        <p:spPr bwMode="auto">
          <a:xfrm>
            <a:off x="5105400" y="34290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43123" name="Freeform 51"/>
          <p:cNvSpPr>
            <a:spLocks/>
          </p:cNvSpPr>
          <p:nvPr/>
        </p:nvSpPr>
        <p:spPr bwMode="auto">
          <a:xfrm rot="10800000">
            <a:off x="5105400" y="5181600"/>
            <a:ext cx="457200" cy="457200"/>
          </a:xfrm>
          <a:custGeom>
            <a:avLst/>
            <a:gdLst/>
            <a:ahLst/>
            <a:cxnLst>
              <a:cxn ang="0">
                <a:pos x="30" y="0"/>
              </a:cxn>
              <a:cxn ang="0">
                <a:pos x="30" y="180"/>
              </a:cxn>
              <a:cxn ang="0">
                <a:pos x="210" y="360"/>
              </a:cxn>
              <a:cxn ang="0">
                <a:pos x="390" y="180"/>
              </a:cxn>
              <a:cxn ang="0">
                <a:pos x="390" y="0"/>
              </a:cxn>
            </a:cxnLst>
            <a:rect l="0" t="0" r="r" b="b"/>
            <a:pathLst>
              <a:path w="420" h="360">
                <a:moveTo>
                  <a:pt x="30" y="0"/>
                </a:moveTo>
                <a:cubicBezTo>
                  <a:pt x="15" y="60"/>
                  <a:pt x="0" y="120"/>
                  <a:pt x="30" y="180"/>
                </a:cubicBezTo>
                <a:cubicBezTo>
                  <a:pt x="60" y="240"/>
                  <a:pt x="150" y="360"/>
                  <a:pt x="210" y="360"/>
                </a:cubicBezTo>
                <a:cubicBezTo>
                  <a:pt x="270" y="360"/>
                  <a:pt x="360" y="240"/>
                  <a:pt x="390" y="180"/>
                </a:cubicBezTo>
                <a:cubicBezTo>
                  <a:pt x="420" y="120"/>
                  <a:pt x="405" y="60"/>
                  <a:pt x="39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58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/>
              <a:t>Odd Prime Number Circuit </a:t>
            </a:r>
          </a:p>
        </p:txBody>
      </p:sp>
      <p:sp>
        <p:nvSpPr>
          <p:cNvPr id="69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Circuit detects odd prime numbers for a 4-bit input number</a:t>
            </a:r>
          </a:p>
          <a:p>
            <a:r>
              <a:rPr lang="en-GB" dirty="0"/>
              <a:t>Function represented by </a:t>
            </a:r>
            <a:r>
              <a:rPr lang="en-GB" dirty="0" err="1"/>
              <a:t>minterms</a:t>
            </a:r>
            <a:endParaRPr lang="en-GB" dirty="0"/>
          </a:p>
          <a:p>
            <a:pPr>
              <a:buFont typeface="Wingdings" pitchFamily="2" charset="2"/>
              <a:buNone/>
            </a:pPr>
            <a:r>
              <a:rPr lang="en-GB" dirty="0"/>
              <a:t>	1, 3, 5, 7, 11, 12 and 13</a:t>
            </a:r>
          </a:p>
        </p:txBody>
      </p:sp>
    </p:spTree>
    <p:extLst>
      <p:ext uri="{BB962C8B-B14F-4D97-AF65-F5344CB8AC3E}">
        <p14:creationId xmlns:p14="http://schemas.microsoft.com/office/powerpoint/2010/main" val="3918080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14967</TotalTime>
  <Words>2229</Words>
  <Application>Microsoft Office PowerPoint</Application>
  <PresentationFormat>On-screen Show (4:3)</PresentationFormat>
  <Paragraphs>1303</Paragraphs>
  <Slides>27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Wingdings</vt:lpstr>
      <vt:lpstr>Office Theme</vt:lpstr>
      <vt:lpstr>Visio</vt:lpstr>
      <vt:lpstr>Equation</vt:lpstr>
      <vt:lpstr>Digital Logic and Design</vt:lpstr>
      <vt:lpstr>Recap</vt:lpstr>
      <vt:lpstr>Functions having multiple outputs</vt:lpstr>
      <vt:lpstr>7-Segment Display</vt:lpstr>
      <vt:lpstr>Function Table for Segment ‘a’</vt:lpstr>
      <vt:lpstr>Function Table for Segment ‘b’</vt:lpstr>
      <vt:lpstr>Function Table for Segment ‘c’</vt:lpstr>
      <vt:lpstr>Function Table for Segment ‘d’</vt:lpstr>
      <vt:lpstr>Function Table for Segment ‘e’</vt:lpstr>
      <vt:lpstr>Function Table for Segment ‘f’</vt:lpstr>
      <vt:lpstr>Function Table for Segment ‘g’</vt:lpstr>
      <vt:lpstr>Karnaugh Map for Segment ‘a’ </vt:lpstr>
      <vt:lpstr>Karnaugh Map for Segment ‘b’ </vt:lpstr>
      <vt:lpstr>Karnaugh Map for Segment ‘c’ </vt:lpstr>
      <vt:lpstr>Karnaugh Map for Segment ‘d’ </vt:lpstr>
      <vt:lpstr>Karnaugh Map for Segment ‘e’ </vt:lpstr>
      <vt:lpstr>Karnaugh Map for Segment ‘f’ </vt:lpstr>
      <vt:lpstr>Karnaugh Map for Segment ‘g’ </vt:lpstr>
      <vt:lpstr>7-Segment Circuit</vt:lpstr>
      <vt:lpstr>Comparator Circuit</vt:lpstr>
      <vt:lpstr>Function Table for A&gt;B</vt:lpstr>
      <vt:lpstr>Function Table for A=B</vt:lpstr>
      <vt:lpstr>Function Table for A&lt;B</vt:lpstr>
      <vt:lpstr>Karnaugh Map for A&gt;B </vt:lpstr>
      <vt:lpstr>Karnaugh Map for A=B </vt:lpstr>
      <vt:lpstr>Karnaugh Map for A&lt;B </vt:lpstr>
      <vt:lpstr>Odd Prime Number Circuit </vt:lpstr>
    </vt:vector>
  </TitlesOfParts>
  <Company>NU_FAST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No. 1</dc:title>
  <dc:creator>waseem</dc:creator>
  <cp:lastModifiedBy>Syed Zulqadar Hassan</cp:lastModifiedBy>
  <cp:revision>515</cp:revision>
  <dcterms:created xsi:type="dcterms:W3CDTF">2003-07-15T08:28:34Z</dcterms:created>
  <dcterms:modified xsi:type="dcterms:W3CDTF">2025-04-23T18:09:39Z</dcterms:modified>
</cp:coreProperties>
</file>
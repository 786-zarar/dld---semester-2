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43"/>
  </p:notesMasterIdLst>
  <p:handoutMasterIdLst>
    <p:handoutMasterId r:id="rId44"/>
  </p:handoutMasterIdLst>
  <p:sldIdLst>
    <p:sldId id="330" r:id="rId2"/>
    <p:sldId id="257" r:id="rId3"/>
    <p:sldId id="258" r:id="rId4"/>
    <p:sldId id="279" r:id="rId5"/>
    <p:sldId id="366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81" r:id="rId15"/>
    <p:sldId id="268" r:id="rId16"/>
    <p:sldId id="269" r:id="rId17"/>
    <p:sldId id="270" r:id="rId18"/>
    <p:sldId id="368" r:id="rId19"/>
    <p:sldId id="283" r:id="rId20"/>
    <p:sldId id="369" r:id="rId21"/>
    <p:sldId id="370" r:id="rId22"/>
    <p:sldId id="371" r:id="rId23"/>
    <p:sldId id="372" r:id="rId24"/>
    <p:sldId id="286" r:id="rId25"/>
    <p:sldId id="287" r:id="rId26"/>
    <p:sldId id="288" r:id="rId27"/>
    <p:sldId id="289" r:id="rId28"/>
    <p:sldId id="290" r:id="rId29"/>
    <p:sldId id="291" r:id="rId30"/>
    <p:sldId id="293" r:id="rId31"/>
    <p:sldId id="292" r:id="rId32"/>
    <p:sldId id="294" r:id="rId33"/>
    <p:sldId id="373" r:id="rId34"/>
    <p:sldId id="374" r:id="rId35"/>
    <p:sldId id="375" r:id="rId36"/>
    <p:sldId id="376" r:id="rId37"/>
    <p:sldId id="377" r:id="rId38"/>
    <p:sldId id="378" r:id="rId39"/>
    <p:sldId id="379" r:id="rId40"/>
    <p:sldId id="380" r:id="rId41"/>
    <p:sldId id="367" r:id="rId42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3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3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3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3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3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000000"/>
    <a:srgbClr val="FF0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5" autoAdjust="0"/>
    <p:restoredTop sz="77460" autoAdjust="0"/>
  </p:normalViewPr>
  <p:slideViewPr>
    <p:cSldViewPr>
      <p:cViewPr varScale="1">
        <p:scale>
          <a:sx n="60" d="100"/>
          <a:sy n="60" d="100"/>
        </p:scale>
        <p:origin x="2074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84"/>
    </p:cViewPr>
  </p:sorterViewPr>
  <p:notesViewPr>
    <p:cSldViewPr>
      <p:cViewPr varScale="1">
        <p:scale>
          <a:sx n="55" d="100"/>
          <a:sy n="55" d="100"/>
        </p:scale>
        <p:origin x="-185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 Zulqadar Hassan" userId="bb151c9adcbd665f" providerId="LiveId" clId="{30B54E3C-27E2-4E90-9F02-CC0EAF8CC220}"/>
    <pc:docChg chg="modSld">
      <pc:chgData name="Syed Zulqadar Hassan" userId="bb151c9adcbd665f" providerId="LiveId" clId="{30B54E3C-27E2-4E90-9F02-CC0EAF8CC220}" dt="2025-03-23T17:39:12.096" v="11" actId="20577"/>
      <pc:docMkLst>
        <pc:docMk/>
      </pc:docMkLst>
      <pc:sldChg chg="modSp mod">
        <pc:chgData name="Syed Zulqadar Hassan" userId="bb151c9adcbd665f" providerId="LiveId" clId="{30B54E3C-27E2-4E90-9F02-CC0EAF8CC220}" dt="2025-03-23T17:39:12.096" v="11" actId="20577"/>
        <pc:sldMkLst>
          <pc:docMk/>
          <pc:sldMk cId="0" sldId="330"/>
        </pc:sldMkLst>
        <pc:spChg chg="mod">
          <ac:chgData name="Syed Zulqadar Hassan" userId="bb151c9adcbd665f" providerId="LiveId" clId="{30B54E3C-27E2-4E90-9F02-CC0EAF8CC220}" dt="2025-03-23T17:39:12.096" v="11" actId="20577"/>
          <ac:spMkLst>
            <pc:docMk/>
            <pc:sldMk cId="0" sldId="330"/>
            <ac:spMk id="7170" creationId="{04E30F4A-CC0F-4D1E-A22A-E41543131F7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>
            <a:extLst>
              <a:ext uri="{FF2B5EF4-FFF2-40B4-BE49-F238E27FC236}">
                <a16:creationId xmlns:a16="http://schemas.microsoft.com/office/drawing/2014/main" id="{5A3B3834-2E5E-4B07-B4EE-04CA1E6BCBF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0771" name="Rectangle 3">
            <a:extLst>
              <a:ext uri="{FF2B5EF4-FFF2-40B4-BE49-F238E27FC236}">
                <a16:creationId xmlns:a16="http://schemas.microsoft.com/office/drawing/2014/main" id="{25F9CC85-005E-4180-8210-562812715B2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0772" name="Rectangle 4">
            <a:extLst>
              <a:ext uri="{FF2B5EF4-FFF2-40B4-BE49-F238E27FC236}">
                <a16:creationId xmlns:a16="http://schemas.microsoft.com/office/drawing/2014/main" id="{36E8F147-6304-4CAF-BB48-C127F078A9D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0773" name="Rectangle 5">
            <a:extLst>
              <a:ext uri="{FF2B5EF4-FFF2-40B4-BE49-F238E27FC236}">
                <a16:creationId xmlns:a16="http://schemas.microsoft.com/office/drawing/2014/main" id="{2DE1E1E8-A378-410C-8846-2656D1B1946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CBCC80F1-4FC9-4842-BD6F-C562007030F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E4EBB1D-3B77-4550-83A8-FF8C78811D0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F76C1B67-587F-4493-9A3A-B3426123AD9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9AA271F4-6041-4384-82DB-C5DA7583110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EE840640-45D5-4AD3-B1AA-37DFD0A27D0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EC17F3A6-8825-48F3-AD20-CE09A250840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9C8DE8C2-95B8-40C6-96B9-90A5F9D85A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3B2FBD40-41F0-423B-92D1-12B41668136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16E99BF9-8512-40B4-9531-932CC94471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B34E034-70FC-4FF6-B64D-C49F626C994A}" type="slidenum">
              <a:rPr lang="en-GB" altLang="en-US"/>
              <a:pPr>
                <a:spcBef>
                  <a:spcPct val="0"/>
                </a:spcBef>
              </a:pPr>
              <a:t>1</a:t>
            </a:fld>
            <a:endParaRPr lang="en-GB" altLang="en-US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0C3045EC-26A8-4A47-8CCF-3F0932B56C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539CAC7C-1613-4672-912E-BD8BA5CFA3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98314A0-1561-47AD-A99D-F00A704D393C}" type="slidenum">
              <a:rPr lang="en-GB"/>
              <a:pPr/>
              <a:t>2</a:t>
            </a:fld>
            <a:endParaRPr lang="en-GB"/>
          </a:p>
        </p:txBody>
      </p:sp>
      <p:sp>
        <p:nvSpPr>
          <p:cNvPr id="437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7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Variable: A variable is a symbol usually an uppercase letter used to represent a logical quantity. </a:t>
            </a:r>
          </a:p>
          <a:p>
            <a:r>
              <a:rPr lang="en-GB"/>
              <a:t>	A variable can have a 0 or 1 value.</a:t>
            </a:r>
          </a:p>
          <a:p>
            <a:pPr>
              <a:buFontTx/>
              <a:buChar char="•"/>
            </a:pPr>
            <a:r>
              <a:rPr lang="en-GB"/>
              <a:t>Complement: A complement is the inverse of a variable and is indicated by a bar over the variable. </a:t>
            </a:r>
          </a:p>
          <a:p>
            <a:r>
              <a:rPr lang="en-GB"/>
              <a:t>	Complement of variable X is X* </a:t>
            </a:r>
          </a:p>
          <a:p>
            <a:r>
              <a:rPr lang="en-GB"/>
              <a:t>	If X = 0 then X*= 1 and if X = 1 then X*= 0</a:t>
            </a:r>
          </a:p>
          <a:p>
            <a:pPr>
              <a:buFontTx/>
              <a:buChar char="•"/>
            </a:pPr>
            <a:r>
              <a:rPr lang="en-GB"/>
              <a:t>Literal: A Literal is a variable or the complement of a variable. X and X* are literals</a:t>
            </a:r>
          </a:p>
        </p:txBody>
      </p:sp>
    </p:spTree>
    <p:extLst>
      <p:ext uri="{BB962C8B-B14F-4D97-AF65-F5344CB8AC3E}">
        <p14:creationId xmlns:p14="http://schemas.microsoft.com/office/powerpoint/2010/main" val="2371831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B13E76-A9FF-4871-9EA1-EF29F3F011BB}" type="slidenum">
              <a:rPr lang="en-GB"/>
              <a:pPr/>
              <a:t>4</a:t>
            </a:fld>
            <a:endParaRPr lang="en-GB"/>
          </a:p>
        </p:txBody>
      </p:sp>
      <p:sp>
        <p:nvSpPr>
          <p:cNvPr id="440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Sum term is described as sum of literals</a:t>
            </a:r>
          </a:p>
        </p:txBody>
      </p:sp>
    </p:spTree>
    <p:extLst>
      <p:ext uri="{BB962C8B-B14F-4D97-AF65-F5344CB8AC3E}">
        <p14:creationId xmlns:p14="http://schemas.microsoft.com/office/powerpoint/2010/main" val="38107133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A1AC31-DAF7-4C06-A91E-240A5E230C57}" type="slidenum">
              <a:rPr lang="en-GB"/>
              <a:pPr/>
              <a:t>5</a:t>
            </a:fld>
            <a:endParaRPr lang="en-GB"/>
          </a:p>
        </p:txBody>
      </p:sp>
      <p:sp>
        <p:nvSpPr>
          <p:cNvPr id="441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1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Product term is described as product of literals</a:t>
            </a:r>
          </a:p>
        </p:txBody>
      </p:sp>
    </p:spTree>
    <p:extLst>
      <p:ext uri="{BB962C8B-B14F-4D97-AF65-F5344CB8AC3E}">
        <p14:creationId xmlns:p14="http://schemas.microsoft.com/office/powerpoint/2010/main" val="7594476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19A88F8-0C52-41A6-B519-82942541246B}" type="slidenum">
              <a:rPr lang="en-GB"/>
              <a:pPr/>
              <a:t>6</a:t>
            </a:fld>
            <a:endParaRPr lang="en-GB"/>
          </a:p>
        </p:txBody>
      </p:sp>
      <p:sp>
        <p:nvSpPr>
          <p:cNvPr id="401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1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590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3C9493-C7D4-42EB-A9D5-0DD96A0F7ED0}" type="slidenum">
              <a:rPr lang="en-GB"/>
              <a:pPr/>
              <a:t>7</a:t>
            </a:fld>
            <a:endParaRPr lang="en-GB"/>
          </a:p>
        </p:txBody>
      </p:sp>
      <p:sp>
        <p:nvSpPr>
          <p:cNvPr id="442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2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/>
              <a:t>The basic laws of Boolean Algebra are the same as ordinary algebra and hold true for any number of variables</a:t>
            </a:r>
            <a:r>
              <a:rPr lang="en-GB"/>
              <a:t> 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01400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5D98C2-F7A9-4964-943C-6F8AFCFE7CD9}" type="slidenum">
              <a:rPr lang="en-GB"/>
              <a:pPr/>
              <a:t>8</a:t>
            </a:fld>
            <a:endParaRPr lang="en-GB"/>
          </a:p>
        </p:txBody>
      </p:sp>
      <p:sp>
        <p:nvSpPr>
          <p:cNvPr id="452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2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The sum term B OR C Ored with A is the same as sum term A OR B Ored with C </a:t>
            </a:r>
          </a:p>
        </p:txBody>
      </p:sp>
    </p:spTree>
    <p:extLst>
      <p:ext uri="{BB962C8B-B14F-4D97-AF65-F5344CB8AC3E}">
        <p14:creationId xmlns:p14="http://schemas.microsoft.com/office/powerpoint/2010/main" val="119112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3C0E59-1D2B-4E6C-8A16-1B7AA767E305}" type="slidenum">
              <a:rPr lang="en-GB"/>
              <a:pPr/>
              <a:t>9</a:t>
            </a:fld>
            <a:endParaRPr lang="en-GB"/>
          </a:p>
        </p:txBody>
      </p:sp>
      <p:sp>
        <p:nvSpPr>
          <p:cNvPr id="453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3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The product term BC Anded with A is the same as AB Anded with C</a:t>
            </a:r>
          </a:p>
        </p:txBody>
      </p:sp>
    </p:spTree>
    <p:extLst>
      <p:ext uri="{BB962C8B-B14F-4D97-AF65-F5344CB8AC3E}">
        <p14:creationId xmlns:p14="http://schemas.microsoft.com/office/powerpoint/2010/main" val="30359085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10352E-6012-44AC-B794-09D73E77324C}" type="slidenum">
              <a:rPr lang="en-GB"/>
              <a:pPr/>
              <a:t>11</a:t>
            </a:fld>
            <a:endParaRPr lang="en-GB"/>
          </a:p>
        </p:txBody>
      </p:sp>
      <p:sp>
        <p:nvSpPr>
          <p:cNvPr id="454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4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 dirty="0"/>
              <a:t>A+A*B = A(B+1)+A*B	using rule 2</a:t>
            </a:r>
          </a:p>
          <a:p>
            <a:r>
              <a:rPr lang="en-GB" dirty="0"/>
              <a:t>	=AB+A+A*B</a:t>
            </a:r>
          </a:p>
          <a:p>
            <a:r>
              <a:rPr lang="en-GB" dirty="0"/>
              <a:t>	=A+AB+A*B</a:t>
            </a:r>
          </a:p>
          <a:p>
            <a:r>
              <a:rPr lang="en-GB" dirty="0"/>
              <a:t>	= A+B</a:t>
            </a:r>
          </a:p>
          <a:p>
            <a:pPr>
              <a:buFontTx/>
              <a:buChar char="•"/>
            </a:pPr>
            <a:r>
              <a:rPr lang="en-GB" dirty="0"/>
              <a:t>(A+B)(A+C) = A+AC+AB+BC</a:t>
            </a:r>
          </a:p>
          <a:p>
            <a:r>
              <a:rPr lang="en-GB" dirty="0"/>
              <a:t>	=A+BC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08757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1350F3D-59DD-4FD0-AB54-C99009449A42}" type="slidenum">
              <a:rPr lang="en-GB"/>
              <a:pPr/>
              <a:t>12</a:t>
            </a:fld>
            <a:endParaRPr lang="en-GB"/>
          </a:p>
        </p:txBody>
      </p:sp>
      <p:sp>
        <p:nvSpPr>
          <p:cNvPr id="410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Demorgan’s First Theorem states: The complement of a product of variables is equal to the sum of the complements of the variables.</a:t>
            </a:r>
          </a:p>
          <a:p>
            <a:pPr>
              <a:buFontTx/>
              <a:buChar char="•"/>
            </a:pPr>
            <a:r>
              <a:rPr lang="en-US"/>
              <a:t>Demorgan;s Second Theorem states: The complement of sum of variables is equal to the product of the complements of the variables</a:t>
            </a:r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981966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1CD4D4-CC81-42ED-84C3-8955C7726878}" type="slidenum">
              <a:rPr lang="en-GB"/>
              <a:pPr/>
              <a:t>13</a:t>
            </a:fld>
            <a:endParaRPr lang="en-GB"/>
          </a:p>
        </p:txBody>
      </p:sp>
      <p:sp>
        <p:nvSpPr>
          <p:cNvPr id="412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2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Demorgan’s Theorems can be applied to expressions having any number of variables</a:t>
            </a:r>
          </a:p>
          <a:p>
            <a:pPr>
              <a:buFontTx/>
              <a:buChar char="•"/>
            </a:pPr>
            <a:r>
              <a:rPr lang="en-GB"/>
              <a:t>Demorgan’s Theorem can be applied to a combination of other variables</a:t>
            </a:r>
          </a:p>
        </p:txBody>
      </p:sp>
    </p:spTree>
    <p:extLst>
      <p:ext uri="{BB962C8B-B14F-4D97-AF65-F5344CB8AC3E}">
        <p14:creationId xmlns:p14="http://schemas.microsoft.com/office/powerpoint/2010/main" val="18984863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F0FC64-9244-4E3D-A643-8E80992F1939}" type="slidenum">
              <a:rPr lang="en-GB"/>
              <a:pPr/>
              <a:t>14</a:t>
            </a:fld>
            <a:endParaRPr lang="en-GB"/>
          </a:p>
        </p:txBody>
      </p:sp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Boolean algebra provides a concise way to represent the operation of a logic circuit.</a:t>
            </a:r>
          </a:p>
          <a:p>
            <a:pPr>
              <a:buFontTx/>
              <a:buChar char="•"/>
            </a:pPr>
            <a:r>
              <a:rPr lang="en-GB"/>
              <a:t>The complete function of the logic circuit can be determined by evaluating the Boolean expression using different input combinations.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13472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DC12F6-E1D0-4510-A4E7-B36D100545DD}" type="slidenum">
              <a:rPr lang="en-GB"/>
              <a:pPr/>
              <a:t>15</a:t>
            </a:fld>
            <a:endParaRPr lang="en-GB"/>
          </a:p>
        </p:txBody>
      </p:sp>
      <p:sp>
        <p:nvSpPr>
          <p:cNvPr id="443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3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3935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4F04AF-6ED7-432A-BF7D-35DE1469F0B2}" type="slidenum">
              <a:rPr lang="en-GB"/>
              <a:pPr/>
              <a:t>17</a:t>
            </a:fld>
            <a:endParaRPr lang="en-GB"/>
          </a:p>
        </p:txBody>
      </p:sp>
      <p:sp>
        <p:nvSpPr>
          <p:cNvPr id="418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8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3484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BCB7EB-69C7-4E8D-9DD6-2696C516BC76}" type="slidenum">
              <a:rPr lang="en-GB"/>
              <a:pPr/>
              <a:t>19</a:t>
            </a:fld>
            <a:endParaRPr lang="en-GB"/>
          </a:p>
        </p:txBody>
      </p:sp>
      <p:sp>
        <p:nvSpPr>
          <p:cNvPr id="449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9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dirty="0"/>
              <a:t>Sum-of-Product (SOP) form: When two or more product terms are summed by Boolean addition, the result is a Sum-of-Product or SOP expression</a:t>
            </a:r>
            <a:r>
              <a:rPr lang="en-GB" dirty="0"/>
              <a:t> </a:t>
            </a:r>
          </a:p>
          <a:p>
            <a:pPr>
              <a:buFontTx/>
              <a:buChar char="•"/>
            </a:pPr>
            <a:r>
              <a:rPr lang="en-US" dirty="0"/>
              <a:t>Product-of-Sum (POS) form: When two or more sum terms are multiplied by Boolean multiplication, the result is a Product-of-Sum or POS expression</a:t>
            </a:r>
            <a:r>
              <a:rPr lang="en-GB" dirty="0"/>
              <a:t> </a:t>
            </a:r>
          </a:p>
          <a:p>
            <a:pPr>
              <a:buFontTx/>
              <a:buChar char="•"/>
            </a:pPr>
            <a:r>
              <a:rPr lang="en-GB" dirty="0"/>
              <a:t>The Domain of an SOP and POS expression is the set of variables contained in the expression, both complemented and un-complemented. </a:t>
            </a:r>
          </a:p>
          <a:p>
            <a:pPr>
              <a:buFontTx/>
              <a:buChar char="•"/>
            </a:pPr>
            <a:r>
              <a:rPr lang="en-GB" dirty="0"/>
              <a:t>A SOP and POS expression can have a single variable term such as A</a:t>
            </a:r>
          </a:p>
          <a:p>
            <a:pPr>
              <a:buFontTx/>
              <a:buChar char="•"/>
            </a:pPr>
            <a:r>
              <a:rPr lang="en-GB" dirty="0"/>
              <a:t>A SOP and POS expression can not have a term of more than one variable having an over bar extending over the entire term.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27301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5F1F86-9295-43BE-ABE0-BBC635827629}" type="slidenum">
              <a:rPr lang="en-GB"/>
              <a:pPr/>
              <a:t>20</a:t>
            </a:fld>
            <a:endParaRPr lang="en-GB"/>
          </a:p>
        </p:txBody>
      </p:sp>
      <p:sp>
        <p:nvSpPr>
          <p:cNvPr id="421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1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0675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B06CB3-056D-4653-AED1-F6B8534345B8}" type="slidenum">
              <a:rPr lang="en-GB"/>
              <a:pPr/>
              <a:t>23</a:t>
            </a:fld>
            <a:endParaRPr lang="en-GB"/>
          </a:p>
        </p:txBody>
      </p:sp>
      <p:sp>
        <p:nvSpPr>
          <p:cNvPr id="425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5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Any logical expression can be converted into SOP form by applying techniques of Boolean Algebra</a:t>
            </a:r>
          </a:p>
        </p:txBody>
      </p:sp>
    </p:spTree>
    <p:extLst>
      <p:ext uri="{BB962C8B-B14F-4D97-AF65-F5344CB8AC3E}">
        <p14:creationId xmlns:p14="http://schemas.microsoft.com/office/powerpoint/2010/main" val="38764021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46AA42-7846-4DFE-A4E3-87E5DF97FA60}" type="slidenum">
              <a:rPr lang="en-GB"/>
              <a:pPr/>
              <a:t>25</a:t>
            </a:fld>
            <a:endParaRPr lang="en-GB"/>
          </a:p>
        </p:txBody>
      </p:sp>
      <p:sp>
        <p:nvSpPr>
          <p:cNvPr id="460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 dirty="0"/>
              <a:t>Consider the logic circuit comprising of NOT gates, AND gates, NAND gate and NOR gate.</a:t>
            </a:r>
          </a:p>
          <a:p>
            <a:pPr>
              <a:buFontTx/>
              <a:buChar char="•"/>
            </a:pPr>
            <a:r>
              <a:rPr lang="en-GB" dirty="0"/>
              <a:t>The circuit can be represented by a Boolean Expression</a:t>
            </a:r>
          </a:p>
          <a:p>
            <a:pPr>
              <a:buFontTx/>
              <a:buChar char="•"/>
            </a:pPr>
            <a:r>
              <a:rPr lang="en-GB" dirty="0"/>
              <a:t>Let us define the Boolean expression that represents the Logic circuit.</a:t>
            </a:r>
          </a:p>
          <a:p>
            <a:pPr>
              <a:buFontTx/>
              <a:buChar char="•"/>
            </a:pPr>
            <a:r>
              <a:rPr lang="en-GB" dirty="0"/>
              <a:t>Starting from the left hand side of the circuit</a:t>
            </a:r>
          </a:p>
          <a:p>
            <a:pPr>
              <a:buFontTx/>
              <a:buChar char="•"/>
            </a:pPr>
            <a:r>
              <a:rPr lang="en-GB" dirty="0"/>
              <a:t>Output of NOT gate 1 is B*</a:t>
            </a:r>
          </a:p>
          <a:p>
            <a:pPr>
              <a:buFontTx/>
              <a:buChar char="•"/>
            </a:pPr>
            <a:r>
              <a:rPr lang="en-GB" dirty="0"/>
              <a:t>Output of NOT gate 2 is A*</a:t>
            </a:r>
          </a:p>
          <a:p>
            <a:pPr>
              <a:buFontTx/>
              <a:buChar char="•"/>
            </a:pPr>
            <a:r>
              <a:rPr lang="en-GB" dirty="0"/>
              <a:t>Output of two input AND gate 3 is AB* </a:t>
            </a:r>
          </a:p>
          <a:p>
            <a:pPr>
              <a:buFontTx/>
              <a:buChar char="•"/>
            </a:pPr>
            <a:r>
              <a:rPr lang="en-GB" dirty="0"/>
              <a:t>Output of two input AND gate 4 is CD</a:t>
            </a:r>
          </a:p>
          <a:p>
            <a:pPr>
              <a:buFontTx/>
              <a:buChar char="•"/>
            </a:pPr>
            <a:r>
              <a:rPr lang="en-GB" dirty="0"/>
              <a:t>Output of three input NAND gate 5 is (A*B*CD)*</a:t>
            </a:r>
          </a:p>
          <a:p>
            <a:pPr>
              <a:buFontTx/>
              <a:buChar char="•"/>
            </a:pPr>
            <a:r>
              <a:rPr lang="en-GB" dirty="0"/>
              <a:t>Output of two input NOR gate 6 is (AB*+(A*B*CD)*)*</a:t>
            </a:r>
          </a:p>
        </p:txBody>
      </p:sp>
    </p:spTree>
    <p:extLst>
      <p:ext uri="{BB962C8B-B14F-4D97-AF65-F5344CB8AC3E}">
        <p14:creationId xmlns:p14="http://schemas.microsoft.com/office/powerpoint/2010/main" val="28965838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9DCC76-5313-4D99-A6E4-AD6BC7F25AF1}" type="slidenum">
              <a:rPr lang="en-GB"/>
              <a:pPr/>
              <a:t>26</a:t>
            </a:fld>
            <a:endParaRPr lang="en-GB"/>
          </a:p>
        </p:txBody>
      </p:sp>
      <p:sp>
        <p:nvSpPr>
          <p:cNvPr id="462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2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Now consider the expression which has two terms</a:t>
            </a:r>
          </a:p>
          <a:p>
            <a:pPr>
              <a:buFontTx/>
              <a:buChar char="•"/>
            </a:pPr>
            <a:r>
              <a:rPr lang="en-GB"/>
              <a:t>The term AB* and the term (A*B*CD)*</a:t>
            </a:r>
          </a:p>
          <a:p>
            <a:pPr>
              <a:buFontTx/>
              <a:buChar char="•"/>
            </a:pPr>
            <a:r>
              <a:rPr lang="en-GB"/>
              <a:t>Assume that the term AB* is represented by literal X</a:t>
            </a:r>
          </a:p>
          <a:p>
            <a:pPr>
              <a:buFontTx/>
              <a:buChar char="•"/>
            </a:pPr>
            <a:r>
              <a:rPr lang="en-GB"/>
              <a:t>Also assume that the term (A*B*CD)*is represented by the literal Y</a:t>
            </a:r>
          </a:p>
          <a:p>
            <a:pPr>
              <a:buFontTx/>
              <a:buChar char="•"/>
            </a:pPr>
            <a:r>
              <a:rPr lang="en-GB"/>
              <a:t>Thus the expression is now represented as (X+Y)*</a:t>
            </a:r>
          </a:p>
          <a:p>
            <a:pPr>
              <a:buFontTx/>
              <a:buChar char="•"/>
            </a:pPr>
            <a:r>
              <a:rPr lang="en-GB"/>
              <a:t>For which condition does the expression output a 1?</a:t>
            </a:r>
          </a:p>
          <a:p>
            <a:pPr>
              <a:buFontTx/>
              <a:buChar char="•"/>
            </a:pPr>
            <a:r>
              <a:rPr lang="en-GB"/>
              <a:t>The expression shows that a NOR operation is being performed between terms X and Y.</a:t>
            </a:r>
          </a:p>
          <a:p>
            <a:pPr>
              <a:buFontTx/>
              <a:buChar char="•"/>
            </a:pPr>
            <a:r>
              <a:rPr lang="en-GB"/>
              <a:t>Therefore when terms X and Y are both 0s only then the output is a 1.</a:t>
            </a:r>
          </a:p>
          <a:p>
            <a:pPr>
              <a:buFontTx/>
              <a:buChar char="•"/>
            </a:pPr>
            <a:r>
              <a:rPr lang="en-GB"/>
              <a:t>The term X=AB* is 0 when literal A is 0 or literal B* is zero or B is 1.</a:t>
            </a:r>
          </a:p>
          <a:p>
            <a:pPr>
              <a:buFontTx/>
              <a:buChar char="•"/>
            </a:pPr>
            <a:r>
              <a:rPr lang="en-GB"/>
              <a:t>The term Y=(A*B*CD)* is 0 when the term A*B*CD =1 the bar has been removed.</a:t>
            </a:r>
          </a:p>
          <a:p>
            <a:pPr>
              <a:buFontTx/>
              <a:buChar char="•"/>
            </a:pPr>
            <a:r>
              <a:rPr lang="en-GB"/>
              <a:t>The term A*B*CD is 1 when literals A*=1, B*=1, C=1 and D=1</a:t>
            </a:r>
          </a:p>
          <a:p>
            <a:pPr>
              <a:buFontTx/>
              <a:buChar char="•"/>
            </a:pPr>
            <a:r>
              <a:rPr lang="en-GB"/>
              <a:t>Or when A=0, B=0, C=1 and D=1</a:t>
            </a:r>
          </a:p>
          <a:p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555524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E87922-0A9C-45D7-9629-6BC6B9A5CCA6}" type="slidenum">
              <a:rPr lang="en-GB"/>
              <a:pPr/>
              <a:t>27</a:t>
            </a:fld>
            <a:endParaRPr lang="en-GB"/>
          </a:p>
        </p:txBody>
      </p:sp>
      <p:sp>
        <p:nvSpPr>
          <p:cNvPr id="465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5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Conditions for output =1 are</a:t>
            </a:r>
          </a:p>
          <a:p>
            <a:pPr>
              <a:buFontTx/>
              <a:buChar char="•"/>
            </a:pPr>
            <a:r>
              <a:rPr lang="en-GB"/>
              <a:t>For the term AB*		A=0 OR B=1</a:t>
            </a:r>
          </a:p>
          <a:p>
            <a:pPr>
              <a:buFontTx/>
              <a:buChar char="•"/>
            </a:pPr>
            <a:r>
              <a:rPr lang="en-GB"/>
              <a:t>For the term (A*B*CD)*  	A=0 AND B=0 AND C=1 AND D=1</a:t>
            </a:r>
          </a:p>
          <a:p>
            <a:pPr>
              <a:buFontTx/>
              <a:buChar char="•"/>
            </a:pPr>
            <a:r>
              <a:rPr lang="en-GB"/>
              <a:t>For both terms A has to be 0 otherwise the output is not equal to 1</a:t>
            </a:r>
          </a:p>
          <a:p>
            <a:pPr>
              <a:buFontTx/>
              <a:buChar char="•"/>
            </a:pPr>
            <a:r>
              <a:rPr lang="en-GB"/>
              <a:t>B has to be 0 otherwise the second term is equal to 1 and the output 0</a:t>
            </a:r>
          </a:p>
          <a:p>
            <a:pPr>
              <a:buFontTx/>
              <a:buChar char="•"/>
            </a:pPr>
            <a:r>
              <a:rPr lang="en-GB"/>
              <a:t>Similarly C and D variables have to be equal to 1s otherwise the second term is equal to 1 and the output 0</a:t>
            </a:r>
          </a:p>
          <a:p>
            <a:pPr>
              <a:buFontTx/>
              <a:buChar char="•"/>
            </a:pPr>
            <a:r>
              <a:rPr lang="en-GB"/>
              <a:t>The truth table describes the function of the logic circuit and the expression where all outputs are equal to 0 except for the input combination of A=0, B=0, C=1 &amp; D=1</a:t>
            </a:r>
          </a:p>
        </p:txBody>
      </p:sp>
    </p:spTree>
    <p:extLst>
      <p:ext uri="{BB962C8B-B14F-4D97-AF65-F5344CB8AC3E}">
        <p14:creationId xmlns:p14="http://schemas.microsoft.com/office/powerpoint/2010/main" val="41857227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C4ACF1-E305-44B3-89F8-02C3F40C6798}" type="slidenum">
              <a:rPr lang="en-GB"/>
              <a:pPr/>
              <a:t>28</a:t>
            </a:fld>
            <a:endParaRPr lang="en-GB"/>
          </a:p>
        </p:txBody>
      </p:sp>
      <p:sp>
        <p:nvSpPr>
          <p:cNvPr id="468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8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Let us verify the analysis of the Logic Circuit by simplifying the original Boolean expression representing the Logic Circuit and obtaining the truth table of the simplifies expression.</a:t>
            </a:r>
          </a:p>
          <a:p>
            <a:pPr>
              <a:buFontTx/>
              <a:buChar char="•"/>
            </a:pPr>
            <a:r>
              <a:rPr lang="en-GB"/>
              <a:t>The two truth tables should be identical</a:t>
            </a:r>
          </a:p>
          <a:p>
            <a:pPr>
              <a:buFontTx/>
              <a:buChar char="•"/>
            </a:pPr>
            <a:r>
              <a:rPr lang="en-GB"/>
              <a:t>The expression is simplified to (AB*)* ANDed with (A*B*CD)** by applying Demorgan’s 2</a:t>
            </a:r>
            <a:r>
              <a:rPr lang="en-GB" baseline="30000"/>
              <a:t>nd</a:t>
            </a:r>
            <a:r>
              <a:rPr lang="en-GB"/>
              <a:t> theorem </a:t>
            </a:r>
          </a:p>
          <a:p>
            <a:pPr>
              <a:buFontTx/>
              <a:buChar char="•"/>
            </a:pPr>
            <a:r>
              <a:rPr lang="en-GB"/>
              <a:t>Applying Demorgan’s 1</a:t>
            </a:r>
            <a:r>
              <a:rPr lang="en-GB" baseline="30000"/>
              <a:t>st</a:t>
            </a:r>
            <a:r>
              <a:rPr lang="en-GB"/>
              <a:t> theorem and Rule No. 9 to the two terms results in (A*OR B**) ANDed with (A*B*CD)</a:t>
            </a:r>
          </a:p>
          <a:p>
            <a:pPr>
              <a:buFontTx/>
              <a:buChar char="•"/>
            </a:pPr>
            <a:r>
              <a:rPr lang="en-GB"/>
              <a:t>The term (A* OR B**) simplifies to (A* OR B)</a:t>
            </a:r>
          </a:p>
          <a:p>
            <a:pPr>
              <a:buFontTx/>
              <a:buChar char="•"/>
            </a:pPr>
            <a:r>
              <a:rPr lang="en-GB"/>
              <a:t>Applying the Distributive law the expression simplifies to A*B*CD</a:t>
            </a:r>
          </a:p>
          <a:p>
            <a:pPr>
              <a:buFontTx/>
              <a:buChar char="•"/>
            </a:pPr>
            <a:r>
              <a:rPr lang="en-GB"/>
              <a:t>The conditions A=0, B=0, C=1, D=1 are identical to the original expression that was analysed.</a:t>
            </a:r>
          </a:p>
          <a:p>
            <a:pPr>
              <a:buFontTx/>
              <a:buChar char="•"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23417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16BC6E-9B20-47DD-A7A7-69B0974774E5}" type="slidenum">
              <a:rPr lang="en-GB"/>
              <a:pPr/>
              <a:t>29</a:t>
            </a:fld>
            <a:endParaRPr lang="en-GB"/>
          </a:p>
        </p:txBody>
      </p:sp>
      <p:sp>
        <p:nvSpPr>
          <p:cNvPr id="472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2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The truth table representing the function represented by the simplified expression is identical to the function represented by the truth table prepared earlier as a result of analysing the Boolean expression.</a:t>
            </a:r>
          </a:p>
        </p:txBody>
      </p:sp>
    </p:spTree>
    <p:extLst>
      <p:ext uri="{BB962C8B-B14F-4D97-AF65-F5344CB8AC3E}">
        <p14:creationId xmlns:p14="http://schemas.microsoft.com/office/powerpoint/2010/main" val="18124292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B5898B-23A9-4749-91E4-C7C4B691691B}" type="slidenum">
              <a:rPr lang="en-GB"/>
              <a:pPr/>
              <a:t>33</a:t>
            </a:fld>
            <a:endParaRPr lang="en-GB"/>
          </a:p>
        </p:txBody>
      </p:sp>
      <p:sp>
        <p:nvSpPr>
          <p:cNvPr id="477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7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Consider the logic circuit implemented using NOT gates, AND gate, OR gate and NAND gate.</a:t>
            </a:r>
          </a:p>
          <a:p>
            <a:pPr>
              <a:buFontTx/>
              <a:buChar char="•"/>
            </a:pPr>
            <a:r>
              <a:rPr lang="en-GB"/>
              <a:t>The circuit can be represented by a Boolean Expression.</a:t>
            </a:r>
          </a:p>
          <a:p>
            <a:pPr>
              <a:buFontTx/>
              <a:buChar char="•"/>
            </a:pPr>
            <a:r>
              <a:rPr lang="en-GB"/>
              <a:t>Let us define the Boolean expression representing the logic circuit. </a:t>
            </a:r>
          </a:p>
          <a:p>
            <a:pPr>
              <a:buFontTx/>
              <a:buChar char="•"/>
            </a:pPr>
            <a:r>
              <a:rPr lang="en-GB"/>
              <a:t>Starting from the left hand side of the circuit</a:t>
            </a:r>
          </a:p>
          <a:p>
            <a:pPr>
              <a:buFontTx/>
              <a:buChar char="•"/>
            </a:pPr>
            <a:r>
              <a:rPr lang="en-GB"/>
              <a:t>Output of NOT gate 1 is A*</a:t>
            </a:r>
          </a:p>
          <a:p>
            <a:pPr>
              <a:buFontTx/>
              <a:buChar char="•"/>
            </a:pPr>
            <a:r>
              <a:rPr lang="en-GB"/>
              <a:t>Output of NOT gate 2 is C*</a:t>
            </a:r>
          </a:p>
          <a:p>
            <a:pPr>
              <a:buFontTx/>
              <a:buChar char="•"/>
            </a:pPr>
            <a:r>
              <a:rPr lang="en-GB"/>
              <a:t>Output of three input AND gate 4 is A*BC*</a:t>
            </a:r>
          </a:p>
          <a:p>
            <a:pPr>
              <a:buFontTx/>
              <a:buChar char="•"/>
            </a:pPr>
            <a:r>
              <a:rPr lang="en-GB"/>
              <a:t>Output of two input OR gate 5 is C*+D</a:t>
            </a:r>
          </a:p>
          <a:p>
            <a:pPr>
              <a:buFontTx/>
              <a:buChar char="•"/>
            </a:pPr>
            <a:r>
              <a:rPr lang="en-GB"/>
              <a:t>Output of two input NAND gate 6 is ((A*BC*)(C*+D))*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5370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B5CDB2-0F18-4FD8-8304-4789E054A3F1}" type="slidenum">
              <a:rPr lang="en-GB"/>
              <a:pPr/>
              <a:t>34</a:t>
            </a:fld>
            <a:endParaRPr lang="en-GB"/>
          </a:p>
        </p:txBody>
      </p:sp>
      <p:sp>
        <p:nvSpPr>
          <p:cNvPr id="479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9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Now consider the expression which has two terms</a:t>
            </a:r>
          </a:p>
          <a:p>
            <a:pPr>
              <a:buFontTx/>
              <a:buChar char="•"/>
            </a:pPr>
            <a:r>
              <a:rPr lang="en-GB"/>
              <a:t>The term A*BC* and the term C*+D</a:t>
            </a:r>
          </a:p>
          <a:p>
            <a:pPr>
              <a:buFontTx/>
              <a:buChar char="•"/>
            </a:pPr>
            <a:r>
              <a:rPr lang="en-GB"/>
              <a:t>Assume that the term A*BC* is represented by literal X</a:t>
            </a:r>
          </a:p>
          <a:p>
            <a:pPr>
              <a:buFontTx/>
              <a:buChar char="•"/>
            </a:pPr>
            <a:r>
              <a:rPr lang="en-GB"/>
              <a:t>Also assume that the term C*+D is represented by the literal Y</a:t>
            </a:r>
          </a:p>
          <a:p>
            <a:pPr>
              <a:buFontTx/>
              <a:buChar char="•"/>
            </a:pPr>
            <a:r>
              <a:rPr lang="en-GB"/>
              <a:t>Thus the expression is now represented as (XY)*</a:t>
            </a:r>
          </a:p>
          <a:p>
            <a:pPr>
              <a:buFontTx/>
              <a:buChar char="•"/>
            </a:pPr>
            <a:r>
              <a:rPr lang="en-GB"/>
              <a:t>For which condition does the expression output a 1?</a:t>
            </a:r>
          </a:p>
          <a:p>
            <a:pPr>
              <a:buFontTx/>
              <a:buChar char="•"/>
            </a:pPr>
            <a:r>
              <a:rPr lang="en-GB"/>
              <a:t>The expression shows that a NAND operation is being performed between terms X and Y.</a:t>
            </a:r>
          </a:p>
          <a:p>
            <a:pPr>
              <a:buFontTx/>
              <a:buChar char="•"/>
            </a:pPr>
            <a:r>
              <a:rPr lang="en-GB"/>
              <a:t>Therefore when term X OR the term Y is 0, the output is a 1.</a:t>
            </a:r>
          </a:p>
          <a:p>
            <a:pPr>
              <a:buFontTx/>
              <a:buChar char="•"/>
            </a:pPr>
            <a:r>
              <a:rPr lang="en-GB"/>
              <a:t>The term X=A*BC* is 0 when literal A*is 0 or A=1, literal B is zero or literal C*=0 or C=1.</a:t>
            </a:r>
          </a:p>
          <a:p>
            <a:pPr>
              <a:buFontTx/>
              <a:buChar char="•"/>
            </a:pPr>
            <a:r>
              <a:rPr lang="en-GB"/>
              <a:t>The term Y=C*+D is 0 when literals C*=0 and D=0</a:t>
            </a:r>
          </a:p>
          <a:p>
            <a:pPr>
              <a:buFontTx/>
              <a:buChar char="•"/>
            </a:pPr>
            <a:r>
              <a:rPr lang="en-GB"/>
              <a:t>Or when C=1 and D=0</a:t>
            </a:r>
          </a:p>
          <a:p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826850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F2F9220-4933-41AD-85CA-A87635B3C8C3}" type="slidenum">
              <a:rPr lang="en-GB"/>
              <a:pPr/>
              <a:t>35</a:t>
            </a:fld>
            <a:endParaRPr lang="en-GB"/>
          </a:p>
        </p:txBody>
      </p:sp>
      <p:sp>
        <p:nvSpPr>
          <p:cNvPr id="481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Conditions for output =1 are</a:t>
            </a:r>
          </a:p>
          <a:p>
            <a:pPr>
              <a:buFontTx/>
              <a:buChar char="•"/>
            </a:pPr>
            <a:r>
              <a:rPr lang="en-GB"/>
              <a:t>For the term A*BC*	A=1 OR B=0 OR C=1</a:t>
            </a:r>
          </a:p>
          <a:p>
            <a:pPr>
              <a:buFontTx/>
              <a:buChar char="•"/>
            </a:pPr>
            <a:r>
              <a:rPr lang="en-GB"/>
              <a:t>For the term C*+D  	C=1 AND D=0</a:t>
            </a:r>
          </a:p>
          <a:p>
            <a:pPr>
              <a:buFontTx/>
              <a:buChar char="•"/>
            </a:pPr>
            <a:r>
              <a:rPr lang="en-GB"/>
              <a:t>The truth table outputs corresponding to the input conditions A=1, B=0 OR C=1 are marked as 1s</a:t>
            </a:r>
          </a:p>
          <a:p>
            <a:pPr>
              <a:buFontTx/>
              <a:buChar char="•"/>
            </a:pPr>
            <a:r>
              <a:rPr lang="en-GB"/>
              <a:t>The truth table outputs corresponding to the input conditions C=1 AND D=0 are also marked as 1s</a:t>
            </a:r>
          </a:p>
        </p:txBody>
      </p:sp>
    </p:spTree>
    <p:extLst>
      <p:ext uri="{BB962C8B-B14F-4D97-AF65-F5344CB8AC3E}">
        <p14:creationId xmlns:p14="http://schemas.microsoft.com/office/powerpoint/2010/main" val="42469513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C5670E3-B3F6-4168-8E14-6000A4C41E53}" type="slidenum">
              <a:rPr lang="en-GB"/>
              <a:pPr/>
              <a:t>36</a:t>
            </a:fld>
            <a:endParaRPr lang="en-GB"/>
          </a:p>
        </p:txBody>
      </p:sp>
      <p:sp>
        <p:nvSpPr>
          <p:cNvPr id="483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3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The 4-variable truth table shows that for all input combinations of variables A, B, C and D the output only depends on the inputs A, B and C. D does not play any role in the function output. </a:t>
            </a:r>
          </a:p>
          <a:p>
            <a:pPr>
              <a:buFontTx/>
              <a:buChar char="•"/>
            </a:pPr>
            <a:r>
              <a:rPr lang="en-GB"/>
              <a:t>For example for the input combination A=0, B=1, C=1 the output is 1 if D=0 or D=1. Similar is the case for other inputs.</a:t>
            </a:r>
          </a:p>
          <a:p>
            <a:pPr>
              <a:buFontTx/>
              <a:buChar char="•"/>
            </a:pPr>
            <a:r>
              <a:rPr lang="en-GB"/>
              <a:t>Thus a simpler 3 variable K-Map can represent the same function as the 4 variable K-map.    </a:t>
            </a:r>
          </a:p>
        </p:txBody>
      </p:sp>
    </p:spTree>
    <p:extLst>
      <p:ext uri="{BB962C8B-B14F-4D97-AF65-F5344CB8AC3E}">
        <p14:creationId xmlns:p14="http://schemas.microsoft.com/office/powerpoint/2010/main" val="23554829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DF818C-307A-4955-B09B-068AB66A58C4}" type="slidenum">
              <a:rPr lang="en-GB"/>
              <a:pPr/>
              <a:t>37</a:t>
            </a:fld>
            <a:endParaRPr lang="en-GB"/>
          </a:p>
        </p:txBody>
      </p:sp>
      <p:sp>
        <p:nvSpPr>
          <p:cNvPr id="485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5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Let us verify the analysis of the Logic Circuit by simplifying the original Boolean expression representing the Logic Circuit and obtaining the truth table of the simplifies expression.</a:t>
            </a:r>
          </a:p>
          <a:p>
            <a:pPr>
              <a:buFontTx/>
              <a:buChar char="•"/>
            </a:pPr>
            <a:r>
              <a:rPr lang="en-GB"/>
              <a:t>The two truth tables should be identical</a:t>
            </a:r>
          </a:p>
          <a:p>
            <a:pPr>
              <a:buFontTx/>
              <a:buChar char="•"/>
            </a:pPr>
            <a:r>
              <a:rPr lang="en-GB"/>
              <a:t>The expression is simplified to (A*BC*)* + (C*+D)* by applying Demorgan’s 1</a:t>
            </a:r>
            <a:r>
              <a:rPr lang="en-GB" baseline="30000"/>
              <a:t>st</a:t>
            </a:r>
            <a:r>
              <a:rPr lang="en-GB"/>
              <a:t> theorem </a:t>
            </a:r>
          </a:p>
          <a:p>
            <a:pPr>
              <a:buFontTx/>
              <a:buChar char="•"/>
            </a:pPr>
            <a:r>
              <a:rPr lang="en-GB"/>
              <a:t>Applying Demorgan’s 1</a:t>
            </a:r>
            <a:r>
              <a:rPr lang="en-GB" baseline="30000"/>
              <a:t>st</a:t>
            </a:r>
            <a:r>
              <a:rPr lang="en-GB"/>
              <a:t> and 2</a:t>
            </a:r>
            <a:r>
              <a:rPr lang="en-GB" baseline="30000"/>
              <a:t>nd</a:t>
            </a:r>
            <a:r>
              <a:rPr lang="en-GB"/>
              <a:t> theorems to the two terms respectively results in (A**+B*+C**) + (C**D*)</a:t>
            </a:r>
          </a:p>
          <a:p>
            <a:pPr>
              <a:buFontTx/>
              <a:buChar char="•"/>
            </a:pPr>
            <a:r>
              <a:rPr lang="en-GB"/>
              <a:t>The expression simplifies to (A+B*+C) + CD*</a:t>
            </a:r>
          </a:p>
          <a:p>
            <a:pPr>
              <a:buFontTx/>
              <a:buChar char="•"/>
            </a:pPr>
            <a:r>
              <a:rPr lang="en-GB"/>
              <a:t>Which simplifies to A+B*+C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2646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11F46D-096D-4F2C-AFE7-90A4470B72BD}" type="slidenum">
              <a:rPr lang="en-GB"/>
              <a:pPr/>
              <a:t>38</a:t>
            </a:fld>
            <a:endParaRPr lang="en-GB"/>
          </a:p>
        </p:txBody>
      </p:sp>
      <p:sp>
        <p:nvSpPr>
          <p:cNvPr id="487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7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The truth table representing the function represented by the simplified expression is identical to the function represented by the truth table prepared earlier as a result of analysing the Boolean expression.</a:t>
            </a:r>
          </a:p>
        </p:txBody>
      </p:sp>
    </p:spTree>
    <p:extLst>
      <p:ext uri="{BB962C8B-B14F-4D97-AF65-F5344CB8AC3E}">
        <p14:creationId xmlns:p14="http://schemas.microsoft.com/office/powerpoint/2010/main" val="1934088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1070A-BC14-432D-AF98-AF5F553AB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2F448-3E76-4CCE-A9DE-786E5C92E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D870D-618C-4723-9D3E-73B384523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37D9EC9B-0BB5-40F6-98EE-3D1EEF88DFD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12420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5AC3D-E591-49D8-A91A-B6278501C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C51D8-05EA-4277-9DE0-4628B34ED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8BA69-7F8E-4319-92B2-1F34A6981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313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9D1B9-97F6-47AA-919D-0FD2D8385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8E59D-977C-4164-8E8E-987F927CE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4F6FC-7FA3-414A-8FC4-6F40F3E09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534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FD89839-4A65-48D1-A9B9-9107EE460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12FE8FA-5B0A-430F-8B3F-C0D3D9F3A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E8A0AB0-6434-49ED-A4F1-C0AEBB10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685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FE613B5-18C5-4B83-9ADF-6CEB9F682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5C98C6B-BEF8-44EA-800E-A368012CF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2748E3A-4863-44DC-968F-1F1DDF16F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125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E4DB157-BF09-408E-B7DE-D63F85D21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6458E71-93FB-4FCD-ADD1-F09AD6011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267CABD-76EC-4EE2-9474-2B8AD0C1A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79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13C3D58-2AD7-4DD4-9271-EFC78DD8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1EC4A5A-1292-4587-8D7F-94072317D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4B0C2DF-1F87-4797-BB06-39958D476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708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9F7AF4F-B11D-41CD-882A-0357E793C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A5662D2-0882-40FB-A09B-1B4FD1C03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BD1B8BB-8C74-45F8-860E-A66990E6A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521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C213F49-E816-42F9-88FA-11DEDB19E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6A995FE-90C7-4CDF-8D3F-D0BEE8193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0F20DC4-DDDB-4D93-8F7F-A60FA6F65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075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93EC1-FD3A-45A3-9664-863672244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E3EB1-D806-4598-8D2C-8867C3B2E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9858-CD76-4D1E-A28F-C40826E81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535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A2E42-2D16-4A25-9A09-50A73FFCA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B37F5-7229-4879-AEA9-93185E39B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86C8E-4C90-4C74-BB8B-196A6112B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42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9E18BB-ED85-4D68-8035-47719B81DB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EFA14A-ABBF-4088-A342-7F361450F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E66DD-1A7D-4C17-8AF8-727B895F3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23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877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ECDC0CE-9AC1-4685-9943-6D3726AEA75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2410182-6E9D-4397-AA7C-88A8E6E3966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0991A-BF40-4EAF-9F11-D36F73EA2D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54454-7877-4E2F-8C75-BEF746A67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73D31-51A8-4AC1-BE0F-F59D3615E0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4" r:id="rId12"/>
    <p:sldLayoutId id="2147483745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8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16.emf"/><Relationship Id="rId4" Type="http://schemas.openxmlformats.org/officeDocument/2006/relationships/image" Target="../media/image13.emf"/><Relationship Id="rId9" Type="http://schemas.openxmlformats.org/officeDocument/2006/relationships/oleObject" Target="../embeddings/oleObject16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0.emf"/><Relationship Id="rId4" Type="http://schemas.openxmlformats.org/officeDocument/2006/relationships/image" Target="../media/image17.emf"/><Relationship Id="rId9" Type="http://schemas.openxmlformats.org/officeDocument/2006/relationships/oleObject" Target="../embeddings/oleObject20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13" Type="http://schemas.openxmlformats.org/officeDocument/2006/relationships/oleObject" Target="../embeddings/oleObject26.bin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5.emf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10" Type="http://schemas.openxmlformats.org/officeDocument/2006/relationships/image" Target="../media/image24.emf"/><Relationship Id="rId4" Type="http://schemas.openxmlformats.org/officeDocument/2006/relationships/image" Target="../media/image21.e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26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e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28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emf"/><Relationship Id="rId4" Type="http://schemas.openxmlformats.org/officeDocument/2006/relationships/oleObject" Target="../embeddings/oleObject32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37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e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36.emf"/><Relationship Id="rId4" Type="http://schemas.openxmlformats.org/officeDocument/2006/relationships/image" Target="../media/image33.emf"/><Relationship Id="rId9" Type="http://schemas.openxmlformats.org/officeDocument/2006/relationships/oleObject" Target="../embeddings/oleObject36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e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40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12" Type="http://schemas.openxmlformats.org/officeDocument/2006/relationships/oleObject" Target="../embeddings/oleObject49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wmf"/><Relationship Id="rId11" Type="http://schemas.openxmlformats.org/officeDocument/2006/relationships/oleObject" Target="../embeddings/oleObject48.bin"/><Relationship Id="rId5" Type="http://schemas.openxmlformats.org/officeDocument/2006/relationships/oleObject" Target="../embeddings/oleObject45.bin"/><Relationship Id="rId10" Type="http://schemas.openxmlformats.org/officeDocument/2006/relationships/image" Target="../media/image47.wmf"/><Relationship Id="rId4" Type="http://schemas.openxmlformats.org/officeDocument/2006/relationships/image" Target="../media/image44.wmf"/><Relationship Id="rId9" Type="http://schemas.openxmlformats.org/officeDocument/2006/relationships/oleObject" Target="../embeddings/oleObject47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oleObject" Target="../embeddings/oleObject55.bin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51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54.bin"/><Relationship Id="rId5" Type="http://schemas.openxmlformats.org/officeDocument/2006/relationships/oleObject" Target="../embeddings/oleObject51.bin"/><Relationship Id="rId10" Type="http://schemas.openxmlformats.org/officeDocument/2006/relationships/image" Target="../media/image50.wmf"/><Relationship Id="rId4" Type="http://schemas.openxmlformats.org/officeDocument/2006/relationships/image" Target="../media/image44.wmf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52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12" Type="http://schemas.openxmlformats.org/officeDocument/2006/relationships/oleObject" Target="../embeddings/oleObject64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60.bin"/><Relationship Id="rId10" Type="http://schemas.openxmlformats.org/officeDocument/2006/relationships/image" Target="../media/image58.wmf"/><Relationship Id="rId4" Type="http://schemas.openxmlformats.org/officeDocument/2006/relationships/image" Target="../media/image55.wmf"/><Relationship Id="rId9" Type="http://schemas.openxmlformats.org/officeDocument/2006/relationships/oleObject" Target="../embeddings/oleObject62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13" Type="http://schemas.openxmlformats.org/officeDocument/2006/relationships/oleObject" Target="../embeddings/oleObject70.bin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12" Type="http://schemas.openxmlformats.org/officeDocument/2006/relationships/image" Target="../media/image63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69.bin"/><Relationship Id="rId5" Type="http://schemas.openxmlformats.org/officeDocument/2006/relationships/oleObject" Target="../embeddings/oleObject66.bin"/><Relationship Id="rId10" Type="http://schemas.openxmlformats.org/officeDocument/2006/relationships/image" Target="../media/image62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68.bin"/><Relationship Id="rId14" Type="http://schemas.openxmlformats.org/officeDocument/2006/relationships/image" Target="../media/image64.w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oleObject" Target="../embeddings/oleObject71.bin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8">
            <a:extLst>
              <a:ext uri="{FF2B5EF4-FFF2-40B4-BE49-F238E27FC236}">
                <a16:creationId xmlns:a16="http://schemas.microsoft.com/office/drawing/2014/main" id="{04E30F4A-CC0F-4D1E-A22A-E41543131F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568450"/>
            <a:ext cx="7010400" cy="326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3800" dirty="0">
                <a:latin typeface="Folio"/>
              </a:rPr>
              <a:t>Digital Logic Design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Lecture 06</a:t>
            </a:r>
          </a:p>
        </p:txBody>
      </p:sp>
      <p:sp>
        <p:nvSpPr>
          <p:cNvPr id="7171" name="TextBox 2">
            <a:extLst>
              <a:ext uri="{FF2B5EF4-FFF2-40B4-BE49-F238E27FC236}">
                <a16:creationId xmlns:a16="http://schemas.microsoft.com/office/drawing/2014/main" id="{61DEAE08-BFEC-4CD5-98D0-27DB1D158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3838" y="6400800"/>
            <a:ext cx="40703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Copyrights: Dr Syed Zulqadar Hassan</a:t>
            </a:r>
          </a:p>
        </p:txBody>
      </p:sp>
    </p:spTree>
  </p:cSld>
  <p:clrMapOvr>
    <a:masterClrMapping/>
  </p:clrMapOvr>
  <p:transition advTm="22432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Boolean Algebra</a:t>
            </a:r>
          </a:p>
        </p:txBody>
      </p:sp>
      <p:sp>
        <p:nvSpPr>
          <p:cNvPr id="39731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GB" sz="2800" dirty="0"/>
              <a:t>Variable</a:t>
            </a:r>
          </a:p>
          <a:p>
            <a:r>
              <a:rPr lang="en-GB" sz="2800" dirty="0"/>
              <a:t>Complement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Boolean Addition &amp; Multiplication</a:t>
            </a:r>
          </a:p>
        </p:txBody>
      </p:sp>
      <p:sp>
        <p:nvSpPr>
          <p:cNvPr id="39833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00200"/>
            <a:ext cx="8686800" cy="3733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sz="2800"/>
              <a:t>Boolean Addition performed by OR gate</a:t>
            </a:r>
          </a:p>
          <a:p>
            <a:pPr>
              <a:lnSpc>
                <a:spcPct val="90000"/>
              </a:lnSpc>
            </a:pPr>
            <a:r>
              <a:rPr lang="en-GB" sz="2800"/>
              <a:t>Sum Term describes Boolean Addition</a:t>
            </a:r>
          </a:p>
          <a:p>
            <a:pPr>
              <a:lnSpc>
                <a:spcPct val="90000"/>
              </a:lnSpc>
            </a:pPr>
            <a:endParaRPr lang="en-GB" sz="2800"/>
          </a:p>
          <a:p>
            <a:pPr>
              <a:lnSpc>
                <a:spcPct val="90000"/>
              </a:lnSpc>
            </a:pPr>
            <a:r>
              <a:rPr lang="en-GB" sz="2800"/>
              <a:t>Boolean Multiplication performed by AND gate</a:t>
            </a:r>
          </a:p>
          <a:p>
            <a:pPr>
              <a:lnSpc>
                <a:spcPct val="90000"/>
              </a:lnSpc>
            </a:pPr>
            <a:r>
              <a:rPr lang="en-GB" sz="2800"/>
              <a:t>Product Term describes Boolean Multiplication</a:t>
            </a:r>
          </a:p>
        </p:txBody>
      </p:sp>
      <p:sp>
        <p:nvSpPr>
          <p:cNvPr id="39834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983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0407196"/>
              </p:ext>
            </p:extLst>
          </p:nvPr>
        </p:nvGraphicFramePr>
        <p:xfrm>
          <a:off x="3352800" y="4586287"/>
          <a:ext cx="2210630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47419" imgH="215806" progId="Equation.3">
                  <p:embed/>
                </p:oleObj>
              </mc:Choice>
              <mc:Fallback>
                <p:oleObj name="Equation" r:id="rId2" imgW="647419" imgH="215806" progId="Equation.3">
                  <p:embed/>
                  <p:pic>
                    <p:nvPicPr>
                      <p:cNvPr id="3983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586287"/>
                        <a:ext cx="2210630" cy="7477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8343" name="Rectangle 7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8349" name="Rectangle 13"/>
          <p:cNvSpPr>
            <a:spLocks noChangeArrowheads="1"/>
          </p:cNvSpPr>
          <p:nvPr/>
        </p:nvSpPr>
        <p:spPr bwMode="auto">
          <a:xfrm>
            <a:off x="0" y="286385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just"/>
            <a:endParaRPr lang="en-US" sz="1800"/>
          </a:p>
        </p:txBody>
      </p:sp>
      <p:sp>
        <p:nvSpPr>
          <p:cNvPr id="398352" name="Rectangle 16"/>
          <p:cNvSpPr>
            <a:spLocks noChangeArrowheads="1"/>
          </p:cNvSpPr>
          <p:nvPr/>
        </p:nvSpPr>
        <p:spPr bwMode="auto">
          <a:xfrm>
            <a:off x="533400" y="4114800"/>
            <a:ext cx="82296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</a:pPr>
            <a:endParaRPr lang="en-US" sz="320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Boolean Addition</a:t>
            </a:r>
          </a:p>
        </p:txBody>
      </p:sp>
      <p:sp>
        <p:nvSpPr>
          <p:cNvPr id="4382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Sum of literals</a:t>
            </a:r>
          </a:p>
          <a:p>
            <a:endParaRPr lang="en-GB" dirty="0"/>
          </a:p>
          <a:p>
            <a:r>
              <a:rPr lang="en-GB" dirty="0"/>
              <a:t>Sum term = 1 if any literal = 1</a:t>
            </a:r>
          </a:p>
          <a:p>
            <a:r>
              <a:rPr lang="en-GB" dirty="0"/>
              <a:t>Sum term = 0 if all literals = 0</a:t>
            </a:r>
          </a:p>
        </p:txBody>
      </p:sp>
      <p:graphicFrame>
        <p:nvGraphicFramePr>
          <p:cNvPr id="438276" name="Object 4"/>
          <p:cNvGraphicFramePr>
            <a:graphicFrameLocks noChangeAspect="1"/>
          </p:cNvGraphicFramePr>
          <p:nvPr/>
        </p:nvGraphicFramePr>
        <p:xfrm>
          <a:off x="914400" y="2286000"/>
          <a:ext cx="1181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93480" imgH="164880" progId="Equation.3">
                  <p:embed/>
                </p:oleObj>
              </mc:Choice>
              <mc:Fallback>
                <p:oleObj name="Equation" r:id="rId3" imgW="393480" imgH="164880" progId="Equation.3">
                  <p:embed/>
                  <p:pic>
                    <p:nvPicPr>
                      <p:cNvPr id="4382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86000"/>
                        <a:ext cx="11811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8277" name="Object 5"/>
          <p:cNvGraphicFramePr>
            <a:graphicFrameLocks noChangeAspect="1"/>
          </p:cNvGraphicFramePr>
          <p:nvPr/>
        </p:nvGraphicFramePr>
        <p:xfrm>
          <a:off x="2362200" y="2209800"/>
          <a:ext cx="117792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93480" imgH="203040" progId="Equation.3">
                  <p:embed/>
                </p:oleObj>
              </mc:Choice>
              <mc:Fallback>
                <p:oleObj name="Equation" r:id="rId5" imgW="393480" imgH="203040" progId="Equation.3">
                  <p:embed/>
                  <p:pic>
                    <p:nvPicPr>
                      <p:cNvPr id="4382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209800"/>
                        <a:ext cx="1177925" cy="593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8278" name="Object 6"/>
          <p:cNvGraphicFramePr>
            <a:graphicFrameLocks noChangeAspect="1"/>
          </p:cNvGraphicFramePr>
          <p:nvPr/>
        </p:nvGraphicFramePr>
        <p:xfrm>
          <a:off x="3962400" y="2209800"/>
          <a:ext cx="1865313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47640" imgH="215640" progId="Equation.3">
                  <p:embed/>
                </p:oleObj>
              </mc:Choice>
              <mc:Fallback>
                <p:oleObj name="Equation" r:id="rId7" imgW="647640" imgH="215640" progId="Equation.3">
                  <p:embed/>
                  <p:pic>
                    <p:nvPicPr>
                      <p:cNvPr id="43827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209800"/>
                        <a:ext cx="1865313" cy="630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Boolean Multiplication</a:t>
            </a:r>
          </a:p>
        </p:txBody>
      </p:sp>
      <p:sp>
        <p:nvSpPr>
          <p:cNvPr id="439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Product of literals</a:t>
            </a:r>
          </a:p>
          <a:p>
            <a:endParaRPr lang="en-GB"/>
          </a:p>
          <a:p>
            <a:r>
              <a:rPr lang="en-GB"/>
              <a:t>Product term = 1 if all literals = 1</a:t>
            </a:r>
          </a:p>
          <a:p>
            <a:r>
              <a:rPr lang="en-GB"/>
              <a:t>Product term = 0 if any one literal = 0</a:t>
            </a:r>
          </a:p>
        </p:txBody>
      </p:sp>
      <p:graphicFrame>
        <p:nvGraphicFramePr>
          <p:cNvPr id="439300" name="Object 4"/>
          <p:cNvGraphicFramePr>
            <a:graphicFrameLocks noChangeAspect="1"/>
          </p:cNvGraphicFramePr>
          <p:nvPr/>
        </p:nvGraphicFramePr>
        <p:xfrm>
          <a:off x="892175" y="2190750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9360" imgH="177480" progId="Equation.3">
                  <p:embed/>
                </p:oleObj>
              </mc:Choice>
              <mc:Fallback>
                <p:oleObj name="Equation" r:id="rId3" imgW="279360" imgH="177480" progId="Equation.3">
                  <p:embed/>
                  <p:pic>
                    <p:nvPicPr>
                      <p:cNvPr id="4393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175" y="2190750"/>
                        <a:ext cx="8382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9301" name="Object 5"/>
          <p:cNvGraphicFramePr>
            <a:graphicFrameLocks noChangeAspect="1"/>
          </p:cNvGraphicFramePr>
          <p:nvPr/>
        </p:nvGraphicFramePr>
        <p:xfrm>
          <a:off x="2338388" y="2116138"/>
          <a:ext cx="836612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9360" imgH="215640" progId="Equation.3">
                  <p:embed/>
                </p:oleObj>
              </mc:Choice>
              <mc:Fallback>
                <p:oleObj name="Equation" r:id="rId5" imgW="279360" imgH="215640" progId="Equation.3">
                  <p:embed/>
                  <p:pic>
                    <p:nvPicPr>
                      <p:cNvPr id="4393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8388" y="2116138"/>
                        <a:ext cx="836612" cy="630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9302" name="Object 6"/>
          <p:cNvGraphicFramePr>
            <a:graphicFrameLocks noChangeAspect="1"/>
          </p:cNvGraphicFramePr>
          <p:nvPr/>
        </p:nvGraphicFramePr>
        <p:xfrm>
          <a:off x="4114800" y="2133600"/>
          <a:ext cx="1171575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06080" imgH="215640" progId="Equation.3">
                  <p:embed/>
                </p:oleObj>
              </mc:Choice>
              <mc:Fallback>
                <p:oleObj name="Equation" r:id="rId7" imgW="406080" imgH="215640" progId="Equation.3">
                  <p:embed/>
                  <p:pic>
                    <p:nvPicPr>
                      <p:cNvPr id="43930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2133600"/>
                        <a:ext cx="1171575" cy="630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Laws, Rules &amp; Theorems of Boolean Algebra</a:t>
            </a:r>
          </a:p>
        </p:txBody>
      </p:sp>
      <p:sp>
        <p:nvSpPr>
          <p:cNvPr id="400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sz="2800"/>
              <a:t>Commutative Law </a:t>
            </a:r>
          </a:p>
          <a:p>
            <a:pPr lvl="1">
              <a:buFont typeface="Wingdings" pitchFamily="2" charset="2"/>
              <a:buNone/>
            </a:pPr>
            <a:r>
              <a:rPr lang="en-GB">
                <a:effectLst/>
                <a:latin typeface="Arial" pitchFamily="34" charset="0"/>
              </a:rPr>
              <a:t>for addition and multiplication</a:t>
            </a:r>
          </a:p>
          <a:p>
            <a:r>
              <a:rPr lang="en-GB" sz="2800"/>
              <a:t>Associative Law</a:t>
            </a:r>
          </a:p>
          <a:p>
            <a:pPr lvl="1">
              <a:buFont typeface="Wingdings" pitchFamily="2" charset="2"/>
              <a:buNone/>
            </a:pPr>
            <a:r>
              <a:rPr lang="en-GB">
                <a:effectLst/>
                <a:latin typeface="Arial" pitchFamily="34" charset="0"/>
              </a:rPr>
              <a:t>for addition and multiplication</a:t>
            </a:r>
          </a:p>
          <a:p>
            <a:r>
              <a:rPr lang="en-GB" sz="2800"/>
              <a:t>Distributive Law</a:t>
            </a:r>
          </a:p>
          <a:p>
            <a:r>
              <a:rPr lang="en-GB" sz="2800"/>
              <a:t>Rules of Boolean Algebra</a:t>
            </a:r>
          </a:p>
          <a:p>
            <a:r>
              <a:rPr lang="en-GB" sz="2800"/>
              <a:t>Demorgan’s Theorems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Commutative Law</a:t>
            </a:r>
          </a:p>
        </p:txBody>
      </p:sp>
      <p:sp>
        <p:nvSpPr>
          <p:cNvPr id="4024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572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sz="2800"/>
              <a:t>Commutative Law for Addition	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GB" sz="2800"/>
              <a:t>	A + B = B + A</a:t>
            </a:r>
          </a:p>
          <a:p>
            <a:pPr>
              <a:lnSpc>
                <a:spcPct val="90000"/>
              </a:lnSpc>
            </a:pPr>
            <a:endParaRPr lang="en-GB" sz="280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GB" sz="2800"/>
          </a:p>
          <a:p>
            <a:pPr>
              <a:lnSpc>
                <a:spcPct val="90000"/>
              </a:lnSpc>
            </a:pPr>
            <a:endParaRPr lang="en-GB" sz="2800"/>
          </a:p>
          <a:p>
            <a:pPr>
              <a:lnSpc>
                <a:spcPct val="90000"/>
              </a:lnSpc>
            </a:pPr>
            <a:r>
              <a:rPr lang="en-GB" sz="2800"/>
              <a:t>Commutative Law for Multiplication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GB" sz="2800"/>
              <a:t>	A.B = B.A</a:t>
            </a:r>
          </a:p>
        </p:txBody>
      </p:sp>
      <p:sp>
        <p:nvSpPr>
          <p:cNvPr id="402438" name="Rectangle 6"/>
          <p:cNvSpPr>
            <a:spLocks noChangeArrowheads="1"/>
          </p:cNvSpPr>
          <p:nvPr/>
        </p:nvSpPr>
        <p:spPr bwMode="auto">
          <a:xfrm>
            <a:off x="0" y="3114675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02437" name="Object 5"/>
          <p:cNvGraphicFramePr>
            <a:graphicFrameLocks noChangeAspect="1"/>
          </p:cNvGraphicFramePr>
          <p:nvPr/>
        </p:nvGraphicFramePr>
        <p:xfrm>
          <a:off x="3886200" y="2667000"/>
          <a:ext cx="4735513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040478" imgH="1059790" progId="">
                  <p:embed/>
                </p:oleObj>
              </mc:Choice>
              <mc:Fallback>
                <p:oleObj name="Visio" r:id="rId3" imgW="5040478" imgH="1059790" progId="">
                  <p:embed/>
                  <p:pic>
                    <p:nvPicPr>
                      <p:cNvPr id="4024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2667000"/>
                        <a:ext cx="4735513" cy="1069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2440" name="Rectangle 8"/>
          <p:cNvSpPr>
            <a:spLocks noChangeArrowheads="1"/>
          </p:cNvSpPr>
          <p:nvPr/>
        </p:nvSpPr>
        <p:spPr bwMode="auto">
          <a:xfrm>
            <a:off x="0" y="3114675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02439" name="Object 7"/>
          <p:cNvGraphicFramePr>
            <a:graphicFrameLocks noChangeAspect="1"/>
          </p:cNvGraphicFramePr>
          <p:nvPr/>
        </p:nvGraphicFramePr>
        <p:xfrm>
          <a:off x="3810000" y="5334000"/>
          <a:ext cx="4735513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4957267" imgH="1059790" progId="">
                  <p:embed/>
                </p:oleObj>
              </mc:Choice>
              <mc:Fallback>
                <p:oleObj name="Visio" r:id="rId5" imgW="4957267" imgH="1059790" progId="">
                  <p:embed/>
                  <p:pic>
                    <p:nvPicPr>
                      <p:cNvPr id="40243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5334000"/>
                        <a:ext cx="4735513" cy="1069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Associative Law</a:t>
            </a:r>
          </a:p>
        </p:txBody>
      </p:sp>
      <p:sp>
        <p:nvSpPr>
          <p:cNvPr id="4034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572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/>
              <a:t>Associative Law for Addition 	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GB"/>
              <a:t>	A + (B + C) = (A + B) + C</a:t>
            </a:r>
          </a:p>
        </p:txBody>
      </p:sp>
      <p:sp>
        <p:nvSpPr>
          <p:cNvPr id="403460" name="Rectangle 4"/>
          <p:cNvSpPr>
            <a:spLocks noChangeArrowheads="1"/>
          </p:cNvSpPr>
          <p:nvPr/>
        </p:nvSpPr>
        <p:spPr bwMode="auto">
          <a:xfrm>
            <a:off x="0" y="3114675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3462" name="Rectangle 6"/>
          <p:cNvSpPr>
            <a:spLocks noChangeArrowheads="1"/>
          </p:cNvSpPr>
          <p:nvPr/>
        </p:nvSpPr>
        <p:spPr bwMode="auto">
          <a:xfrm>
            <a:off x="0" y="3114675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3465" name="Rectangle 9"/>
          <p:cNvSpPr>
            <a:spLocks noChangeArrowheads="1"/>
          </p:cNvSpPr>
          <p:nvPr/>
        </p:nvSpPr>
        <p:spPr bwMode="auto">
          <a:xfrm>
            <a:off x="0" y="2847975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3467" name="Rectangle 11"/>
          <p:cNvSpPr>
            <a:spLocks noChangeArrowheads="1"/>
          </p:cNvSpPr>
          <p:nvPr/>
        </p:nvSpPr>
        <p:spPr bwMode="auto">
          <a:xfrm>
            <a:off x="0" y="2852738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03466" name="Object 10"/>
          <p:cNvGraphicFramePr>
            <a:graphicFrameLocks noChangeAspect="1"/>
          </p:cNvGraphicFramePr>
          <p:nvPr/>
        </p:nvGraphicFramePr>
        <p:xfrm>
          <a:off x="76200" y="4267200"/>
          <a:ext cx="8915400" cy="223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7001561" imgH="1747723" progId="">
                  <p:embed/>
                </p:oleObj>
              </mc:Choice>
              <mc:Fallback>
                <p:oleObj name="Visio" r:id="rId3" imgW="7001561" imgH="1747723" progId="">
                  <p:embed/>
                  <p:pic>
                    <p:nvPicPr>
                      <p:cNvPr id="40346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4267200"/>
                        <a:ext cx="8915400" cy="2230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Associative Law</a:t>
            </a:r>
          </a:p>
        </p:txBody>
      </p:sp>
      <p:sp>
        <p:nvSpPr>
          <p:cNvPr id="4044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572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sz="2800"/>
              <a:t>Associative Law for Multiplication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GB" sz="2800"/>
              <a:t>	A.(B.C) = (A.B).C</a:t>
            </a:r>
          </a:p>
        </p:txBody>
      </p:sp>
      <p:sp>
        <p:nvSpPr>
          <p:cNvPr id="404484" name="Rectangle 4"/>
          <p:cNvSpPr>
            <a:spLocks noChangeArrowheads="1"/>
          </p:cNvSpPr>
          <p:nvPr/>
        </p:nvSpPr>
        <p:spPr bwMode="auto">
          <a:xfrm>
            <a:off x="0" y="3114675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4485" name="Rectangle 5"/>
          <p:cNvSpPr>
            <a:spLocks noChangeArrowheads="1"/>
          </p:cNvSpPr>
          <p:nvPr/>
        </p:nvSpPr>
        <p:spPr bwMode="auto">
          <a:xfrm>
            <a:off x="0" y="3114675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4486" name="Rectangle 6"/>
          <p:cNvSpPr>
            <a:spLocks noChangeArrowheads="1"/>
          </p:cNvSpPr>
          <p:nvPr/>
        </p:nvSpPr>
        <p:spPr bwMode="auto">
          <a:xfrm>
            <a:off x="0" y="2847975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04487" name="Object 7"/>
          <p:cNvGraphicFramePr>
            <a:graphicFrameLocks noChangeAspect="1"/>
          </p:cNvGraphicFramePr>
          <p:nvPr/>
        </p:nvGraphicFramePr>
        <p:xfrm>
          <a:off x="76200" y="4267200"/>
          <a:ext cx="8991600" cy="223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6995160" imgH="1747723" progId="">
                  <p:embed/>
                </p:oleObj>
              </mc:Choice>
              <mc:Fallback>
                <p:oleObj name="Visio" r:id="rId3" imgW="6995160" imgH="1747723" progId="">
                  <p:embed/>
                  <p:pic>
                    <p:nvPicPr>
                      <p:cNvPr id="40448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4267200"/>
                        <a:ext cx="8991600" cy="2230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Distributive Law</a:t>
            </a:r>
          </a:p>
        </p:txBody>
      </p:sp>
      <p:sp>
        <p:nvSpPr>
          <p:cNvPr id="405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GB" sz="2800"/>
              <a:t>A.(B + C) = A.B + A.C</a:t>
            </a:r>
          </a:p>
        </p:txBody>
      </p:sp>
      <p:sp>
        <p:nvSpPr>
          <p:cNvPr id="405509" name="Rectangle 5"/>
          <p:cNvSpPr>
            <a:spLocks noChangeArrowheads="1"/>
          </p:cNvSpPr>
          <p:nvPr/>
        </p:nvSpPr>
        <p:spPr bwMode="auto">
          <a:xfrm>
            <a:off x="0" y="2771775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05508" name="Object 4"/>
          <p:cNvGraphicFramePr>
            <a:graphicFrameLocks noChangeAspect="1"/>
          </p:cNvGraphicFramePr>
          <p:nvPr/>
        </p:nvGraphicFramePr>
        <p:xfrm>
          <a:off x="152400" y="3657600"/>
          <a:ext cx="8839200" cy="247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023506" imgH="1988820" progId="">
                  <p:embed/>
                </p:oleObj>
              </mc:Choice>
              <mc:Fallback>
                <p:oleObj name="Visio" r:id="rId2" imgW="7023506" imgH="1988820" progId="">
                  <p:embed/>
                  <p:pic>
                    <p:nvPicPr>
                      <p:cNvPr id="4055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657600"/>
                        <a:ext cx="8839200" cy="2479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Rules of Boolean Algebra</a:t>
            </a:r>
          </a:p>
        </p:txBody>
      </p:sp>
      <p:sp>
        <p:nvSpPr>
          <p:cNvPr id="406531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marL="609600" indent="-609600">
              <a:buClr>
                <a:schemeClr val="tx1"/>
              </a:buClr>
              <a:buFont typeface="Wingdings" pitchFamily="2" charset="2"/>
              <a:buAutoNum type="arabicPeriod"/>
            </a:pPr>
            <a:r>
              <a:rPr lang="en-GB" dirty="0"/>
              <a:t>A + 0 = A</a:t>
            </a:r>
          </a:p>
          <a:p>
            <a:pPr marL="609600" indent="-609600">
              <a:buClr>
                <a:schemeClr val="tx1"/>
              </a:buClr>
              <a:buFont typeface="Wingdings" pitchFamily="2" charset="2"/>
              <a:buAutoNum type="arabicPeriod"/>
            </a:pPr>
            <a:r>
              <a:rPr lang="en-GB" dirty="0"/>
              <a:t>A + 1 = 1</a:t>
            </a:r>
          </a:p>
          <a:p>
            <a:pPr marL="609600" indent="-609600">
              <a:buClr>
                <a:schemeClr val="tx1"/>
              </a:buClr>
              <a:buFont typeface="Wingdings" pitchFamily="2" charset="2"/>
              <a:buAutoNum type="arabicPeriod"/>
            </a:pPr>
            <a:r>
              <a:rPr lang="en-GB" dirty="0"/>
              <a:t>A.0 = 0</a:t>
            </a:r>
          </a:p>
          <a:p>
            <a:pPr marL="609600" indent="-609600">
              <a:buClr>
                <a:schemeClr val="tx1"/>
              </a:buClr>
              <a:buFont typeface="Wingdings" pitchFamily="2" charset="2"/>
              <a:buAutoNum type="arabicPeriod"/>
            </a:pPr>
            <a:r>
              <a:rPr lang="en-GB" dirty="0"/>
              <a:t>A.1 = A</a:t>
            </a:r>
          </a:p>
          <a:p>
            <a:pPr marL="609600" indent="-609600">
              <a:buClr>
                <a:schemeClr val="tx1"/>
              </a:buClr>
              <a:buFont typeface="Wingdings" pitchFamily="2" charset="2"/>
              <a:buAutoNum type="arabicPeriod"/>
            </a:pPr>
            <a:r>
              <a:rPr lang="en-GB" dirty="0"/>
              <a:t>A + A = A</a:t>
            </a:r>
          </a:p>
          <a:p>
            <a:pPr marL="609600" indent="-609600">
              <a:buClr>
                <a:schemeClr val="tx1"/>
              </a:buClr>
              <a:buFont typeface="Wingdings" pitchFamily="2" charset="2"/>
              <a:buAutoNum type="arabicPeriod"/>
            </a:pPr>
            <a:r>
              <a:rPr lang="en-GB" dirty="0"/>
              <a:t>A +     = 1</a:t>
            </a:r>
          </a:p>
        </p:txBody>
      </p:sp>
      <p:sp>
        <p:nvSpPr>
          <p:cNvPr id="406543" name="Rectangle 15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 marL="533400" indent="-533400">
              <a:buFont typeface="Wingdings" pitchFamily="2" charset="2"/>
              <a:buAutoNum type="arabicPeriod" startAt="7"/>
            </a:pPr>
            <a:r>
              <a:rPr lang="en-GB" dirty="0"/>
              <a:t>A.A = A</a:t>
            </a:r>
          </a:p>
          <a:p>
            <a:pPr marL="533400" indent="-533400">
              <a:buFont typeface="Wingdings" pitchFamily="2" charset="2"/>
              <a:buAutoNum type="arabicPeriod" startAt="7"/>
            </a:pPr>
            <a:r>
              <a:rPr lang="en-GB" dirty="0"/>
              <a:t>A.      = 0</a:t>
            </a:r>
          </a:p>
          <a:p>
            <a:pPr marL="533400" indent="-533400">
              <a:buFont typeface="Wingdings" pitchFamily="2" charset="2"/>
              <a:buAutoNum type="arabicPeriod" startAt="7"/>
            </a:pPr>
            <a:r>
              <a:rPr lang="en-GB" dirty="0"/>
              <a:t>    = A</a:t>
            </a:r>
          </a:p>
          <a:p>
            <a:pPr marL="533400" indent="-533400">
              <a:buFont typeface="Wingdings" pitchFamily="2" charset="2"/>
              <a:buAutoNum type="arabicPeriod" startAt="7"/>
            </a:pPr>
            <a:r>
              <a:rPr lang="en-GB" dirty="0"/>
              <a:t>A + A.B = A</a:t>
            </a:r>
          </a:p>
          <a:p>
            <a:pPr marL="533400" indent="-533400">
              <a:buFont typeface="Wingdings" pitchFamily="2" charset="2"/>
              <a:buAutoNum type="arabicPeriod" startAt="7"/>
            </a:pPr>
            <a:r>
              <a:rPr lang="en-GB" dirty="0"/>
              <a:t>A +        = A + B</a:t>
            </a:r>
          </a:p>
          <a:p>
            <a:pPr marL="533400" indent="-533400">
              <a:buFont typeface="Wingdings" pitchFamily="2" charset="2"/>
              <a:buAutoNum type="arabicPeriod" startAt="7"/>
            </a:pPr>
            <a:r>
              <a:rPr lang="en-GB" dirty="0"/>
              <a:t>(A+B).(A+C) </a:t>
            </a:r>
          </a:p>
          <a:p>
            <a:pPr marL="533400" indent="-533400">
              <a:buFont typeface="Wingdings" pitchFamily="2" charset="2"/>
              <a:buNone/>
            </a:pPr>
            <a:r>
              <a:rPr lang="en-GB" dirty="0"/>
              <a:t>	= A+B.C</a:t>
            </a:r>
          </a:p>
        </p:txBody>
      </p:sp>
      <p:sp>
        <p:nvSpPr>
          <p:cNvPr id="406542" name="Rectangle 14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06541" name="Object 13"/>
          <p:cNvGraphicFramePr>
            <a:graphicFrameLocks noChangeAspect="1"/>
          </p:cNvGraphicFramePr>
          <p:nvPr/>
        </p:nvGraphicFramePr>
        <p:xfrm>
          <a:off x="1609725" y="4191000"/>
          <a:ext cx="3714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4880" imgH="203040" progId="Equation.3">
                  <p:embed/>
                </p:oleObj>
              </mc:Choice>
              <mc:Fallback>
                <p:oleObj name="Equation" r:id="rId3" imgW="164880" imgH="203040" progId="Equation.3">
                  <p:embed/>
                  <p:pic>
                    <p:nvPicPr>
                      <p:cNvPr id="40654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9725" y="4191000"/>
                        <a:ext cx="37147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6544" name="Object 16"/>
          <p:cNvGraphicFramePr>
            <a:graphicFrameLocks noChangeAspect="1"/>
          </p:cNvGraphicFramePr>
          <p:nvPr/>
        </p:nvGraphicFramePr>
        <p:xfrm>
          <a:off x="5562600" y="2133600"/>
          <a:ext cx="304800" cy="3767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4880" imgH="203040" progId="Equation.3">
                  <p:embed/>
                </p:oleObj>
              </mc:Choice>
              <mc:Fallback>
                <p:oleObj name="Equation" r:id="rId5" imgW="164880" imgH="203040" progId="Equation.3">
                  <p:embed/>
                  <p:pic>
                    <p:nvPicPr>
                      <p:cNvPr id="40654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2133600"/>
                        <a:ext cx="304800" cy="3767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6548" name="Rectangle 20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06547" name="Object 19"/>
          <p:cNvGraphicFramePr>
            <a:graphicFrameLocks noChangeAspect="1"/>
          </p:cNvGraphicFramePr>
          <p:nvPr/>
        </p:nvGraphicFramePr>
        <p:xfrm>
          <a:off x="5257801" y="2617694"/>
          <a:ext cx="304800" cy="4303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4880" imgH="228600" progId="Equation.3">
                  <p:embed/>
                </p:oleObj>
              </mc:Choice>
              <mc:Fallback>
                <p:oleObj name="Equation" r:id="rId7" imgW="164880" imgH="228600" progId="Equation.3">
                  <p:embed/>
                  <p:pic>
                    <p:nvPicPr>
                      <p:cNvPr id="40654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1" y="2617694"/>
                        <a:ext cx="304800" cy="4303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6550" name="Rectangle 22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06549" name="Object 21"/>
          <p:cNvGraphicFramePr>
            <a:graphicFrameLocks noChangeAspect="1"/>
          </p:cNvGraphicFramePr>
          <p:nvPr/>
        </p:nvGraphicFramePr>
        <p:xfrm>
          <a:off x="5791200" y="3657600"/>
          <a:ext cx="58958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79360" imgH="215640" progId="Equation.3">
                  <p:embed/>
                </p:oleObj>
              </mc:Choice>
              <mc:Fallback>
                <p:oleObj name="Equation" r:id="rId9" imgW="279360" imgH="215640" progId="Equation.3">
                  <p:embed/>
                  <p:pic>
                    <p:nvPicPr>
                      <p:cNvPr id="406549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657600"/>
                        <a:ext cx="589583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Demorgan’s Theorems</a:t>
            </a:r>
          </a:p>
        </p:txBody>
      </p:sp>
      <p:sp>
        <p:nvSpPr>
          <p:cNvPr id="408586" name="Rectangle 1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First Theorem</a:t>
            </a:r>
          </a:p>
          <a:p>
            <a:endParaRPr lang="en-GB"/>
          </a:p>
          <a:p>
            <a:endParaRPr lang="en-GB"/>
          </a:p>
          <a:p>
            <a:pPr>
              <a:buFont typeface="Wingdings" pitchFamily="2" charset="2"/>
              <a:buNone/>
            </a:pPr>
            <a:endParaRPr lang="en-GB"/>
          </a:p>
          <a:p>
            <a:r>
              <a:rPr lang="en-GB"/>
              <a:t>Second Theorem</a:t>
            </a:r>
          </a:p>
          <a:p>
            <a:pPr>
              <a:buFont typeface="Wingdings" pitchFamily="2" charset="2"/>
              <a:buNone/>
            </a:pPr>
            <a:endParaRPr lang="en-GB"/>
          </a:p>
        </p:txBody>
      </p:sp>
      <p:sp>
        <p:nvSpPr>
          <p:cNvPr id="408585" name="Rectangle 9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08584" name="Object 8"/>
          <p:cNvGraphicFramePr>
            <a:graphicFrameLocks noChangeAspect="1"/>
          </p:cNvGraphicFramePr>
          <p:nvPr/>
        </p:nvGraphicFramePr>
        <p:xfrm>
          <a:off x="914400" y="2286000"/>
          <a:ext cx="2438400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87320" imgH="215640" progId="Equation.3">
                  <p:embed/>
                </p:oleObj>
              </mc:Choice>
              <mc:Fallback>
                <p:oleObj name="Equation" r:id="rId3" imgW="787320" imgH="215640" progId="Equation.3">
                  <p:embed/>
                  <p:pic>
                    <p:nvPicPr>
                      <p:cNvPr id="40858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86000"/>
                        <a:ext cx="2438400" cy="681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8588" name="Rectangle 12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08587" name="Object 11"/>
          <p:cNvGraphicFramePr>
            <a:graphicFrameLocks noChangeAspect="1"/>
          </p:cNvGraphicFramePr>
          <p:nvPr/>
        </p:nvGraphicFramePr>
        <p:xfrm>
          <a:off x="914400" y="4724400"/>
          <a:ext cx="243840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87320" imgH="215640" progId="Equation.3">
                  <p:embed/>
                </p:oleObj>
              </mc:Choice>
              <mc:Fallback>
                <p:oleObj name="Equation" r:id="rId5" imgW="787320" imgH="215640" progId="Equation.3">
                  <p:embed/>
                  <p:pic>
                    <p:nvPicPr>
                      <p:cNvPr id="40858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724400"/>
                        <a:ext cx="2438400" cy="682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8590" name="Rectangle 14"/>
          <p:cNvSpPr>
            <a:spLocks noChangeArrowheads="1"/>
          </p:cNvSpPr>
          <p:nvPr/>
        </p:nvSpPr>
        <p:spPr bwMode="auto">
          <a:xfrm>
            <a:off x="0" y="295751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08589" name="Object 13"/>
          <p:cNvGraphicFramePr>
            <a:graphicFrameLocks noChangeAspect="1"/>
          </p:cNvGraphicFramePr>
          <p:nvPr/>
        </p:nvGraphicFramePr>
        <p:xfrm>
          <a:off x="3810000" y="2895600"/>
          <a:ext cx="510540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4295242" imgH="957377" progId="">
                  <p:embed/>
                </p:oleObj>
              </mc:Choice>
              <mc:Fallback>
                <p:oleObj name="Visio" r:id="rId7" imgW="4295242" imgH="957377" progId="">
                  <p:embed/>
                  <p:pic>
                    <p:nvPicPr>
                      <p:cNvPr id="40858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895600"/>
                        <a:ext cx="5105400" cy="1111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8592" name="Rectangle 16"/>
          <p:cNvSpPr>
            <a:spLocks noChangeArrowheads="1"/>
          </p:cNvSpPr>
          <p:nvPr/>
        </p:nvSpPr>
        <p:spPr bwMode="auto">
          <a:xfrm>
            <a:off x="0" y="295751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08591" name="Object 15"/>
          <p:cNvGraphicFramePr>
            <a:graphicFrameLocks noChangeAspect="1"/>
          </p:cNvGraphicFramePr>
          <p:nvPr/>
        </p:nvGraphicFramePr>
        <p:xfrm>
          <a:off x="3733800" y="5410200"/>
          <a:ext cx="5029200" cy="114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4101694" imgH="957377" progId="">
                  <p:embed/>
                </p:oleObj>
              </mc:Choice>
              <mc:Fallback>
                <p:oleObj name="Visio" r:id="rId9" imgW="4101694" imgH="957377" progId="">
                  <p:embed/>
                  <p:pic>
                    <p:nvPicPr>
                      <p:cNvPr id="40859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5410200"/>
                        <a:ext cx="5029200" cy="1147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Demorgan’s Theorems</a:t>
            </a:r>
          </a:p>
        </p:txBody>
      </p:sp>
      <p:sp>
        <p:nvSpPr>
          <p:cNvPr id="411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Any number of variables</a:t>
            </a:r>
          </a:p>
          <a:p>
            <a:endParaRPr lang="en-GB"/>
          </a:p>
          <a:p>
            <a:endParaRPr lang="en-GB"/>
          </a:p>
          <a:p>
            <a:r>
              <a:rPr lang="en-GB"/>
              <a:t>Combination of variables</a:t>
            </a:r>
          </a:p>
        </p:txBody>
      </p:sp>
      <p:sp>
        <p:nvSpPr>
          <p:cNvPr id="411653" name="Rectangle 5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11652" name="Object 4"/>
          <p:cNvGraphicFramePr>
            <a:graphicFrameLocks noChangeAspect="1"/>
          </p:cNvGraphicFramePr>
          <p:nvPr/>
        </p:nvGraphicFramePr>
        <p:xfrm>
          <a:off x="838200" y="2286000"/>
          <a:ext cx="266700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80800" imgH="215640" progId="Equation.3">
                  <p:embed/>
                </p:oleObj>
              </mc:Choice>
              <mc:Fallback>
                <p:oleObj name="Equation" r:id="rId3" imgW="1180800" imgH="215640" progId="Equation.3">
                  <p:embed/>
                  <p:pic>
                    <p:nvPicPr>
                      <p:cNvPr id="4116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286000"/>
                        <a:ext cx="2667000" cy="496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55" name="Rectangle 7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11654" name="Object 6"/>
          <p:cNvGraphicFramePr>
            <a:graphicFrameLocks noChangeAspect="1"/>
          </p:cNvGraphicFramePr>
          <p:nvPr/>
        </p:nvGraphicFramePr>
        <p:xfrm>
          <a:off x="838200" y="2819400"/>
          <a:ext cx="25908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80800" imgH="215640" progId="Equation.3">
                  <p:embed/>
                </p:oleObj>
              </mc:Choice>
              <mc:Fallback>
                <p:oleObj name="Equation" r:id="rId5" imgW="1180800" imgH="215640" progId="Equation.3">
                  <p:embed/>
                  <p:pic>
                    <p:nvPicPr>
                      <p:cNvPr id="41165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819400"/>
                        <a:ext cx="2590800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57" name="Rectangle 9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11656" name="Object 8"/>
          <p:cNvGraphicFramePr>
            <a:graphicFrameLocks noChangeAspect="1"/>
          </p:cNvGraphicFramePr>
          <p:nvPr/>
        </p:nvGraphicFramePr>
        <p:xfrm>
          <a:off x="838200" y="3962400"/>
          <a:ext cx="6453188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30240" imgH="241200" progId="Equation.3">
                  <p:embed/>
                </p:oleObj>
              </mc:Choice>
              <mc:Fallback>
                <p:oleObj name="Equation" r:id="rId7" imgW="2730240" imgH="241200" progId="Equation.3">
                  <p:embed/>
                  <p:pic>
                    <p:nvPicPr>
                      <p:cNvPr id="41165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962400"/>
                        <a:ext cx="6453188" cy="561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59" name="Rectangle 11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11658" name="Object 10"/>
          <p:cNvGraphicFramePr>
            <a:graphicFrameLocks noChangeAspect="1"/>
          </p:cNvGraphicFramePr>
          <p:nvPr/>
        </p:nvGraphicFramePr>
        <p:xfrm>
          <a:off x="914400" y="4572000"/>
          <a:ext cx="3113088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44520" imgH="241200" progId="Equation.3">
                  <p:embed/>
                </p:oleObj>
              </mc:Choice>
              <mc:Fallback>
                <p:oleObj name="Equation" r:id="rId9" imgW="1244520" imgH="241200" progId="Equation.3">
                  <p:embed/>
                  <p:pic>
                    <p:nvPicPr>
                      <p:cNvPr id="41165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572000"/>
                        <a:ext cx="3113088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61" name="Rectangle 13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11660" name="Object 12"/>
          <p:cNvGraphicFramePr>
            <a:graphicFrameLocks noChangeAspect="1"/>
          </p:cNvGraphicFramePr>
          <p:nvPr/>
        </p:nvGraphicFramePr>
        <p:xfrm>
          <a:off x="4114800" y="4572000"/>
          <a:ext cx="3651250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98320" imgH="241200" progId="Equation.3">
                  <p:embed/>
                </p:oleObj>
              </mc:Choice>
              <mc:Fallback>
                <p:oleObj name="Equation" r:id="rId11" imgW="1498320" imgH="241200" progId="Equation.3">
                  <p:embed/>
                  <p:pic>
                    <p:nvPicPr>
                      <p:cNvPr id="41166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572000"/>
                        <a:ext cx="3651250" cy="579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63" name="Rectangle 15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11662" name="Object 14"/>
          <p:cNvGraphicFramePr>
            <a:graphicFrameLocks noChangeAspect="1"/>
          </p:cNvGraphicFramePr>
          <p:nvPr/>
        </p:nvGraphicFramePr>
        <p:xfrm>
          <a:off x="914400" y="5257800"/>
          <a:ext cx="38036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36480" imgH="215640" progId="Equation.3">
                  <p:embed/>
                </p:oleObj>
              </mc:Choice>
              <mc:Fallback>
                <p:oleObj name="Equation" r:id="rId13" imgW="1536480" imgH="215640" progId="Equation.3">
                  <p:embed/>
                  <p:pic>
                    <p:nvPicPr>
                      <p:cNvPr id="41166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257800"/>
                        <a:ext cx="3803650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65" name="Rectangle 17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11664" name="Object 16"/>
          <p:cNvGraphicFramePr>
            <a:graphicFrameLocks noChangeAspect="1"/>
          </p:cNvGraphicFramePr>
          <p:nvPr/>
        </p:nvGraphicFramePr>
        <p:xfrm>
          <a:off x="914400" y="5867400"/>
          <a:ext cx="28067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55600" imgH="215640" progId="Equation.3">
                  <p:embed/>
                </p:oleObj>
              </mc:Choice>
              <mc:Fallback>
                <p:oleObj name="Equation" r:id="rId15" imgW="1155600" imgH="215640" progId="Equation.3">
                  <p:embed/>
                  <p:pic>
                    <p:nvPicPr>
                      <p:cNvPr id="41166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867400"/>
                        <a:ext cx="2806700" cy="530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Boolean Analysis of Logic Circuits</a:t>
            </a:r>
          </a:p>
        </p:txBody>
      </p:sp>
      <p:sp>
        <p:nvSpPr>
          <p:cNvPr id="4444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sz="2800"/>
              <a:t>Boolean Algebra provides concise way to represent operation of a logic circuit</a:t>
            </a:r>
          </a:p>
          <a:p>
            <a:r>
              <a:rPr lang="en-GB" sz="2800"/>
              <a:t>Complete function of a logic circuit can be determined by evaluating the Boolean expression using different input combinations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Boolean Analysis of Logic Circuits</a:t>
            </a:r>
          </a:p>
        </p:txBody>
      </p:sp>
      <p:sp>
        <p:nvSpPr>
          <p:cNvPr id="4136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29600" cy="4530725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None/>
            </a:pPr>
            <a:endParaRPr lang="en-GB"/>
          </a:p>
          <a:p>
            <a:pPr>
              <a:buFont typeface="Wingdings" pitchFamily="2" charset="2"/>
              <a:buNone/>
            </a:pPr>
            <a:endParaRPr lang="en-GB"/>
          </a:p>
          <a:p>
            <a:pPr>
              <a:buFont typeface="Wingdings" pitchFamily="2" charset="2"/>
              <a:buNone/>
            </a:pPr>
            <a:endParaRPr lang="en-GB"/>
          </a:p>
          <a:p>
            <a:pPr>
              <a:buFont typeface="Wingdings" pitchFamily="2" charset="2"/>
              <a:buNone/>
            </a:pPr>
            <a:endParaRPr lang="en-GB"/>
          </a:p>
          <a:p>
            <a:pPr>
              <a:buFont typeface="Wingdings" pitchFamily="2" charset="2"/>
              <a:buNone/>
            </a:pPr>
            <a:endParaRPr lang="en-GB"/>
          </a:p>
          <a:p>
            <a:r>
              <a:rPr lang="en-GB"/>
              <a:t>From the expression, the output is a 1 if variable D = 1 and               =1</a:t>
            </a:r>
          </a:p>
          <a:p>
            <a:r>
              <a:rPr lang="en-GB"/>
              <a:t>              =1 if AB=1 or C=0</a:t>
            </a:r>
          </a:p>
        </p:txBody>
      </p:sp>
      <p:graphicFrame>
        <p:nvGraphicFramePr>
          <p:cNvPr id="413709" name="Object 13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5257800"/>
          <a:ext cx="121519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241200" progId="Equation.3">
                  <p:embed/>
                </p:oleObj>
              </mc:Choice>
              <mc:Fallback>
                <p:oleObj name="Equation" r:id="rId3" imgW="609480" imgH="241200" progId="Equation.3">
                  <p:embed/>
                  <p:pic>
                    <p:nvPicPr>
                      <p:cNvPr id="41370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257800"/>
                        <a:ext cx="1215190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370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13700" name="Object 4"/>
          <p:cNvGraphicFramePr>
            <a:graphicFrameLocks noChangeAspect="1"/>
          </p:cNvGraphicFramePr>
          <p:nvPr/>
        </p:nvGraphicFramePr>
        <p:xfrm>
          <a:off x="457200" y="1600200"/>
          <a:ext cx="5867400" cy="243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3878885" imgH="1605077" progId="">
                  <p:embed/>
                </p:oleObj>
              </mc:Choice>
              <mc:Fallback>
                <p:oleObj name="Visio" r:id="rId5" imgW="3878885" imgH="1605077" progId="">
                  <p:embed/>
                  <p:pic>
                    <p:nvPicPr>
                      <p:cNvPr id="4137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600200"/>
                        <a:ext cx="5867400" cy="2436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3708" name="Rectangle 12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13707" name="Object 11"/>
          <p:cNvGraphicFramePr>
            <a:graphicFrameLocks noChangeAspect="1"/>
          </p:cNvGraphicFramePr>
          <p:nvPr/>
        </p:nvGraphicFramePr>
        <p:xfrm>
          <a:off x="3853044" y="4648200"/>
          <a:ext cx="1404756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09480" imgH="241200" progId="Equation.3">
                  <p:embed/>
                </p:oleObj>
              </mc:Choice>
              <mc:Fallback>
                <p:oleObj name="Equation" r:id="rId7" imgW="609480" imgH="241200" progId="Equation.3">
                  <p:embed/>
                  <p:pic>
                    <p:nvPicPr>
                      <p:cNvPr id="41370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3044" y="4648200"/>
                        <a:ext cx="1404756" cy="547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Boolean Analysis of Logic Circuits</a:t>
            </a:r>
          </a:p>
        </p:txBody>
      </p:sp>
      <p:graphicFrame>
        <p:nvGraphicFramePr>
          <p:cNvPr id="416552" name="Group 808"/>
          <p:cNvGraphicFramePr>
            <a:graphicFrameLocks noGrp="1"/>
          </p:cNvGraphicFramePr>
          <p:nvPr>
            <p:ph type="tbl" idx="1"/>
          </p:nvPr>
        </p:nvGraphicFramePr>
        <p:xfrm>
          <a:off x="533400" y="1828800"/>
          <a:ext cx="8153400" cy="4719638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88963">
                <a:tc gridSpan="4"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Inputs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Output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Inputs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Output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C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D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C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D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4100"/>
              <a:t>Simplification using Boolean Algebra</a:t>
            </a:r>
          </a:p>
        </p:txBody>
      </p:sp>
      <p:sp>
        <p:nvSpPr>
          <p:cNvPr id="417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AB + A(B+C) + B(B+C)</a:t>
            </a:r>
          </a:p>
          <a:p>
            <a:pPr>
              <a:buFont typeface="Wingdings" pitchFamily="2" charset="2"/>
              <a:buNone/>
            </a:pPr>
            <a:r>
              <a:rPr lang="en-GB" dirty="0"/>
              <a:t>	= AB + AB + AC + BB +BC</a:t>
            </a:r>
          </a:p>
          <a:p>
            <a:pPr>
              <a:buFont typeface="Wingdings" pitchFamily="2" charset="2"/>
              <a:buNone/>
            </a:pPr>
            <a:r>
              <a:rPr lang="en-GB" dirty="0"/>
              <a:t>	= AB + AC + B + BC</a:t>
            </a:r>
          </a:p>
          <a:p>
            <a:pPr>
              <a:buFont typeface="Wingdings" pitchFamily="2" charset="2"/>
              <a:buNone/>
            </a:pPr>
            <a:r>
              <a:rPr lang="en-GB" dirty="0"/>
              <a:t>	= AB + AC + B</a:t>
            </a:r>
          </a:p>
          <a:p>
            <a:pPr>
              <a:buFont typeface="Wingdings" pitchFamily="2" charset="2"/>
              <a:buNone/>
            </a:pPr>
            <a:r>
              <a:rPr lang="en-GB" dirty="0"/>
              <a:t>	= B + AC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Simplified Circuit</a:t>
            </a:r>
          </a:p>
        </p:txBody>
      </p:sp>
      <p:sp>
        <p:nvSpPr>
          <p:cNvPr id="419845" name="Rectangle 5"/>
          <p:cNvSpPr>
            <a:spLocks noChangeArrowheads="1"/>
          </p:cNvSpPr>
          <p:nvPr/>
        </p:nvSpPr>
        <p:spPr bwMode="auto">
          <a:xfrm>
            <a:off x="0" y="264795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19844" name="Object 4"/>
          <p:cNvGraphicFramePr>
            <a:graphicFrameLocks noChangeAspect="1"/>
          </p:cNvGraphicFramePr>
          <p:nvPr/>
        </p:nvGraphicFramePr>
        <p:xfrm>
          <a:off x="152400" y="1447800"/>
          <a:ext cx="8720138" cy="290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973934" imgH="971702" progId="">
                  <p:embed/>
                </p:oleObj>
              </mc:Choice>
              <mc:Fallback>
                <p:oleObj name="Visio" r:id="rId2" imgW="2973934" imgH="971702" progId="">
                  <p:embed/>
                  <p:pic>
                    <p:nvPicPr>
                      <p:cNvPr id="4198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447800"/>
                        <a:ext cx="8720138" cy="2906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47" name="Rectangle 7"/>
          <p:cNvSpPr>
            <a:spLocks noChangeArrowheads="1"/>
          </p:cNvSpPr>
          <p:nvPr/>
        </p:nvSpPr>
        <p:spPr bwMode="auto">
          <a:xfrm>
            <a:off x="0" y="2752725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19846" name="Object 6"/>
          <p:cNvGraphicFramePr>
            <a:graphicFrameLocks noChangeAspect="1"/>
          </p:cNvGraphicFramePr>
          <p:nvPr/>
        </p:nvGraphicFramePr>
        <p:xfrm>
          <a:off x="4572000" y="4343400"/>
          <a:ext cx="4059238" cy="228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39875" imgH="763524" progId="">
                  <p:embed/>
                </p:oleObj>
              </mc:Choice>
              <mc:Fallback>
                <p:oleObj name="Visio" r:id="rId4" imgW="1439875" imgH="763524" progId="">
                  <p:embed/>
                  <p:pic>
                    <p:nvPicPr>
                      <p:cNvPr id="41984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343400"/>
                        <a:ext cx="4059238" cy="2287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Standard forms of Boolean Expressions</a:t>
            </a:r>
          </a:p>
        </p:txBody>
      </p:sp>
      <p:sp>
        <p:nvSpPr>
          <p:cNvPr id="44851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93875"/>
            <a:ext cx="8229600" cy="4530725"/>
          </a:xfrm>
        </p:spPr>
        <p:txBody>
          <a:bodyPr/>
          <a:lstStyle/>
          <a:p>
            <a:r>
              <a:rPr lang="en-GB" sz="2800"/>
              <a:t>Sum-of-Products form</a:t>
            </a:r>
          </a:p>
          <a:p>
            <a:r>
              <a:rPr lang="en-GB" sz="2800"/>
              <a:t>Product-of-Sums form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Standard forms of Boolean Expressions</a:t>
            </a:r>
          </a:p>
        </p:txBody>
      </p:sp>
      <p:sp>
        <p:nvSpPr>
          <p:cNvPr id="420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Sum-of-Products form</a:t>
            </a:r>
          </a:p>
          <a:p>
            <a:pPr>
              <a:buFont typeface="Wingdings" pitchFamily="2" charset="2"/>
              <a:buNone/>
            </a:pPr>
            <a:r>
              <a:rPr lang="en-GB"/>
              <a:t>	AB + ABC</a:t>
            </a:r>
          </a:p>
          <a:p>
            <a:pPr>
              <a:buFont typeface="Wingdings" pitchFamily="2" charset="2"/>
              <a:buNone/>
            </a:pPr>
            <a:r>
              <a:rPr lang="en-GB"/>
              <a:t>	ABC + CDE + </a:t>
            </a:r>
          </a:p>
          <a:p>
            <a:pPr>
              <a:buFont typeface="Wingdings" pitchFamily="2" charset="2"/>
              <a:buNone/>
            </a:pPr>
            <a:endParaRPr lang="en-GB"/>
          </a:p>
          <a:p>
            <a:r>
              <a:rPr lang="en-GB"/>
              <a:t>Product-of-Sums form</a:t>
            </a:r>
          </a:p>
          <a:p>
            <a:endParaRPr lang="en-GB"/>
          </a:p>
          <a:p>
            <a:pPr>
              <a:buFont typeface="Wingdings" pitchFamily="2" charset="2"/>
              <a:buNone/>
            </a:pPr>
            <a:endParaRPr lang="en-GB"/>
          </a:p>
          <a:p>
            <a:pPr>
              <a:buFont typeface="Wingdings" pitchFamily="2" charset="2"/>
              <a:buNone/>
            </a:pPr>
            <a:endParaRPr lang="en-GB"/>
          </a:p>
        </p:txBody>
      </p:sp>
      <p:sp>
        <p:nvSpPr>
          <p:cNvPr id="420871" name="Rectangle 7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20870" name="Object 6"/>
          <p:cNvGraphicFramePr>
            <a:graphicFrameLocks noChangeAspect="1"/>
          </p:cNvGraphicFramePr>
          <p:nvPr/>
        </p:nvGraphicFramePr>
        <p:xfrm>
          <a:off x="2971800" y="2743200"/>
          <a:ext cx="9144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42720" imgH="215640" progId="Equation.3">
                  <p:embed/>
                </p:oleObj>
              </mc:Choice>
              <mc:Fallback>
                <p:oleObj name="Equation" r:id="rId3" imgW="342720" imgH="215640" progId="Equation.3">
                  <p:embed/>
                  <p:pic>
                    <p:nvPicPr>
                      <p:cNvPr id="4208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743200"/>
                        <a:ext cx="914400" cy="590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873" name="Rectangle 9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20872" name="Object 8"/>
          <p:cNvGraphicFramePr>
            <a:graphicFrameLocks noChangeAspect="1"/>
          </p:cNvGraphicFramePr>
          <p:nvPr/>
        </p:nvGraphicFramePr>
        <p:xfrm>
          <a:off x="838200" y="3352800"/>
          <a:ext cx="26670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54080" imgH="215640" progId="Equation.3">
                  <p:embed/>
                </p:oleObj>
              </mc:Choice>
              <mc:Fallback>
                <p:oleObj name="Equation" r:id="rId5" imgW="1054080" imgH="215640" progId="Equation.3">
                  <p:embed/>
                  <p:pic>
                    <p:nvPicPr>
                      <p:cNvPr id="42087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352800"/>
                        <a:ext cx="2667000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875" name="Rectangle 11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20874" name="Object 10"/>
          <p:cNvGraphicFramePr>
            <a:graphicFrameLocks noChangeAspect="1"/>
          </p:cNvGraphicFramePr>
          <p:nvPr/>
        </p:nvGraphicFramePr>
        <p:xfrm>
          <a:off x="838200" y="4572000"/>
          <a:ext cx="304800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06360" imgH="241200" progId="Equation.3">
                  <p:embed/>
                </p:oleObj>
              </mc:Choice>
              <mc:Fallback>
                <p:oleObj name="Equation" r:id="rId7" imgW="1206360" imgH="241200" progId="Equation.3">
                  <p:embed/>
                  <p:pic>
                    <p:nvPicPr>
                      <p:cNvPr id="42087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572000"/>
                        <a:ext cx="3048000" cy="601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877" name="Rectangle 13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20876" name="Object 12"/>
          <p:cNvGraphicFramePr>
            <a:graphicFrameLocks noChangeAspect="1"/>
          </p:cNvGraphicFramePr>
          <p:nvPr/>
        </p:nvGraphicFramePr>
        <p:xfrm>
          <a:off x="838200" y="5181600"/>
          <a:ext cx="530542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33360" imgH="241200" progId="Equation.3">
                  <p:embed/>
                </p:oleObj>
              </mc:Choice>
              <mc:Fallback>
                <p:oleObj name="Equation" r:id="rId9" imgW="2133360" imgH="241200" progId="Equation.3">
                  <p:embed/>
                  <p:pic>
                    <p:nvPicPr>
                      <p:cNvPr id="42087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181600"/>
                        <a:ext cx="5305425" cy="593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879" name="Rectangle 15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20878" name="Object 14"/>
          <p:cNvGraphicFramePr>
            <a:graphicFrameLocks noChangeAspect="1"/>
          </p:cNvGraphicFramePr>
          <p:nvPr/>
        </p:nvGraphicFramePr>
        <p:xfrm>
          <a:off x="838200" y="5791200"/>
          <a:ext cx="449580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76160" imgH="241200" progId="Equation.3">
                  <p:embed/>
                </p:oleObj>
              </mc:Choice>
              <mc:Fallback>
                <p:oleObj name="Equation" r:id="rId11" imgW="1676160" imgH="241200" progId="Equation.3">
                  <p:embed/>
                  <p:pic>
                    <p:nvPicPr>
                      <p:cNvPr id="42087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791200"/>
                        <a:ext cx="4495800" cy="639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Implementation of SOP expression</a:t>
            </a:r>
          </a:p>
        </p:txBody>
      </p:sp>
      <p:sp>
        <p:nvSpPr>
          <p:cNvPr id="422917" name="Rectangle 5"/>
          <p:cNvSpPr>
            <a:spLocks noChangeArrowheads="1"/>
          </p:cNvSpPr>
          <p:nvPr/>
        </p:nvSpPr>
        <p:spPr bwMode="auto">
          <a:xfrm>
            <a:off x="0" y="2676525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22916" name="Object 4"/>
          <p:cNvGraphicFramePr>
            <a:graphicFrameLocks noChangeAspect="1"/>
          </p:cNvGraphicFramePr>
          <p:nvPr/>
        </p:nvGraphicFramePr>
        <p:xfrm>
          <a:off x="990600" y="2209800"/>
          <a:ext cx="7467600" cy="409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695907" imgH="996696" progId="">
                  <p:embed/>
                </p:oleObj>
              </mc:Choice>
              <mc:Fallback>
                <p:oleObj name="Visio" r:id="rId2" imgW="1695907" imgH="996696" progId="">
                  <p:embed/>
                  <p:pic>
                    <p:nvPicPr>
                      <p:cNvPr id="4229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209800"/>
                        <a:ext cx="7467600" cy="409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Implementation of POS expression</a:t>
            </a:r>
          </a:p>
        </p:txBody>
      </p:sp>
      <p:sp>
        <p:nvSpPr>
          <p:cNvPr id="423941" name="Rectangle 5"/>
          <p:cNvSpPr>
            <a:spLocks noChangeArrowheads="1"/>
          </p:cNvSpPr>
          <p:nvPr/>
        </p:nvSpPr>
        <p:spPr bwMode="auto">
          <a:xfrm>
            <a:off x="0" y="2676525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23940" name="Object 4"/>
          <p:cNvGraphicFramePr>
            <a:graphicFrameLocks noChangeAspect="1"/>
          </p:cNvGraphicFramePr>
          <p:nvPr/>
        </p:nvGraphicFramePr>
        <p:xfrm>
          <a:off x="609600" y="2362200"/>
          <a:ext cx="8001000" cy="343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339340" imgH="998830" progId="">
                  <p:embed/>
                </p:oleObj>
              </mc:Choice>
              <mc:Fallback>
                <p:oleObj name="Visio" r:id="rId2" imgW="2339340" imgH="998830" progId="">
                  <p:embed/>
                  <p:pic>
                    <p:nvPicPr>
                      <p:cNvPr id="4239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362200"/>
                        <a:ext cx="8001000" cy="3435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Conversion of general expression to SOP form</a:t>
            </a:r>
          </a:p>
        </p:txBody>
      </p:sp>
      <p:sp>
        <p:nvSpPr>
          <p:cNvPr id="42496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just"/>
            <a:endParaRPr lang="en-US" sz="1800"/>
          </a:p>
        </p:txBody>
      </p:sp>
      <p:sp>
        <p:nvSpPr>
          <p:cNvPr id="424967" name="Rectangle 7"/>
          <p:cNvSpPr>
            <a:spLocks noChangeArrowheads="1"/>
          </p:cNvSpPr>
          <p:nvPr/>
        </p:nvSpPr>
        <p:spPr bwMode="auto">
          <a:xfrm>
            <a:off x="0" y="200025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just"/>
            <a:endParaRPr lang="en-US" sz="1800"/>
          </a:p>
        </p:txBody>
      </p:sp>
      <p:sp>
        <p:nvSpPr>
          <p:cNvPr id="424970" name="Rectangle 10"/>
          <p:cNvSpPr>
            <a:spLocks noChangeArrowheads="1"/>
          </p:cNvSpPr>
          <p:nvPr/>
        </p:nvSpPr>
        <p:spPr bwMode="auto">
          <a:xfrm>
            <a:off x="0" y="3228975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just"/>
            <a:endParaRPr lang="en-US" sz="1800"/>
          </a:p>
        </p:txBody>
      </p:sp>
      <p:graphicFrame>
        <p:nvGraphicFramePr>
          <p:cNvPr id="424969" name="Object 9"/>
          <p:cNvGraphicFramePr>
            <a:graphicFrameLocks noChangeAspect="1"/>
          </p:cNvGraphicFramePr>
          <p:nvPr/>
        </p:nvGraphicFramePr>
        <p:xfrm>
          <a:off x="609600" y="2133600"/>
          <a:ext cx="58737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00120" imgH="203040" progId="Equation.3">
                  <p:embed/>
                </p:oleObj>
              </mc:Choice>
              <mc:Fallback>
                <p:oleObj name="Equation" r:id="rId3" imgW="2400120" imgH="203040" progId="Equation.3">
                  <p:embed/>
                  <p:pic>
                    <p:nvPicPr>
                      <p:cNvPr id="42496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133600"/>
                        <a:ext cx="5873750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4971" name="Rectangle 11"/>
          <p:cNvSpPr>
            <a:spLocks noChangeArrowheads="1"/>
          </p:cNvSpPr>
          <p:nvPr/>
        </p:nvSpPr>
        <p:spPr bwMode="auto">
          <a:xfrm>
            <a:off x="0" y="342900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just"/>
            <a:endParaRPr lang="en-US" sz="1800"/>
          </a:p>
        </p:txBody>
      </p:sp>
      <p:graphicFrame>
        <p:nvGraphicFramePr>
          <p:cNvPr id="424968" name="Object 8"/>
          <p:cNvGraphicFramePr>
            <a:graphicFrameLocks noChangeAspect="1"/>
          </p:cNvGraphicFramePr>
          <p:nvPr/>
        </p:nvGraphicFramePr>
        <p:xfrm>
          <a:off x="609600" y="2971800"/>
          <a:ext cx="810101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213000" imgH="203040" progId="Equation.DSMT4">
                  <p:embed/>
                </p:oleObj>
              </mc:Choice>
              <mc:Fallback>
                <p:oleObj name="Equation" r:id="rId5" imgW="3213000" imgH="203040" progId="Equation.DSMT4">
                  <p:embed/>
                  <p:pic>
                    <p:nvPicPr>
                      <p:cNvPr id="42496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971800"/>
                        <a:ext cx="8101013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4977" name="Rectangle 17"/>
          <p:cNvSpPr>
            <a:spLocks noChangeArrowheads="1"/>
          </p:cNvSpPr>
          <p:nvPr/>
        </p:nvSpPr>
        <p:spPr bwMode="auto">
          <a:xfrm>
            <a:off x="0" y="329565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24976" name="Object 16"/>
          <p:cNvGraphicFramePr>
            <a:graphicFrameLocks noChangeAspect="1"/>
          </p:cNvGraphicFramePr>
          <p:nvPr/>
        </p:nvGraphicFramePr>
        <p:xfrm>
          <a:off x="609600" y="4343400"/>
          <a:ext cx="684530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920680" imgH="266400" progId="Equation.3">
                  <p:embed/>
                </p:oleObj>
              </mc:Choice>
              <mc:Fallback>
                <p:oleObj name="Equation" r:id="rId7" imgW="2920680" imgH="266400" progId="Equation.3">
                  <p:embed/>
                  <p:pic>
                    <p:nvPicPr>
                      <p:cNvPr id="42497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343400"/>
                        <a:ext cx="6845300" cy="625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Examples</a:t>
            </a:r>
          </a:p>
        </p:txBody>
      </p:sp>
      <p:sp>
        <p:nvSpPr>
          <p:cNvPr id="4587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Boolean Analysis of Circuit</a:t>
            </a:r>
          </a:p>
          <a:p>
            <a:r>
              <a:rPr lang="en-GB"/>
              <a:t>Evaluating Boolean Expression</a:t>
            </a:r>
          </a:p>
          <a:p>
            <a:r>
              <a:rPr lang="en-GB"/>
              <a:t>Representing results in a Truth Table</a:t>
            </a:r>
          </a:p>
          <a:p>
            <a:r>
              <a:rPr lang="en-GB"/>
              <a:t>Simplification of Boolean Expression into SOP or POS form</a:t>
            </a:r>
          </a:p>
          <a:p>
            <a:r>
              <a:rPr lang="en-GB"/>
              <a:t>Representing results in a Truth Table</a:t>
            </a:r>
          </a:p>
          <a:p>
            <a:r>
              <a:rPr lang="en-GB"/>
              <a:t>Verifying two expressions through truth tables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80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GB"/>
              <a:t>Analysis of Logic Circuits Example 1</a:t>
            </a:r>
          </a:p>
        </p:txBody>
      </p:sp>
      <p:sp>
        <p:nvSpPr>
          <p:cNvPr id="459782" name="Rectangle 6"/>
          <p:cNvSpPr>
            <a:spLocks noChangeArrowheads="1"/>
          </p:cNvSpPr>
          <p:nvPr/>
        </p:nvSpPr>
        <p:spPr bwMode="auto">
          <a:xfrm>
            <a:off x="0" y="2505075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59781" name="Object 5"/>
          <p:cNvGraphicFramePr>
            <a:graphicFrameLocks noChangeAspect="1"/>
          </p:cNvGraphicFramePr>
          <p:nvPr/>
        </p:nvGraphicFramePr>
        <p:xfrm>
          <a:off x="304800" y="2667000"/>
          <a:ext cx="8610600" cy="331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751527" imgH="1764792" progId="Visio.Drawing.11">
                  <p:embed/>
                </p:oleObj>
              </mc:Choice>
              <mc:Fallback>
                <p:oleObj name="Visio" r:id="rId3" imgW="4751527" imgH="1764792" progId="Visio.Drawing.11">
                  <p:embed/>
                  <p:pic>
                    <p:nvPicPr>
                      <p:cNvPr id="45978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667000"/>
                        <a:ext cx="8610600" cy="3319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4100"/>
              <a:t>Evaluating Boolean Expression</a:t>
            </a:r>
          </a:p>
        </p:txBody>
      </p:sp>
      <p:sp>
        <p:nvSpPr>
          <p:cNvPr id="4618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expression</a:t>
            </a:r>
          </a:p>
          <a:p>
            <a:r>
              <a:rPr lang="en-GB" dirty="0"/>
              <a:t>Assume               and</a:t>
            </a:r>
          </a:p>
          <a:p>
            <a:r>
              <a:rPr lang="en-GB" dirty="0"/>
              <a:t>Expression  </a:t>
            </a:r>
          </a:p>
          <a:p>
            <a:r>
              <a:rPr lang="en-GB" dirty="0"/>
              <a:t>Conditions for output = 1 	X=0 &amp; Y=0</a:t>
            </a:r>
          </a:p>
          <a:p>
            <a:r>
              <a:rPr lang="en-GB" dirty="0"/>
              <a:t>Since              	X=0 when A=0 or B=1</a:t>
            </a:r>
          </a:p>
          <a:p>
            <a:r>
              <a:rPr lang="en-GB" dirty="0"/>
              <a:t>Since</a:t>
            </a:r>
          </a:p>
          <a:p>
            <a:pPr>
              <a:buFont typeface="Wingdings" pitchFamily="2" charset="2"/>
              <a:buNone/>
            </a:pPr>
            <a:r>
              <a:rPr lang="en-GB" dirty="0"/>
              <a:t>	Y=0 	when A=0, B=0, C=1 and D=1</a:t>
            </a:r>
          </a:p>
        </p:txBody>
      </p:sp>
      <p:sp>
        <p:nvSpPr>
          <p:cNvPr id="46182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61828" name="Object 4"/>
          <p:cNvGraphicFramePr>
            <a:graphicFrameLocks noChangeAspect="1"/>
          </p:cNvGraphicFramePr>
          <p:nvPr/>
        </p:nvGraphicFramePr>
        <p:xfrm>
          <a:off x="3488573" y="1627125"/>
          <a:ext cx="1588600" cy="4633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14003" imgH="266584" progId="Equation.3">
                  <p:embed/>
                </p:oleObj>
              </mc:Choice>
              <mc:Fallback>
                <p:oleObj name="Equation" r:id="rId3" imgW="914003" imgH="266584" progId="Equation.3">
                  <p:embed/>
                  <p:pic>
                    <p:nvPicPr>
                      <p:cNvPr id="4618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8573" y="1627125"/>
                        <a:ext cx="1588600" cy="4633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83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61830" name="Object 6"/>
          <p:cNvGraphicFramePr>
            <a:graphicFrameLocks noChangeAspect="1"/>
          </p:cNvGraphicFramePr>
          <p:nvPr/>
        </p:nvGraphicFramePr>
        <p:xfrm>
          <a:off x="2281260" y="2300706"/>
          <a:ext cx="940359" cy="379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45626" imgH="215713" progId="Equation.3">
                  <p:embed/>
                </p:oleObj>
              </mc:Choice>
              <mc:Fallback>
                <p:oleObj name="Equation" r:id="rId5" imgW="545626" imgH="215713" progId="Equation.3">
                  <p:embed/>
                  <p:pic>
                    <p:nvPicPr>
                      <p:cNvPr id="4618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1260" y="2300706"/>
                        <a:ext cx="940359" cy="3790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833" name="Rectangle 9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61832" name="Object 8"/>
          <p:cNvGraphicFramePr>
            <a:graphicFrameLocks noChangeAspect="1"/>
          </p:cNvGraphicFramePr>
          <p:nvPr/>
        </p:nvGraphicFramePr>
        <p:xfrm>
          <a:off x="4269545" y="2216416"/>
          <a:ext cx="1684664" cy="494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12447" imgH="241195" progId="Equation.3">
                  <p:embed/>
                </p:oleObj>
              </mc:Choice>
              <mc:Fallback>
                <p:oleObj name="Equation" r:id="rId7" imgW="812447" imgH="241195" progId="Equation.3">
                  <p:embed/>
                  <p:pic>
                    <p:nvPicPr>
                      <p:cNvPr id="46183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9545" y="2216416"/>
                        <a:ext cx="1684664" cy="4949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835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6183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2886700"/>
              </p:ext>
            </p:extLst>
          </p:nvPr>
        </p:nvGraphicFramePr>
        <p:xfrm>
          <a:off x="2751439" y="2817091"/>
          <a:ext cx="1708574" cy="4633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85800" imgH="190440" progId="Equation.DSMT4">
                  <p:embed/>
                </p:oleObj>
              </mc:Choice>
              <mc:Fallback>
                <p:oleObj name="Equation" r:id="rId9" imgW="685800" imgH="190440" progId="Equation.DSMT4">
                  <p:embed/>
                  <p:pic>
                    <p:nvPicPr>
                      <p:cNvPr id="46183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1439" y="2817091"/>
                        <a:ext cx="1708574" cy="4633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839" name="Rectangle 15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61838" name="Object 14"/>
          <p:cNvGraphicFramePr>
            <a:graphicFrameLocks noChangeAspect="1"/>
          </p:cNvGraphicFramePr>
          <p:nvPr/>
        </p:nvGraphicFramePr>
        <p:xfrm>
          <a:off x="2103305" y="4085431"/>
          <a:ext cx="977144" cy="393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45626" imgH="215713" progId="Equation.3">
                  <p:embed/>
                </p:oleObj>
              </mc:Choice>
              <mc:Fallback>
                <p:oleObj name="Equation" r:id="rId11" imgW="545626" imgH="215713" progId="Equation.3">
                  <p:embed/>
                  <p:pic>
                    <p:nvPicPr>
                      <p:cNvPr id="46183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3305" y="4085431"/>
                        <a:ext cx="977144" cy="39387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841" name="Rectangle 17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61840" name="Object 16"/>
          <p:cNvGraphicFramePr>
            <a:graphicFrameLocks noChangeAspect="1"/>
          </p:cNvGraphicFramePr>
          <p:nvPr/>
        </p:nvGraphicFramePr>
        <p:xfrm>
          <a:off x="1870529" y="4595815"/>
          <a:ext cx="1442695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12447" imgH="241195" progId="Equation.3">
                  <p:embed/>
                </p:oleObj>
              </mc:Choice>
              <mc:Fallback>
                <p:oleObj name="Equation" r:id="rId12" imgW="812447" imgH="241195" progId="Equation.3">
                  <p:embed/>
                  <p:pic>
                    <p:nvPicPr>
                      <p:cNvPr id="46184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0529" y="4595815"/>
                        <a:ext cx="1442695" cy="4238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100"/>
              <a:t>Evaluating Boolean Expression &amp; Truth Table</a:t>
            </a:r>
          </a:p>
        </p:txBody>
      </p:sp>
      <p:sp>
        <p:nvSpPr>
          <p:cNvPr id="46489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GB" sz="2800"/>
              <a:t>Conditions for o/p =1</a:t>
            </a:r>
          </a:p>
          <a:p>
            <a:r>
              <a:rPr lang="en-GB" sz="2800"/>
              <a:t>A=0, B=0, C=1 &amp; D=1</a:t>
            </a:r>
          </a:p>
        </p:txBody>
      </p:sp>
      <p:graphicFrame>
        <p:nvGraphicFramePr>
          <p:cNvPr id="465492" name="Group 596"/>
          <p:cNvGraphicFramePr>
            <a:graphicFrameLocks noGrp="1"/>
          </p:cNvGraphicFramePr>
          <p:nvPr>
            <p:ph sz="half" idx="2"/>
          </p:nvPr>
        </p:nvGraphicFramePr>
        <p:xfrm>
          <a:off x="4648200" y="1600200"/>
          <a:ext cx="4038600" cy="4949190"/>
        </p:xfrm>
        <a:graphic>
          <a:graphicData uri="http://schemas.openxmlformats.org/drawingml/2006/table">
            <a:tbl>
              <a:tblPr/>
              <a:tblGrid>
                <a:gridCol w="808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8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80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2413">
                <a:tc gridSpan="4"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Input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Output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46490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490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4904" name="Rectangle 8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490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4908" name="Rectangle 12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4910" name="Rectangle 14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4100"/>
              <a:t>Simplifying Boolean Expression </a:t>
            </a:r>
          </a:p>
        </p:txBody>
      </p:sp>
      <p:sp>
        <p:nvSpPr>
          <p:cNvPr id="4679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305800" cy="4530725"/>
          </a:xfrm>
        </p:spPr>
        <p:txBody>
          <a:bodyPr/>
          <a:lstStyle/>
          <a:p>
            <a:r>
              <a:rPr lang="en-GB" sz="2800" dirty="0"/>
              <a:t>Simplifying by applying </a:t>
            </a:r>
            <a:r>
              <a:rPr lang="en-GB" sz="2800" dirty="0" err="1"/>
              <a:t>Demorgan’s</a:t>
            </a:r>
            <a:r>
              <a:rPr lang="en-GB" sz="2800" dirty="0"/>
              <a:t> theorem</a:t>
            </a:r>
          </a:p>
          <a:p>
            <a:pPr>
              <a:buFont typeface="Wingdings" pitchFamily="2" charset="2"/>
              <a:buNone/>
            </a:pPr>
            <a:r>
              <a:rPr lang="en-GB" sz="2800" dirty="0"/>
              <a:t>                             </a:t>
            </a:r>
          </a:p>
          <a:p>
            <a:pPr>
              <a:buFont typeface="Wingdings" pitchFamily="2" charset="2"/>
              <a:buNone/>
            </a:pPr>
            <a:r>
              <a:rPr lang="en-GB" sz="2800" dirty="0"/>
              <a:t>                            =</a:t>
            </a:r>
          </a:p>
          <a:p>
            <a:pPr>
              <a:buFont typeface="Wingdings" pitchFamily="2" charset="2"/>
              <a:buNone/>
            </a:pPr>
            <a:endParaRPr lang="en-GB" sz="2800" dirty="0"/>
          </a:p>
          <a:p>
            <a:pPr>
              <a:buFont typeface="Wingdings" pitchFamily="2" charset="2"/>
              <a:buNone/>
            </a:pPr>
            <a:endParaRPr lang="en-GB" sz="2800" dirty="0"/>
          </a:p>
          <a:p>
            <a:endParaRPr lang="en-GB" sz="2800" dirty="0"/>
          </a:p>
          <a:p>
            <a:pPr>
              <a:buFont typeface="Wingdings" pitchFamily="2" charset="2"/>
              <a:buNone/>
            </a:pPr>
            <a:endParaRPr lang="en-GB" sz="2800" dirty="0"/>
          </a:p>
        </p:txBody>
      </p:sp>
      <p:sp>
        <p:nvSpPr>
          <p:cNvPr id="46797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797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7974" name="Rectangle 6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797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7976" name="Rectangle 8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7977" name="Rectangle 9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8093" name="Rectangle 125"/>
          <p:cNvSpPr>
            <a:spLocks noChangeArrowheads="1"/>
          </p:cNvSpPr>
          <p:nvPr/>
        </p:nvSpPr>
        <p:spPr bwMode="auto">
          <a:xfrm>
            <a:off x="0" y="329565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68092" name="Object 124"/>
          <p:cNvGraphicFramePr>
            <a:graphicFrameLocks noChangeAspect="1"/>
          </p:cNvGraphicFramePr>
          <p:nvPr/>
        </p:nvGraphicFramePr>
        <p:xfrm>
          <a:off x="609600" y="2514600"/>
          <a:ext cx="228600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14003" imgH="266584" progId="Equation.3">
                  <p:embed/>
                </p:oleObj>
              </mc:Choice>
              <mc:Fallback>
                <p:oleObj name="Equation" r:id="rId3" imgW="914003" imgH="266584" progId="Equation.3">
                  <p:embed/>
                  <p:pic>
                    <p:nvPicPr>
                      <p:cNvPr id="468092" name="Object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514600"/>
                        <a:ext cx="2286000" cy="666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8095" name="Rectangle 127"/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68094" name="Object 126"/>
          <p:cNvGraphicFramePr>
            <a:graphicFrameLocks noChangeAspect="1"/>
          </p:cNvGraphicFramePr>
          <p:nvPr/>
        </p:nvGraphicFramePr>
        <p:xfrm>
          <a:off x="3733800" y="2514600"/>
          <a:ext cx="2522538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16000" imgH="292100" progId="Equation.3">
                  <p:embed/>
                </p:oleObj>
              </mc:Choice>
              <mc:Fallback>
                <p:oleObj name="Equation" r:id="rId5" imgW="1016000" imgH="292100" progId="Equation.3">
                  <p:embed/>
                  <p:pic>
                    <p:nvPicPr>
                      <p:cNvPr id="468094" name="Object 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514600"/>
                        <a:ext cx="2522538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8097" name="Rectangle 129"/>
          <p:cNvSpPr>
            <a:spLocks noChangeArrowheads="1"/>
          </p:cNvSpPr>
          <p:nvPr/>
        </p:nvSpPr>
        <p:spPr bwMode="auto">
          <a:xfrm>
            <a:off x="0" y="329565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68096" name="Object 128"/>
          <p:cNvGraphicFramePr>
            <a:graphicFrameLocks noChangeAspect="1"/>
          </p:cNvGraphicFramePr>
          <p:nvPr/>
        </p:nvGraphicFramePr>
        <p:xfrm>
          <a:off x="914400" y="3276600"/>
          <a:ext cx="2833688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29810" imgH="266584" progId="Equation.3">
                  <p:embed/>
                </p:oleObj>
              </mc:Choice>
              <mc:Fallback>
                <p:oleObj name="Equation" r:id="rId7" imgW="1129810" imgH="266584" progId="Equation.3">
                  <p:embed/>
                  <p:pic>
                    <p:nvPicPr>
                      <p:cNvPr id="468096" name="Object 1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276600"/>
                        <a:ext cx="2833688" cy="666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8099" name="Rectangle 131"/>
          <p:cNvSpPr>
            <a:spLocks noChangeArrowheads="1"/>
          </p:cNvSpPr>
          <p:nvPr/>
        </p:nvSpPr>
        <p:spPr bwMode="auto">
          <a:xfrm>
            <a:off x="0" y="327660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68098" name="Object 130"/>
          <p:cNvGraphicFramePr>
            <a:graphicFrameLocks noChangeAspect="1"/>
          </p:cNvGraphicFramePr>
          <p:nvPr/>
        </p:nvGraphicFramePr>
        <p:xfrm>
          <a:off x="914400" y="3962400"/>
          <a:ext cx="28702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29810" imgH="241195" progId="Equation.3">
                  <p:embed/>
                </p:oleObj>
              </mc:Choice>
              <mc:Fallback>
                <p:oleObj name="Equation" r:id="rId9" imgW="1129810" imgH="241195" progId="Equation.3">
                  <p:embed/>
                  <p:pic>
                    <p:nvPicPr>
                      <p:cNvPr id="468098" name="Object 1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962400"/>
                        <a:ext cx="2870200" cy="603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8101" name="Rectangle 133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68100" name="Object 132"/>
          <p:cNvGraphicFramePr>
            <a:graphicFrameLocks noChangeAspect="1"/>
          </p:cNvGraphicFramePr>
          <p:nvPr/>
        </p:nvGraphicFramePr>
        <p:xfrm>
          <a:off x="914400" y="4572000"/>
          <a:ext cx="3884613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36700" imgH="241300" progId="Equation.3">
                  <p:embed/>
                </p:oleObj>
              </mc:Choice>
              <mc:Fallback>
                <p:oleObj name="Equation" r:id="rId11" imgW="1536700" imgH="241300" progId="Equation.3">
                  <p:embed/>
                  <p:pic>
                    <p:nvPicPr>
                      <p:cNvPr id="468100" name="Object 1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572000"/>
                        <a:ext cx="3884613" cy="603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8103" name="Rectangle 135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68102" name="Object 134"/>
          <p:cNvGraphicFramePr>
            <a:graphicFrameLocks noChangeAspect="1"/>
          </p:cNvGraphicFramePr>
          <p:nvPr/>
        </p:nvGraphicFramePr>
        <p:xfrm>
          <a:off x="990600" y="5181600"/>
          <a:ext cx="1316038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32937" imgH="215713" progId="Equation.3">
                  <p:embed/>
                </p:oleObj>
              </mc:Choice>
              <mc:Fallback>
                <p:oleObj name="Equation" r:id="rId13" imgW="532937" imgH="215713" progId="Equation.3">
                  <p:embed/>
                  <p:pic>
                    <p:nvPicPr>
                      <p:cNvPr id="468102" name="Object 1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5181600"/>
                        <a:ext cx="1316038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4100"/>
              <a:t>Truth Table of Simplified expression</a:t>
            </a:r>
          </a:p>
        </p:txBody>
      </p:sp>
      <p:graphicFrame>
        <p:nvGraphicFramePr>
          <p:cNvPr id="470599" name="Group 583"/>
          <p:cNvGraphicFramePr>
            <a:graphicFrameLocks noGrp="1"/>
          </p:cNvGraphicFramePr>
          <p:nvPr>
            <p:ph type="tbl" idx="1"/>
          </p:nvPr>
        </p:nvGraphicFramePr>
        <p:xfrm>
          <a:off x="457200" y="1600200"/>
          <a:ext cx="8229600" cy="4937760"/>
        </p:xfrm>
        <a:graphic>
          <a:graphicData uri="http://schemas.openxmlformats.org/drawingml/2006/table">
            <a:tbl>
              <a:tblPr/>
              <a:tblGrid>
                <a:gridCol w="1646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6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4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6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62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2413">
                <a:tc gridSpan="4"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Input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Output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Simplified Logic Circuit</a:t>
            </a:r>
          </a:p>
        </p:txBody>
      </p:sp>
      <p:sp>
        <p:nvSpPr>
          <p:cNvPr id="474117" name="Rectangle 5"/>
          <p:cNvSpPr>
            <a:spLocks noChangeArrowheads="1"/>
          </p:cNvSpPr>
          <p:nvPr/>
        </p:nvSpPr>
        <p:spPr bwMode="auto">
          <a:xfrm>
            <a:off x="0" y="2938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74116" name="Object 4"/>
          <p:cNvGraphicFramePr>
            <a:graphicFrameLocks noChangeAspect="1"/>
          </p:cNvGraphicFramePr>
          <p:nvPr/>
        </p:nvGraphicFramePr>
        <p:xfrm>
          <a:off x="533400" y="2514600"/>
          <a:ext cx="8153400" cy="339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325014" imgH="958596" progId="">
                  <p:embed/>
                </p:oleObj>
              </mc:Choice>
              <mc:Fallback>
                <p:oleObj name="Visio" r:id="rId2" imgW="2325014" imgH="958596" progId="">
                  <p:embed/>
                  <p:pic>
                    <p:nvPicPr>
                      <p:cNvPr id="4741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514600"/>
                        <a:ext cx="8153400" cy="3398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Simplified Logic Circuit</a:t>
            </a:r>
          </a:p>
        </p:txBody>
      </p:sp>
      <p:sp>
        <p:nvSpPr>
          <p:cNvPr id="473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Simplified expression              is in SOP form</a:t>
            </a:r>
          </a:p>
          <a:p>
            <a:r>
              <a:rPr lang="en-GB" dirty="0"/>
              <a:t>Simplified circuit </a:t>
            </a:r>
          </a:p>
          <a:p>
            <a:endParaRPr lang="en-GB" dirty="0"/>
          </a:p>
        </p:txBody>
      </p:sp>
      <p:sp>
        <p:nvSpPr>
          <p:cNvPr id="473093" name="Rectangle 5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73092" name="Object 4"/>
          <p:cNvGraphicFramePr>
            <a:graphicFrameLocks noChangeAspect="1"/>
          </p:cNvGraphicFramePr>
          <p:nvPr/>
        </p:nvGraphicFramePr>
        <p:xfrm>
          <a:off x="4495800" y="1676400"/>
          <a:ext cx="935038" cy="383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2937" imgH="215713" progId="Equation.3">
                  <p:embed/>
                </p:oleObj>
              </mc:Choice>
              <mc:Fallback>
                <p:oleObj name="Equation" r:id="rId2" imgW="532937" imgH="215713" progId="Equation.3">
                  <p:embed/>
                  <p:pic>
                    <p:nvPicPr>
                      <p:cNvPr id="4730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676400"/>
                        <a:ext cx="935038" cy="3834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Second Example</a:t>
            </a:r>
          </a:p>
        </p:txBody>
      </p:sp>
      <p:sp>
        <p:nvSpPr>
          <p:cNvPr id="4751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Evaluating Boolean Expression</a:t>
            </a:r>
          </a:p>
          <a:p>
            <a:r>
              <a:rPr lang="en-GB"/>
              <a:t>Representing results in a Truth Table</a:t>
            </a:r>
          </a:p>
          <a:p>
            <a:r>
              <a:rPr lang="en-GB"/>
              <a:t>Simplification of Boolean Expression results in POS form and requires 3 variables instead of the original 4</a:t>
            </a:r>
          </a:p>
          <a:p>
            <a:r>
              <a:rPr lang="en-GB"/>
              <a:t>Representing results in a Truth Table</a:t>
            </a:r>
          </a:p>
          <a:p>
            <a:r>
              <a:rPr lang="en-GB"/>
              <a:t>Verifying two expressions through truth tables</a:t>
            </a:r>
          </a:p>
        </p:txBody>
      </p:sp>
      <p:sp>
        <p:nvSpPr>
          <p:cNvPr id="475140" name="Rectangle 4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4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GB"/>
              <a:t>Analysis of Logic Circuits Example 2</a:t>
            </a:r>
          </a:p>
        </p:txBody>
      </p:sp>
      <p:sp>
        <p:nvSpPr>
          <p:cNvPr id="476166" name="Rectangle 6"/>
          <p:cNvSpPr>
            <a:spLocks noChangeArrowheads="1"/>
          </p:cNvSpPr>
          <p:nvPr/>
        </p:nvSpPr>
        <p:spPr bwMode="auto">
          <a:xfrm>
            <a:off x="0" y="2643188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76165" name="Object 5"/>
          <p:cNvGraphicFramePr>
            <a:graphicFrameLocks noChangeAspect="1"/>
          </p:cNvGraphicFramePr>
          <p:nvPr/>
        </p:nvGraphicFramePr>
        <p:xfrm>
          <a:off x="228600" y="2667000"/>
          <a:ext cx="8610600" cy="308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358945" imgH="1409090" progId="">
                  <p:embed/>
                </p:oleObj>
              </mc:Choice>
              <mc:Fallback>
                <p:oleObj name="Visio" r:id="rId3" imgW="4358945" imgH="1409090" progId="">
                  <p:embed/>
                  <p:pic>
                    <p:nvPicPr>
                      <p:cNvPr id="4761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667000"/>
                        <a:ext cx="8610600" cy="308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229600" cy="1143000"/>
          </a:xfrm>
        </p:spPr>
        <p:txBody>
          <a:bodyPr/>
          <a:lstStyle/>
          <a:p>
            <a:r>
              <a:rPr lang="en-GB" sz="4100" dirty="0"/>
              <a:t>Evaluating Boolean Expression</a:t>
            </a:r>
          </a:p>
        </p:txBody>
      </p:sp>
      <p:sp>
        <p:nvSpPr>
          <p:cNvPr id="478211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935480"/>
            <a:ext cx="8229600" cy="438912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GB" sz="2800" dirty="0"/>
              <a:t>The expression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Assume                and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Expression  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Conditions for output = 1 	X=0 OR Y=0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Since              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GB" sz="2800" dirty="0"/>
              <a:t>	X=0 when A=1,B=0 or C=1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Since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GB" sz="2800" dirty="0"/>
              <a:t>	Y=0 	when C=1 and D=0</a:t>
            </a:r>
          </a:p>
        </p:txBody>
      </p:sp>
      <p:sp>
        <p:nvSpPr>
          <p:cNvPr id="478212" name="Rectangle 4"/>
          <p:cNvSpPr>
            <a:spLocks noChangeArrowheads="1"/>
          </p:cNvSpPr>
          <p:nvPr/>
        </p:nvSpPr>
        <p:spPr bwMode="auto">
          <a:xfrm>
            <a:off x="76200" y="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8214" name="Rectangle 6"/>
          <p:cNvSpPr>
            <a:spLocks noChangeArrowheads="1"/>
          </p:cNvSpPr>
          <p:nvPr/>
        </p:nvSpPr>
        <p:spPr bwMode="auto">
          <a:xfrm>
            <a:off x="76200" y="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8216" name="Rectangle 8"/>
          <p:cNvSpPr>
            <a:spLocks noChangeArrowheads="1"/>
          </p:cNvSpPr>
          <p:nvPr/>
        </p:nvSpPr>
        <p:spPr bwMode="auto">
          <a:xfrm>
            <a:off x="76200" y="3309938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8218" name="Rectangle 10"/>
          <p:cNvSpPr>
            <a:spLocks noChangeArrowheads="1"/>
          </p:cNvSpPr>
          <p:nvPr/>
        </p:nvSpPr>
        <p:spPr bwMode="auto">
          <a:xfrm>
            <a:off x="76200" y="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8220" name="Rectangle 12"/>
          <p:cNvSpPr>
            <a:spLocks noChangeArrowheads="1"/>
          </p:cNvSpPr>
          <p:nvPr/>
        </p:nvSpPr>
        <p:spPr bwMode="auto">
          <a:xfrm>
            <a:off x="7620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8222" name="Rectangle 14"/>
          <p:cNvSpPr>
            <a:spLocks noChangeArrowheads="1"/>
          </p:cNvSpPr>
          <p:nvPr/>
        </p:nvSpPr>
        <p:spPr bwMode="auto">
          <a:xfrm>
            <a:off x="76200" y="3309938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8225" name="Rectangle 17"/>
          <p:cNvSpPr>
            <a:spLocks noChangeArrowheads="1"/>
          </p:cNvSpPr>
          <p:nvPr/>
        </p:nvSpPr>
        <p:spPr bwMode="auto">
          <a:xfrm>
            <a:off x="76200" y="329565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78224" name="Object 16"/>
          <p:cNvGraphicFramePr>
            <a:graphicFrameLocks noChangeAspect="1"/>
          </p:cNvGraphicFramePr>
          <p:nvPr/>
        </p:nvGraphicFramePr>
        <p:xfrm>
          <a:off x="3429000" y="1914948"/>
          <a:ext cx="1676399" cy="447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02865" imgH="266584" progId="Equation.3">
                  <p:embed/>
                </p:oleObj>
              </mc:Choice>
              <mc:Fallback>
                <p:oleObj name="Equation" r:id="rId3" imgW="1002865" imgH="266584" progId="Equation.3">
                  <p:embed/>
                  <p:pic>
                    <p:nvPicPr>
                      <p:cNvPr id="47822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914948"/>
                        <a:ext cx="1676399" cy="4472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27" name="Rectangle 19"/>
          <p:cNvSpPr>
            <a:spLocks noChangeArrowheads="1"/>
          </p:cNvSpPr>
          <p:nvPr/>
        </p:nvSpPr>
        <p:spPr bwMode="auto">
          <a:xfrm>
            <a:off x="76200" y="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78226" name="Object 18"/>
          <p:cNvGraphicFramePr>
            <a:graphicFrameLocks noChangeAspect="1"/>
          </p:cNvGraphicFramePr>
          <p:nvPr/>
        </p:nvGraphicFramePr>
        <p:xfrm>
          <a:off x="2286000" y="2459261"/>
          <a:ext cx="1113350" cy="360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72808" imgH="215806" progId="Equation.3">
                  <p:embed/>
                </p:oleObj>
              </mc:Choice>
              <mc:Fallback>
                <p:oleObj name="Equation" r:id="rId5" imgW="672808" imgH="215806" progId="Equation.3">
                  <p:embed/>
                  <p:pic>
                    <p:nvPicPr>
                      <p:cNvPr id="47822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459261"/>
                        <a:ext cx="1113350" cy="36013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29" name="Rectangle 21"/>
          <p:cNvSpPr>
            <a:spLocks noChangeArrowheads="1"/>
          </p:cNvSpPr>
          <p:nvPr/>
        </p:nvSpPr>
        <p:spPr bwMode="auto">
          <a:xfrm>
            <a:off x="7620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78228" name="Object 20"/>
          <p:cNvGraphicFramePr>
            <a:graphicFrameLocks noChangeAspect="1"/>
          </p:cNvGraphicFramePr>
          <p:nvPr/>
        </p:nvGraphicFramePr>
        <p:xfrm>
          <a:off x="4343400" y="2459261"/>
          <a:ext cx="1113350" cy="360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72808" imgH="215806" progId="Equation.3">
                  <p:embed/>
                </p:oleObj>
              </mc:Choice>
              <mc:Fallback>
                <p:oleObj name="Equation" r:id="rId7" imgW="672808" imgH="215806" progId="Equation.3">
                  <p:embed/>
                  <p:pic>
                    <p:nvPicPr>
                      <p:cNvPr id="478228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459261"/>
                        <a:ext cx="1113350" cy="36013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31" name="Rectangle 23"/>
          <p:cNvSpPr>
            <a:spLocks noChangeArrowheads="1"/>
          </p:cNvSpPr>
          <p:nvPr/>
        </p:nvSpPr>
        <p:spPr bwMode="auto">
          <a:xfrm>
            <a:off x="76200" y="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78230" name="Object 22"/>
          <p:cNvGraphicFramePr>
            <a:graphicFrameLocks noChangeAspect="1"/>
          </p:cNvGraphicFramePr>
          <p:nvPr/>
        </p:nvGraphicFramePr>
        <p:xfrm>
          <a:off x="2743200" y="2913274"/>
          <a:ext cx="489747" cy="363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1847" imgH="215713" progId="Equation.3">
                  <p:embed/>
                </p:oleObj>
              </mc:Choice>
              <mc:Fallback>
                <p:oleObj name="Equation" r:id="rId9" imgW="291847" imgH="215713" progId="Equation.3">
                  <p:embed/>
                  <p:pic>
                    <p:nvPicPr>
                      <p:cNvPr id="47823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913274"/>
                        <a:ext cx="489747" cy="3633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33" name="Rectangle 25"/>
          <p:cNvSpPr>
            <a:spLocks noChangeArrowheads="1"/>
          </p:cNvSpPr>
          <p:nvPr/>
        </p:nvSpPr>
        <p:spPr bwMode="auto">
          <a:xfrm>
            <a:off x="7620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78232" name="Object 24"/>
          <p:cNvGraphicFramePr>
            <a:graphicFrameLocks noChangeAspect="1"/>
          </p:cNvGraphicFramePr>
          <p:nvPr/>
        </p:nvGraphicFramePr>
        <p:xfrm>
          <a:off x="1981200" y="3810000"/>
          <a:ext cx="1113350" cy="360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72808" imgH="215806" progId="Equation.3">
                  <p:embed/>
                </p:oleObj>
              </mc:Choice>
              <mc:Fallback>
                <p:oleObj name="Equation" r:id="rId11" imgW="672808" imgH="215806" progId="Equation.3">
                  <p:embed/>
                  <p:pic>
                    <p:nvPicPr>
                      <p:cNvPr id="478232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810000"/>
                        <a:ext cx="1113350" cy="36013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35" name="Rectangle 27"/>
          <p:cNvSpPr>
            <a:spLocks noChangeArrowheads="1"/>
          </p:cNvSpPr>
          <p:nvPr/>
        </p:nvSpPr>
        <p:spPr bwMode="auto">
          <a:xfrm>
            <a:off x="7620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78234" name="Object 26"/>
          <p:cNvGraphicFramePr>
            <a:graphicFrameLocks noChangeAspect="1"/>
          </p:cNvGraphicFramePr>
          <p:nvPr/>
        </p:nvGraphicFramePr>
        <p:xfrm>
          <a:off x="1981200" y="4800600"/>
          <a:ext cx="1113350" cy="360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72808" imgH="215806" progId="Equation.3">
                  <p:embed/>
                </p:oleObj>
              </mc:Choice>
              <mc:Fallback>
                <p:oleObj name="Equation" r:id="rId12" imgW="672808" imgH="215806" progId="Equation.3">
                  <p:embed/>
                  <p:pic>
                    <p:nvPicPr>
                      <p:cNvPr id="478234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800600"/>
                        <a:ext cx="1113350" cy="36013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100"/>
              <a:t>Evaluating Boolean Expression &amp; Truth Table</a:t>
            </a:r>
          </a:p>
        </p:txBody>
      </p:sp>
      <p:sp>
        <p:nvSpPr>
          <p:cNvPr id="48025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GB" sz="2800"/>
              <a:t>Conditions for o/p =1</a:t>
            </a:r>
          </a:p>
          <a:p>
            <a:r>
              <a:rPr lang="en-GB" sz="2800"/>
              <a:t>(A=1,B=0 OR C=1) OR (C=1 AND D=0) </a:t>
            </a:r>
          </a:p>
        </p:txBody>
      </p:sp>
      <p:graphicFrame>
        <p:nvGraphicFramePr>
          <p:cNvPr id="480959" name="Group 703"/>
          <p:cNvGraphicFramePr>
            <a:graphicFrameLocks noGrp="1"/>
          </p:cNvGraphicFramePr>
          <p:nvPr>
            <p:ph sz="half" idx="2"/>
          </p:nvPr>
        </p:nvGraphicFramePr>
        <p:xfrm>
          <a:off x="4648200" y="1600200"/>
          <a:ext cx="4038600" cy="4937760"/>
        </p:xfrm>
        <a:graphic>
          <a:graphicData uri="http://schemas.openxmlformats.org/drawingml/2006/table">
            <a:tbl>
              <a:tblPr/>
              <a:tblGrid>
                <a:gridCol w="808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8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80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2413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Input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Output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48026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026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0262" name="Rectangle 6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026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0264" name="Rectangle 8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0265" name="Rectangle 9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4100"/>
              <a:t>Rewriting the Truth Table</a:t>
            </a:r>
          </a:p>
        </p:txBody>
      </p:sp>
      <p:sp>
        <p:nvSpPr>
          <p:cNvPr id="48230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GB" sz="2800"/>
              <a:t>Conditions for o/p =1</a:t>
            </a:r>
          </a:p>
          <a:p>
            <a:r>
              <a:rPr lang="en-GB" sz="2800"/>
              <a:t>(A=1,B=0 OR C=1) OR (C=1 AND D=0) </a:t>
            </a:r>
          </a:p>
        </p:txBody>
      </p:sp>
      <p:graphicFrame>
        <p:nvGraphicFramePr>
          <p:cNvPr id="482678" name="Group 374"/>
          <p:cNvGraphicFramePr>
            <a:graphicFrameLocks noGrp="1"/>
          </p:cNvGraphicFramePr>
          <p:nvPr>
            <p:ph sz="half" idx="2"/>
          </p:nvPr>
        </p:nvGraphicFramePr>
        <p:xfrm>
          <a:off x="4648200" y="1600200"/>
          <a:ext cx="4038600" cy="4530728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2438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Input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Output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8230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230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2310" name="Rectangle 6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231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2312" name="Rectangle 8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2313" name="Rectangle 9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4100"/>
              <a:t>Simplifying Boolean Expression </a:t>
            </a:r>
          </a:p>
        </p:txBody>
      </p:sp>
      <p:sp>
        <p:nvSpPr>
          <p:cNvPr id="4843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305800" cy="4530725"/>
          </a:xfrm>
        </p:spPr>
        <p:txBody>
          <a:bodyPr/>
          <a:lstStyle/>
          <a:p>
            <a:r>
              <a:rPr lang="en-GB" sz="2800" dirty="0"/>
              <a:t>Simplifying by applying </a:t>
            </a:r>
            <a:r>
              <a:rPr lang="en-GB" sz="2800" dirty="0" err="1"/>
              <a:t>Demorgan’s</a:t>
            </a:r>
            <a:r>
              <a:rPr lang="en-GB" sz="2800" dirty="0"/>
              <a:t> theorem</a:t>
            </a:r>
          </a:p>
          <a:p>
            <a:pPr>
              <a:buFont typeface="Wingdings" pitchFamily="2" charset="2"/>
              <a:buNone/>
            </a:pPr>
            <a:r>
              <a:rPr lang="en-GB" sz="2800" dirty="0"/>
              <a:t>                               </a:t>
            </a:r>
          </a:p>
          <a:p>
            <a:pPr>
              <a:buFont typeface="Wingdings" pitchFamily="2" charset="2"/>
              <a:buNone/>
            </a:pPr>
            <a:r>
              <a:rPr lang="en-GB" sz="2800" dirty="0"/>
              <a:t>                                                                                     </a:t>
            </a:r>
          </a:p>
          <a:p>
            <a:pPr>
              <a:buFont typeface="Wingdings" pitchFamily="2" charset="2"/>
              <a:buNone/>
            </a:pPr>
            <a:r>
              <a:rPr lang="en-GB" sz="2800" dirty="0"/>
              <a:t> </a:t>
            </a:r>
          </a:p>
          <a:p>
            <a:pPr>
              <a:buFont typeface="Wingdings" pitchFamily="2" charset="2"/>
              <a:buNone/>
            </a:pPr>
            <a:endParaRPr lang="en-GB" sz="2800" dirty="0"/>
          </a:p>
          <a:p>
            <a:pPr>
              <a:buFont typeface="Wingdings" pitchFamily="2" charset="2"/>
              <a:buNone/>
            </a:pPr>
            <a:endParaRPr lang="en-GB" sz="2800" dirty="0"/>
          </a:p>
          <a:p>
            <a:endParaRPr lang="en-GB" sz="2800" dirty="0"/>
          </a:p>
          <a:p>
            <a:pPr>
              <a:buFont typeface="Wingdings" pitchFamily="2" charset="2"/>
              <a:buNone/>
            </a:pPr>
            <a:endParaRPr lang="en-GB" sz="2800" dirty="0"/>
          </a:p>
        </p:txBody>
      </p:sp>
      <p:sp>
        <p:nvSpPr>
          <p:cNvPr id="48435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435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4358" name="Rectangle 6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435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4360" name="Rectangle 8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4361" name="Rectangle 9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4362" name="Rectangle 10"/>
          <p:cNvSpPr>
            <a:spLocks noChangeArrowheads="1"/>
          </p:cNvSpPr>
          <p:nvPr/>
        </p:nvSpPr>
        <p:spPr bwMode="auto">
          <a:xfrm>
            <a:off x="0" y="329565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4364" name="Rectangle 12"/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4366" name="Rectangle 14"/>
          <p:cNvSpPr>
            <a:spLocks noChangeArrowheads="1"/>
          </p:cNvSpPr>
          <p:nvPr/>
        </p:nvSpPr>
        <p:spPr bwMode="auto">
          <a:xfrm>
            <a:off x="0" y="329565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4368" name="Rectangle 16"/>
          <p:cNvSpPr>
            <a:spLocks noChangeArrowheads="1"/>
          </p:cNvSpPr>
          <p:nvPr/>
        </p:nvSpPr>
        <p:spPr bwMode="auto">
          <a:xfrm>
            <a:off x="0" y="327660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4370" name="Rectangle 18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4372" name="Rectangle 20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4375" name="Rectangle 23"/>
          <p:cNvSpPr>
            <a:spLocks noChangeArrowheads="1"/>
          </p:cNvSpPr>
          <p:nvPr/>
        </p:nvSpPr>
        <p:spPr bwMode="auto">
          <a:xfrm>
            <a:off x="0" y="329565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84374" name="Object 22"/>
          <p:cNvGraphicFramePr>
            <a:graphicFrameLocks noChangeAspect="1"/>
          </p:cNvGraphicFramePr>
          <p:nvPr/>
        </p:nvGraphicFramePr>
        <p:xfrm>
          <a:off x="3886200" y="2514600"/>
          <a:ext cx="27876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17115" imgH="266584" progId="Equation.3">
                  <p:embed/>
                </p:oleObj>
              </mc:Choice>
              <mc:Fallback>
                <p:oleObj name="Equation" r:id="rId3" imgW="1117115" imgH="266584" progId="Equation.3">
                  <p:embed/>
                  <p:pic>
                    <p:nvPicPr>
                      <p:cNvPr id="48437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2514600"/>
                        <a:ext cx="2787650" cy="666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4377" name="Rectangle 25"/>
          <p:cNvSpPr>
            <a:spLocks noChangeArrowheads="1"/>
          </p:cNvSpPr>
          <p:nvPr/>
        </p:nvSpPr>
        <p:spPr bwMode="auto">
          <a:xfrm>
            <a:off x="0" y="329565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84376" name="Object 24"/>
          <p:cNvGraphicFramePr>
            <a:graphicFrameLocks noChangeAspect="1"/>
          </p:cNvGraphicFramePr>
          <p:nvPr/>
        </p:nvGraphicFramePr>
        <p:xfrm>
          <a:off x="1467643" y="2501328"/>
          <a:ext cx="1965325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87320" imgH="241200" progId="Equation.DSMT4">
                  <p:embed/>
                </p:oleObj>
              </mc:Choice>
              <mc:Fallback>
                <p:oleObj name="Equation" r:id="rId5" imgW="787320" imgH="241200" progId="Equation.DSMT4">
                  <p:embed/>
                  <p:pic>
                    <p:nvPicPr>
                      <p:cNvPr id="484376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7643" y="2501328"/>
                        <a:ext cx="1965325" cy="604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4379" name="Rectangle 27"/>
          <p:cNvSpPr>
            <a:spLocks noChangeArrowheads="1"/>
          </p:cNvSpPr>
          <p:nvPr/>
        </p:nvSpPr>
        <p:spPr bwMode="auto">
          <a:xfrm>
            <a:off x="0" y="329565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84378" name="Object 26"/>
          <p:cNvGraphicFramePr>
            <a:graphicFrameLocks noChangeAspect="1"/>
          </p:cNvGraphicFramePr>
          <p:nvPr/>
        </p:nvGraphicFramePr>
        <p:xfrm>
          <a:off x="914400" y="3276600"/>
          <a:ext cx="3071813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31366" imgH="266584" progId="Equation.3">
                  <p:embed/>
                </p:oleObj>
              </mc:Choice>
              <mc:Fallback>
                <p:oleObj name="Equation" r:id="rId7" imgW="1231366" imgH="266584" progId="Equation.3">
                  <p:embed/>
                  <p:pic>
                    <p:nvPicPr>
                      <p:cNvPr id="484378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276600"/>
                        <a:ext cx="3071813" cy="666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4381" name="Rectangle 29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84380" name="Object 28"/>
          <p:cNvGraphicFramePr>
            <a:graphicFrameLocks noChangeAspect="1"/>
          </p:cNvGraphicFramePr>
          <p:nvPr/>
        </p:nvGraphicFramePr>
        <p:xfrm>
          <a:off x="914400" y="3962400"/>
          <a:ext cx="3117850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31366" imgH="241195" progId="Equation.3">
                  <p:embed/>
                </p:oleObj>
              </mc:Choice>
              <mc:Fallback>
                <p:oleObj name="Equation" r:id="rId9" imgW="1231366" imgH="241195" progId="Equation.3">
                  <p:embed/>
                  <p:pic>
                    <p:nvPicPr>
                      <p:cNvPr id="48438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962400"/>
                        <a:ext cx="3117850" cy="604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4383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84382" name="Object 30"/>
          <p:cNvGraphicFramePr>
            <a:graphicFrameLocks noChangeAspect="1"/>
          </p:cNvGraphicFramePr>
          <p:nvPr/>
        </p:nvGraphicFramePr>
        <p:xfrm>
          <a:off x="990600" y="4648200"/>
          <a:ext cx="263207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40948" imgH="241195" progId="Equation.3">
                  <p:embed/>
                </p:oleObj>
              </mc:Choice>
              <mc:Fallback>
                <p:oleObj name="Equation" r:id="rId11" imgW="1040948" imgH="241195" progId="Equation.3">
                  <p:embed/>
                  <p:pic>
                    <p:nvPicPr>
                      <p:cNvPr id="484382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648200"/>
                        <a:ext cx="2632075" cy="603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4385" name="Rectangle 33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84384" name="Object 32"/>
          <p:cNvGraphicFramePr>
            <a:graphicFrameLocks noChangeAspect="1"/>
          </p:cNvGraphicFramePr>
          <p:nvPr/>
        </p:nvGraphicFramePr>
        <p:xfrm>
          <a:off x="990600" y="5257800"/>
          <a:ext cx="1590675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47419" imgH="215806" progId="Equation.3">
                  <p:embed/>
                </p:oleObj>
              </mc:Choice>
              <mc:Fallback>
                <p:oleObj name="Equation" r:id="rId13" imgW="647419" imgH="215806" progId="Equation.3">
                  <p:embed/>
                  <p:pic>
                    <p:nvPicPr>
                      <p:cNvPr id="484384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5257800"/>
                        <a:ext cx="1590675" cy="538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4100"/>
              <a:t>Truth Table of Simplified expression</a:t>
            </a:r>
          </a:p>
        </p:txBody>
      </p:sp>
      <p:graphicFrame>
        <p:nvGraphicFramePr>
          <p:cNvPr id="486766" name="Group 366"/>
          <p:cNvGraphicFramePr>
            <a:graphicFrameLocks noGrp="1"/>
          </p:cNvGraphicFramePr>
          <p:nvPr>
            <p:ph type="tbl" idx="1"/>
          </p:nvPr>
        </p:nvGraphicFramePr>
        <p:xfrm>
          <a:off x="457200" y="1600200"/>
          <a:ext cx="8229600" cy="5115878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2438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Input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Output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Simplified Logic Circuit</a:t>
            </a:r>
          </a:p>
        </p:txBody>
      </p:sp>
      <p:sp>
        <p:nvSpPr>
          <p:cNvPr id="488451" name="Rectangle 3"/>
          <p:cNvSpPr>
            <a:spLocks noChangeArrowheads="1"/>
          </p:cNvSpPr>
          <p:nvPr/>
        </p:nvSpPr>
        <p:spPr bwMode="auto">
          <a:xfrm>
            <a:off x="0" y="2938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8454" name="Rectangle 6"/>
          <p:cNvSpPr>
            <a:spLocks noChangeArrowheads="1"/>
          </p:cNvSpPr>
          <p:nvPr/>
        </p:nvSpPr>
        <p:spPr bwMode="auto">
          <a:xfrm>
            <a:off x="0" y="30527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88453" name="Object 5"/>
          <p:cNvGraphicFramePr>
            <a:graphicFrameLocks noChangeAspect="1"/>
          </p:cNvGraphicFramePr>
          <p:nvPr/>
        </p:nvGraphicFramePr>
        <p:xfrm>
          <a:off x="533400" y="3048000"/>
          <a:ext cx="8077200" cy="302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988820" imgH="696163" progId="">
                  <p:embed/>
                </p:oleObj>
              </mc:Choice>
              <mc:Fallback>
                <p:oleObj name="Visio" r:id="rId2" imgW="1988820" imgH="696163" progId="">
                  <p:embed/>
                  <p:pic>
                    <p:nvPicPr>
                      <p:cNvPr id="48845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048000"/>
                        <a:ext cx="8077200" cy="3024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Simplified Logic Circuit</a:t>
            </a:r>
          </a:p>
        </p:txBody>
      </p:sp>
      <p:sp>
        <p:nvSpPr>
          <p:cNvPr id="489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Simplified expression                is in POS form representing a single Sum term</a:t>
            </a:r>
          </a:p>
          <a:p>
            <a:r>
              <a:rPr lang="en-GB"/>
              <a:t>Simplified circuit </a:t>
            </a:r>
          </a:p>
          <a:p>
            <a:endParaRPr lang="en-GB"/>
          </a:p>
        </p:txBody>
      </p:sp>
      <p:sp>
        <p:nvSpPr>
          <p:cNvPr id="489476" name="Rectangle 4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9479" name="Rectangle 7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89478" name="Object 6"/>
          <p:cNvGraphicFramePr>
            <a:graphicFrameLocks noChangeAspect="1"/>
          </p:cNvGraphicFramePr>
          <p:nvPr/>
        </p:nvGraphicFramePr>
        <p:xfrm>
          <a:off x="4572000" y="1746896"/>
          <a:ext cx="1143000" cy="386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47419" imgH="215806" progId="Equation.3">
                  <p:embed/>
                </p:oleObj>
              </mc:Choice>
              <mc:Fallback>
                <p:oleObj name="Equation" r:id="rId2" imgW="647419" imgH="215806" progId="Equation.3">
                  <p:embed/>
                  <p:pic>
                    <p:nvPicPr>
                      <p:cNvPr id="48947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746896"/>
                        <a:ext cx="1143000" cy="3867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B6322-6E08-4F7A-AFD6-FCF06E8A3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5749E-D725-4BC4-B57C-2138013DF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sz="4400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1281482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7598</TotalTime>
  <Words>2971</Words>
  <Application>Microsoft Office PowerPoint</Application>
  <PresentationFormat>On-screen Show (4:3)</PresentationFormat>
  <Paragraphs>736</Paragraphs>
  <Slides>41</Slides>
  <Notes>28</Notes>
  <HiddenSlides>1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Folio</vt:lpstr>
      <vt:lpstr>Arial</vt:lpstr>
      <vt:lpstr>Calibri</vt:lpstr>
      <vt:lpstr>Times New Roman</vt:lpstr>
      <vt:lpstr>Wingdings</vt:lpstr>
      <vt:lpstr>Office Theme</vt:lpstr>
      <vt:lpstr>Equation</vt:lpstr>
      <vt:lpstr>Visio</vt:lpstr>
      <vt:lpstr>PowerPoint Presentation</vt:lpstr>
      <vt:lpstr>Boolean Algebra</vt:lpstr>
      <vt:lpstr>Boolean Addition &amp; Multiplication</vt:lpstr>
      <vt:lpstr>Boolean Addition</vt:lpstr>
      <vt:lpstr>Boolean Multiplication</vt:lpstr>
      <vt:lpstr>Laws, Rules &amp; Theorems of Boolean Algebra</vt:lpstr>
      <vt:lpstr>Commutative Law</vt:lpstr>
      <vt:lpstr>Associative Law</vt:lpstr>
      <vt:lpstr>Associative Law</vt:lpstr>
      <vt:lpstr>Distributive Law</vt:lpstr>
      <vt:lpstr>Rules of Boolean Algebra</vt:lpstr>
      <vt:lpstr>Demorgan’s Theorems</vt:lpstr>
      <vt:lpstr>Demorgan’s Theorems</vt:lpstr>
      <vt:lpstr>Boolean Analysis of Logic Circuits</vt:lpstr>
      <vt:lpstr>Boolean Analysis of Logic Circuits</vt:lpstr>
      <vt:lpstr>Boolean Analysis of Logic Circuits</vt:lpstr>
      <vt:lpstr>Simplification using Boolean Algebra</vt:lpstr>
      <vt:lpstr>Simplified Circuit</vt:lpstr>
      <vt:lpstr>Standard forms of Boolean Expressions</vt:lpstr>
      <vt:lpstr>Standard forms of Boolean Expressions</vt:lpstr>
      <vt:lpstr>Implementation of SOP expression</vt:lpstr>
      <vt:lpstr>Implementation of POS expression</vt:lpstr>
      <vt:lpstr>Conversion of general expression to SOP form</vt:lpstr>
      <vt:lpstr>Examples</vt:lpstr>
      <vt:lpstr>Analysis of Logic Circuits Example 1</vt:lpstr>
      <vt:lpstr>Evaluating Boolean Expression</vt:lpstr>
      <vt:lpstr>Evaluating Boolean Expression &amp; Truth Table</vt:lpstr>
      <vt:lpstr>Simplifying Boolean Expression </vt:lpstr>
      <vt:lpstr>Truth Table of Simplified expression</vt:lpstr>
      <vt:lpstr>Simplified Logic Circuit</vt:lpstr>
      <vt:lpstr>Simplified Logic Circuit</vt:lpstr>
      <vt:lpstr>Second Example</vt:lpstr>
      <vt:lpstr>Analysis of Logic Circuits Example 2</vt:lpstr>
      <vt:lpstr>Evaluating Boolean Expression</vt:lpstr>
      <vt:lpstr>Evaluating Boolean Expression &amp; Truth Table</vt:lpstr>
      <vt:lpstr>Rewriting the Truth Table</vt:lpstr>
      <vt:lpstr>Simplifying Boolean Expression </vt:lpstr>
      <vt:lpstr>Truth Table of Simplified expression</vt:lpstr>
      <vt:lpstr>Simplified Logic Circuit</vt:lpstr>
      <vt:lpstr>Simplified Logic Circuit</vt:lpstr>
      <vt:lpstr>PowerPoint Presentation</vt:lpstr>
    </vt:vector>
  </TitlesOfParts>
  <Company>NU_FAST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No. 1</dc:title>
  <dc:creator>waseem</dc:creator>
  <cp:lastModifiedBy>Syed Zulqadar Hassan</cp:lastModifiedBy>
  <cp:revision>321</cp:revision>
  <dcterms:created xsi:type="dcterms:W3CDTF">2003-07-15T08:28:34Z</dcterms:created>
  <dcterms:modified xsi:type="dcterms:W3CDTF">2025-03-23T17:39:14Z</dcterms:modified>
</cp:coreProperties>
</file>